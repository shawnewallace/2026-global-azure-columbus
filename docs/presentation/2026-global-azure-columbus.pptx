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798"/>
  </p:normalViewPr>
  <p:slideViewPr>
    <p:cSldViewPr snapToGrid="0" snapToObjects="1">
      <p:cViewPr varScale="1">
        <p:scale>
          <a:sx n="250" d="100"/>
          <a:sy n="250" d="100"/>
        </p:scale>
        <p:origin x="168" y="696"/>
      </p:cViewPr>
      <p:guideLst/>
    </p:cSldViewPr>
  </p:slideViewPr>
  <p:notesTextViewPr>
    <p:cViewPr>
      <p:scale>
        <a:sx n="195" d="100"/>
        <a:sy n="19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7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Welcome to Global Azure Columbus. I'm Shawn Wallace, Principal Architect at Centric Consulting. This talk is about moving your team from solo Copilot wins to agentic-first workflows. The repo with everything I'm about to show — instructions, skills, agents, demo app, the whole .github/ folder — is at github.com/shawnewallace/2026-global-azure-columbus. Grab it, follow along, fork it after. Core thesis, and we'll come back to this: the agent isn't the point. The system your team builds around it 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who uses Copilot for autocomplete? [pause for hands] Now keep your hand up if your WHOLE TEAM is faster because of it. [watch hands drop] That's the gap. Most teams have solo wins — one fast person, maybe two. The faster teams have reorganized HOW WORK GETS DONE around the agent. Solo wins don't compound. Team systems do. The agent isn't the point — the system your team builds around it is. That's what the next 28 minutes is about.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the system, let's name where most teams are today. Five levels. L1 Autocomplete — tab complete, inline suggestions. L2 Chat — ask and get explanations. L3 AI Assist — multi-step edits with you still reviewing. L4 Agentic Augmented — background agents, PR creation. L5 Agentic Adaptive — agents as automation, self-directing. Most teams are stuck at L1-L2. A few individuals have reached L3. The coral banner between L2 and L3 is THE CAPABILITY GAP — the jump from AI helping you, to AI acting on your behalf. Watch the role chips at the bottom: Producer, Producer, Reviewer, Director, Director. The human role fundamentally shifts. At L4-L5, you're not producing, you're directing. L5 is the target — and L5 requires a SYSTEM, not just a tool. Let me show you why most teams stall at L2 and what it takes to move.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teams stall at solo wins. One: every session starts from zero. Your senior developer spent 20 minutes prompting Copilot into the right headspace yesterday — today they start over. Two: Copilot doesn't know YOUR team. Not your coding standards, not your review process, not your deploy pipeline. Three: tribal knowledge stays tribal. The architect knows the patterns. The new hire doesn't. The AI doesn't either. Four: individual velocity doesn't compound into team velocity. One person shipping fast while the rest are stuck is still a stuck team. Everything I'm about to show you exists to solve these four things.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system. This is the core of the talk. Everything I'm about to show lives in one folder: .github/. It's version-controlled. It's PR-reviewed. It's shared with the whole team. That's the move from individual to organizational capability.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assets. Read them top to bottom. copilot-instructions.md raises the floor — every dev gets the same baseline. Onboarding happens automatically. star-dot-instructions.md are always-on coding standards. Clean Architecture, DDD, Object Calisthenics — whatever your team enforces, it fires on every file, every session. star-dot-prompt.md are one-click macros — PR descriptions, commit messages, release notes. SKILL.md are portable, multi-step capabilities that can carry scripts and resources. star-dot-agent.md are role-based specialists with tool restrictions and handoffs. And .mcp.json is the execution layer — it's what lets agents actually call real tools. All plain text. All version-controlled. All reviewed in PRs. This is what makes the system visible and ownable.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decision tree. Four customization assets, from lightest to heaviest. Instructions: always-on guardrails — use for standards that should apply every time. Skills: portable SOPs — use when you have a multi-step workflow worth reusing. Agents: role-based specialists with tool access — use when you need a specialist with a defined job. Prompts: lightweight macros — use for one-click recurring tasks. Rule of thumb: pick the lowest-weight tool that does the job. Don't build an agent when a prompt will 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comparison. Walk the rows. Scope: Prompts are one-off; Instructions are always-on; Skills and Agents are on-demand. Invocation: Prompts and Instructions are implicit — they fire automatically; Skills you invoke with hashtag-name; Agents with at-name. The killer row is Tool Access. Prompts, Instructions, Skills — none of them call tools directly. Only Agents can call tools. That's why agents are where real work gets done. Discovery: slash-skills and slash-agents to see what's available in your workspace. Three-line recap at the bottom: Instructions = guardrails. Skills = knowledge. Agents = specialists with tools. All three compose.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plug Azure in. Microsoft's Azure Skills plugin. One install, three layers. Twenty curated workflows — prepare, validate, deploy, diagnose, optimize, cost, compliance, RBAC. Plus the Azure MCP Server — 200+ structured tools across 40+ Azure services. Real operations against live Azure. Plus Foundry MCP — model catalog, deployments, agents, evals. The critical point: these are not a prompt pack. They're curated workflows, decision trees, and guardrails encoded as plain text. They live at .github/plugins/azure-skills/. Visible. Auditable. Team-owned. Install command is aka.ms/azure-plugin.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prompt. 'Deploy my app to Azure.' Without the plugin: Copilot gives you a generic tutorial and some az CLI commands. Advice — not artifacts. Nothing actually runs. With the Azure Skills plugin: same prompt, completely different outcome. Dockerfile generated. azure.yaml generated. Bicep infra-as-code generated. Pre-flight validation runs. azd up deploys end-to-end. This is the key moment: you could have typed this same prompt six months ago and gotten the first column. The difference isn't the model. It's the system. The skills encode HOW YOUR TEAM DEPLOYS. The model just executes.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 demo time. Twelve minutes. Task Library is a realistic app: .NET 10 Functions API, React frontend, Postgres, Azure OpenAI for task categorization. PRE-DEMO CHECK: verify localhost:8080 (API) and localhost:5173 (web) are up. I'm starting from a BLANK SLATE — deleted infra/, azure.yaml, and .azure/ before stepping on stage. This way the audience watches the skill generate everything from scratch. Maximum 'wow.' If something goes sideways live — fallback is pre-deployed environment with @azure queries and App Insights screenshots.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dirty="0"/>
              <a:t>Six demo steps. Narrate each.</a:t>
            </a:r>
          </a:p>
          <a:p>
            <a:r>
              <a:rPr lang="en-US" sz="4000" dirty="0"/>
              <a:t>1) SET THE SCENE — open VS Code, walk the .github/ folder. Point to copilot-instructions.md, instructions/, agents/, plugins/azure-skills/. Open azure-prepare/SKILL.md and show it's plain text. 'Version-controlled. PR-reviewed. Not a black box.' </a:t>
            </a:r>
          </a:p>
          <a:p>
            <a:r>
              <a:rPr lang="en-US" sz="4000" dirty="0"/>
              <a:t>2) azure-prepare — prompt: 'Prepare this app for Azure. The app uses Azure OpenAI for AI-powered task prioritization — make sure the OpenAI resource and model deployment are included.' Watch: Dockerfile, azure.yaml, Bicep with Postgres + Key Vault + Azure OpenAI + managed identity. KEY MOMENT: the skill finds AzureOpenAILlmService.cs in the code and provisions OpenAI without being told. 'The skill read the codebase — you didn't have to tell it.’ </a:t>
            </a:r>
          </a:p>
          <a:p>
            <a:r>
              <a:rPr lang="en-US" sz="4000" dirty="0"/>
              <a:t>3) azure-validate — prompt: 'Validate my Azure deployment files before I run azd up.' Pre-flight: quotas, RBAC, naming, region. Green = safe to proceed. </a:t>
            </a:r>
          </a:p>
          <a:p>
            <a:r>
              <a:rPr lang="en-US" sz="4000" dirty="0"/>
              <a:t>4) azure-deploy — prompt: 'Deploy this project to Azure.' azd up runs. Narrate: 'No secrets. DefaultAzureCredential. The skill encoded that practice.’ </a:t>
            </a:r>
          </a:p>
          <a:p>
            <a:r>
              <a:rPr lang="en-US" sz="4000" dirty="0"/>
              <a:t>5) Operate — use @azure to query live resources: 'list my resource groups', 'show app insights for the function app’. </a:t>
            </a:r>
          </a:p>
          <a:p>
            <a:r>
              <a:rPr lang="en-US" sz="4000" dirty="0"/>
              <a:t>6) azure-diagnostics — prompt: 'Troubleshoot why my app is failing health probes.' Show CorrelationId, PromptTokens, CompletionTokens, LatencyMs in App Insights logs. Close with: 'The coding agent wrote this. The skill deployed it. The operations skill read it 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moment — for the people in the audience asking 'how do I sell this to security?' One: plain text. Version-controlled. PR-reviewed. Skills are not a black box. Your team owns them. Two: org-level policy controls. Model policies decide which models agents can use. Agent allow-lists decide which agents are enabled. MCP allow-lists decide which tools agents can reach. Three: audit log. Every action Copilot takes on GitHub is logged with actor:Copilot. Full audit trail. Four: agent lifecycle. Proposal to review to production to deprecation. Agents are first-class artifacts with owners. The right model: curated skills, trusted sources, tool approvals, and least-privilege access.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steps to get your team moving. One: add copilot-instructions.md. Even a starter version. Encode how your team writes, reviews, ships code. This alone raises the floor. Two: install the Azure Skills Plugin — aka.ms/azure-plugin. One command. You get 20 skills and 200+ MCP tools in your IDE. Three: build ONE agent for a workflow your team repeats every week. Code review, backlog generation, release notes — pick the painful one. Iterate from there. The repo has templates for all three — github.com/shawnewallace/2026-global-azure-columbus. The Centric AI Coding Workshop has more hands-on examples if you want to go deeper.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the agent isn't the point. The system your team builds around it is. Thank you. Find me on GitHub at shawnewallace, on Twitter/X at ShawnWallace. Azure Skills plugin: aka.ms/azure-plugin. The demo repo: github.com/shawnewallace/2026-global-azure-columbus. Happy to take questions — and I'll be in the hallway after for anyone who wants to see specific skills or agent definitions.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40080" y="502920"/>
            <a:ext cx="411480" cy="411480"/>
          </a:xfrm>
          <a:prstGeom prst="rect">
            <a:avLst/>
          </a:prstGeom>
        </p:spPr>
      </p:pic>
      <p:sp>
        <p:nvSpPr>
          <p:cNvPr id="5" name="Text 2"/>
          <p:cNvSpPr/>
          <p:nvPr/>
        </p:nvSpPr>
        <p:spPr>
          <a:xfrm>
            <a:off x="1143000" y="530352"/>
            <a:ext cx="7315200" cy="365760"/>
          </a:xfrm>
          <a:prstGeom prst="rect">
            <a:avLst/>
          </a:prstGeom>
          <a:noFill/>
          <a:ln/>
        </p:spPr>
        <p:txBody>
          <a:bodyPr wrap="square" lIns="0" tIns="0" rIns="0" bIns="0" rtlCol="0" anchor="ctr"/>
          <a:lstStyle/>
          <a:p>
            <a:pPr marL="0" indent="0">
              <a:buNone/>
            </a:pPr>
            <a:r>
              <a:rPr lang="en-US" sz="1200" b="1" kern="0" spc="500" dirty="0">
                <a:solidFill>
                  <a:srgbClr val="FFD166"/>
                </a:solidFill>
                <a:latin typeface="Calibri" pitchFamily="34" charset="0"/>
                <a:ea typeface="Calibri" pitchFamily="34" charset="-122"/>
                <a:cs typeface="Calibri" pitchFamily="34" charset="-120"/>
              </a:rPr>
              <a:t>GLOBAL AZURE COLUMBUS  ·  APRIL 18, 2026</a:t>
            </a:r>
            <a:endParaRPr lang="en-US" sz="1200" dirty="0"/>
          </a:p>
        </p:txBody>
      </p:sp>
      <p:sp>
        <p:nvSpPr>
          <p:cNvPr id="6" name="Text 3"/>
          <p:cNvSpPr/>
          <p:nvPr/>
        </p:nvSpPr>
        <p:spPr>
          <a:xfrm>
            <a:off x="640080" y="1325880"/>
            <a:ext cx="8046720" cy="10058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Agentic-First with GitHub Copilot</a:t>
            </a:r>
            <a:endParaRPr lang="en-US" sz="4800" dirty="0"/>
          </a:p>
        </p:txBody>
      </p:sp>
      <p:sp>
        <p:nvSpPr>
          <p:cNvPr id="7" name="Text 4"/>
          <p:cNvSpPr/>
          <p:nvPr/>
        </p:nvSpPr>
        <p:spPr>
          <a:xfrm>
            <a:off x="640080" y="2331720"/>
            <a:ext cx="8046720" cy="548640"/>
          </a:xfrm>
          <a:prstGeom prst="rect">
            <a:avLst/>
          </a:prstGeom>
          <a:noFill/>
          <a:ln/>
        </p:spPr>
        <p:txBody>
          <a:bodyPr wrap="square" lIns="0" tIns="0" rIns="0" bIns="0" rtlCol="0" anchor="ctr"/>
          <a:lstStyle/>
          <a:p>
            <a:pPr marL="0" indent="0">
              <a:buNone/>
            </a:pPr>
            <a:r>
              <a:rPr lang="en-US" sz="2200" i="1" dirty="0">
                <a:solidFill>
                  <a:srgbClr val="4F9DE6"/>
                </a:solidFill>
                <a:latin typeface="Calibri" pitchFamily="34" charset="0"/>
                <a:ea typeface="Calibri" pitchFamily="34" charset="-122"/>
                <a:cs typeface="Calibri" pitchFamily="34" charset="-120"/>
              </a:rPr>
              <a:t>Teams That Work With AI, Not Just Next to It</a:t>
            </a:r>
            <a:endParaRPr lang="en-US" sz="2200" dirty="0"/>
          </a:p>
        </p:txBody>
      </p:sp>
      <p:sp>
        <p:nvSpPr>
          <p:cNvPr id="8" name="Shape 5"/>
          <p:cNvSpPr/>
          <p:nvPr/>
        </p:nvSpPr>
        <p:spPr>
          <a:xfrm>
            <a:off x="640080" y="3063240"/>
            <a:ext cx="54864" cy="914400"/>
          </a:xfrm>
          <a:prstGeom prst="rect">
            <a:avLst/>
          </a:prstGeom>
          <a:solidFill>
            <a:srgbClr val="F78166"/>
          </a:solidFill>
          <a:ln w="12700">
            <a:solidFill>
              <a:srgbClr val="F78166"/>
            </a:solidFill>
            <a:prstDash val="solid"/>
          </a:ln>
        </p:spPr>
        <p:txBody>
          <a:bodyPr/>
          <a:lstStyle/>
          <a:p>
            <a:endParaRPr lang="en-US"/>
          </a:p>
        </p:txBody>
      </p:sp>
      <p:sp>
        <p:nvSpPr>
          <p:cNvPr id="9" name="Text 6"/>
          <p:cNvSpPr/>
          <p:nvPr/>
        </p:nvSpPr>
        <p:spPr>
          <a:xfrm>
            <a:off x="868680" y="3063240"/>
            <a:ext cx="7132320" cy="91440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The agent isn't the point. The system your team builds around it is.</a:t>
            </a:r>
            <a:endParaRPr lang="en-US" sz="1600" dirty="0"/>
          </a:p>
        </p:txBody>
      </p:sp>
      <p:sp>
        <p:nvSpPr>
          <p:cNvPr id="10" name="Text 7"/>
          <p:cNvSpPr/>
          <p:nvPr/>
        </p:nvSpPr>
        <p:spPr>
          <a:xfrm>
            <a:off x="640080" y="4160520"/>
            <a:ext cx="54864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Shawn Wallace</a:t>
            </a:r>
            <a:endParaRPr lang="en-US" sz="1600" dirty="0"/>
          </a:p>
        </p:txBody>
      </p:sp>
      <p:sp>
        <p:nvSpPr>
          <p:cNvPr id="11" name="Text 8"/>
          <p:cNvSpPr/>
          <p:nvPr/>
        </p:nvSpPr>
        <p:spPr>
          <a:xfrm>
            <a:off x="640080" y="4434840"/>
            <a:ext cx="54864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Principal Architect  ·  Centric Consulting</a:t>
            </a:r>
            <a:endParaRPr lang="en-US" sz="1200" dirty="0"/>
          </a:p>
        </p:txBody>
      </p:sp>
      <p:sp>
        <p:nvSpPr>
          <p:cNvPr id="12" name="Text 9"/>
          <p:cNvSpPr/>
          <p:nvPr/>
        </p:nvSpPr>
        <p:spPr>
          <a:xfrm>
            <a:off x="4572000" y="4462272"/>
            <a:ext cx="4114800" cy="274320"/>
          </a:xfrm>
          <a:prstGeom prst="rect">
            <a:avLst/>
          </a:prstGeom>
          <a:noFill/>
          <a:ln/>
        </p:spPr>
        <p:txBody>
          <a:bodyPr wrap="square" lIns="0" tIns="0" rIns="0" bIns="0" rtlCol="0" anchor="ctr"/>
          <a:lstStyle/>
          <a:p>
            <a:pPr marL="0" indent="0" algn="r">
              <a:buNone/>
            </a:pPr>
            <a:r>
              <a:rPr lang="en-US" sz="1100" dirty="0">
                <a:solidFill>
                  <a:srgbClr val="FFD166"/>
                </a:solidFill>
                <a:latin typeface="Calibri" pitchFamily="34" charset="0"/>
                <a:ea typeface="Calibri" pitchFamily="34" charset="-122"/>
                <a:cs typeface="Calibri" pitchFamily="34" charset="-120"/>
              </a:rPr>
              <a:t>github.com/shawnewallace/2026-global-azure-columbus</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THE HOOK</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Most teams have solo wins.</a:t>
            </a:r>
            <a:endParaRPr lang="en-US" sz="3000" dirty="0"/>
          </a:p>
        </p:txBody>
      </p:sp>
      <p:sp>
        <p:nvSpPr>
          <p:cNvPr id="5" name="Shape 3"/>
          <p:cNvSpPr/>
          <p:nvPr/>
        </p:nvSpPr>
        <p:spPr>
          <a:xfrm>
            <a:off x="548640" y="1417320"/>
            <a:ext cx="402336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1572768"/>
            <a:ext cx="411480" cy="411480"/>
          </a:xfrm>
          <a:prstGeom prst="rect">
            <a:avLst/>
          </a:prstGeom>
        </p:spPr>
      </p:pic>
      <p:sp>
        <p:nvSpPr>
          <p:cNvPr id="7" name="Text 4"/>
          <p:cNvSpPr/>
          <p:nvPr/>
        </p:nvSpPr>
        <p:spPr>
          <a:xfrm>
            <a:off x="1280160" y="1536192"/>
            <a:ext cx="3108960" cy="256032"/>
          </a:xfrm>
          <a:prstGeom prst="rect">
            <a:avLst/>
          </a:prstGeom>
          <a:noFill/>
          <a:ln/>
        </p:spPr>
        <p:txBody>
          <a:bodyPr wrap="square" lIns="0" tIns="0" rIns="0" bIns="0" rtlCol="0" anchor="ctr"/>
          <a:lstStyle/>
          <a:p>
            <a:pPr marL="0" indent="0">
              <a:buNone/>
            </a:pPr>
            <a:r>
              <a:rPr lang="en-US" sz="1100" b="1" kern="0" spc="300" dirty="0">
                <a:solidFill>
                  <a:srgbClr val="F78166"/>
                </a:solidFill>
                <a:latin typeface="Calibri" pitchFamily="34" charset="0"/>
                <a:ea typeface="Calibri" pitchFamily="34" charset="-122"/>
                <a:cs typeface="Calibri" pitchFamily="34" charset="-120"/>
              </a:rPr>
              <a:t>Show of hands:</a:t>
            </a:r>
            <a:endParaRPr lang="en-US" sz="1100" dirty="0"/>
          </a:p>
        </p:txBody>
      </p:sp>
      <p:sp>
        <p:nvSpPr>
          <p:cNvPr id="8" name="Text 5"/>
          <p:cNvSpPr/>
          <p:nvPr/>
        </p:nvSpPr>
        <p:spPr>
          <a:xfrm>
            <a:off x="1280160" y="1783080"/>
            <a:ext cx="3108960" cy="64008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Who uses Copilot right now?</a:t>
            </a:r>
            <a:endParaRPr lang="en-US" sz="1700" dirty="0"/>
          </a:p>
        </p:txBody>
      </p:sp>
      <p:sp>
        <p:nvSpPr>
          <p:cNvPr id="9" name="Shape 6"/>
          <p:cNvSpPr/>
          <p:nvPr/>
        </p:nvSpPr>
        <p:spPr>
          <a:xfrm>
            <a:off x="548640" y="2697480"/>
            <a:ext cx="4023360" cy="1188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731520" y="2852928"/>
            <a:ext cx="411480" cy="411480"/>
          </a:xfrm>
          <a:prstGeom prst="rect">
            <a:avLst/>
          </a:prstGeom>
        </p:spPr>
      </p:pic>
      <p:sp>
        <p:nvSpPr>
          <p:cNvPr id="11" name="Text 7"/>
          <p:cNvSpPr/>
          <p:nvPr/>
        </p:nvSpPr>
        <p:spPr>
          <a:xfrm>
            <a:off x="1280160" y="2816352"/>
            <a:ext cx="3108960" cy="256032"/>
          </a:xfrm>
          <a:prstGeom prst="rect">
            <a:avLst/>
          </a:prstGeom>
          <a:noFill/>
          <a:ln/>
        </p:spPr>
        <p:txBody>
          <a:bodyPr wrap="square" lIns="0" tIns="0" rIns="0" bIns="0" rtlCol="0" anchor="ctr"/>
          <a:lstStyle/>
          <a:p>
            <a:pPr marL="0" indent="0">
              <a:buNone/>
            </a:pPr>
            <a:r>
              <a:rPr lang="en-US" sz="1100" b="1" kern="0" spc="300" dirty="0">
                <a:solidFill>
                  <a:srgbClr val="F78166"/>
                </a:solidFill>
                <a:latin typeface="Calibri" pitchFamily="34" charset="0"/>
                <a:ea typeface="Calibri" pitchFamily="34" charset="-122"/>
                <a:cs typeface="Calibri" pitchFamily="34" charset="-120"/>
              </a:rPr>
              <a:t>Now keep it up if:</a:t>
            </a:r>
            <a:endParaRPr lang="en-US" sz="1100" dirty="0"/>
          </a:p>
        </p:txBody>
      </p:sp>
      <p:sp>
        <p:nvSpPr>
          <p:cNvPr id="12" name="Text 8"/>
          <p:cNvSpPr/>
          <p:nvPr/>
        </p:nvSpPr>
        <p:spPr>
          <a:xfrm>
            <a:off x="1280160" y="3063240"/>
            <a:ext cx="3108960" cy="73152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Your whole team is faster because of it.</a:t>
            </a:r>
            <a:endParaRPr lang="en-US" sz="1700" dirty="0"/>
          </a:p>
        </p:txBody>
      </p:sp>
      <p:sp>
        <p:nvSpPr>
          <p:cNvPr id="13" name="Shape 9"/>
          <p:cNvSpPr/>
          <p:nvPr/>
        </p:nvSpPr>
        <p:spPr>
          <a:xfrm>
            <a:off x="4846320" y="1417320"/>
            <a:ext cx="3749040" cy="2468880"/>
          </a:xfrm>
          <a:prstGeom prst="rect">
            <a:avLst/>
          </a:prstGeom>
          <a:solidFill>
            <a:srgbClr val="0B1F3A"/>
          </a:solidFill>
          <a:ln w="12700">
            <a:solidFill>
              <a:srgbClr val="0B1F3A"/>
            </a:solidFill>
            <a:prstDash val="solid"/>
          </a:ln>
          <a:effectLst>
            <a:outerShdw blurRad="101600" dist="25400" dir="8100000" algn="bl" rotWithShape="0">
              <a:srgbClr val="000000">
                <a:alpha val="12000"/>
              </a:srgbClr>
            </a:outerShdw>
          </a:effectLst>
        </p:spPr>
        <p:txBody>
          <a:bodyPr/>
          <a:lstStyle/>
          <a:p>
            <a:endParaRPr lang="en-US"/>
          </a:p>
        </p:txBody>
      </p:sp>
      <p:sp>
        <p:nvSpPr>
          <p:cNvPr id="14" name="Shape 10"/>
          <p:cNvSpPr/>
          <p:nvPr/>
        </p:nvSpPr>
        <p:spPr>
          <a:xfrm>
            <a:off x="4846320" y="1417320"/>
            <a:ext cx="73152" cy="2468880"/>
          </a:xfrm>
          <a:prstGeom prst="rect">
            <a:avLst/>
          </a:prstGeom>
          <a:solidFill>
            <a:srgbClr val="F78166"/>
          </a:solidFill>
          <a:ln w="12700">
            <a:solidFill>
              <a:srgbClr val="F78166"/>
            </a:solidFill>
            <a:prstDash val="solid"/>
          </a:ln>
        </p:spPr>
        <p:txBody>
          <a:bodyPr/>
          <a:lstStyle/>
          <a:p>
            <a:endParaRPr lang="en-US"/>
          </a:p>
        </p:txBody>
      </p:sp>
      <p:sp>
        <p:nvSpPr>
          <p:cNvPr id="15" name="Text 11"/>
          <p:cNvSpPr/>
          <p:nvPr/>
        </p:nvSpPr>
        <p:spPr>
          <a:xfrm>
            <a:off x="5120640" y="1600200"/>
            <a:ext cx="3383280" cy="274320"/>
          </a:xfrm>
          <a:prstGeom prst="rect">
            <a:avLst/>
          </a:prstGeom>
          <a:noFill/>
          <a:ln/>
        </p:spPr>
        <p:txBody>
          <a:bodyPr wrap="square" lIns="0" tIns="0" rIns="0" bIns="0" rtlCol="0" anchor="ctr"/>
          <a:lstStyle/>
          <a:p>
            <a:pPr marL="0" indent="0">
              <a:buNone/>
            </a:pPr>
            <a:r>
              <a:rPr lang="en-US" sz="1100" b="1" kern="0" spc="400" dirty="0">
                <a:solidFill>
                  <a:srgbClr val="FFD166"/>
                </a:solidFill>
                <a:latin typeface="Calibri" pitchFamily="34" charset="0"/>
                <a:ea typeface="Calibri" pitchFamily="34" charset="-122"/>
                <a:cs typeface="Calibri" pitchFamily="34" charset="-120"/>
              </a:rPr>
              <a:t>THE INSIGHT</a:t>
            </a:r>
            <a:endParaRPr lang="en-US" sz="1100" dirty="0"/>
          </a:p>
        </p:txBody>
      </p:sp>
      <p:sp>
        <p:nvSpPr>
          <p:cNvPr id="16" name="Text 12"/>
          <p:cNvSpPr/>
          <p:nvPr/>
        </p:nvSpPr>
        <p:spPr>
          <a:xfrm>
            <a:off x="5120640" y="1874520"/>
            <a:ext cx="3383280" cy="10972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The faster teams have reorganized how work gets done.</a:t>
            </a:r>
            <a:endParaRPr lang="en-US" sz="1900" dirty="0"/>
          </a:p>
        </p:txBody>
      </p:sp>
      <p:sp>
        <p:nvSpPr>
          <p:cNvPr id="17" name="Text 13"/>
          <p:cNvSpPr/>
          <p:nvPr/>
        </p:nvSpPr>
        <p:spPr>
          <a:xfrm>
            <a:off x="5120640" y="3063240"/>
            <a:ext cx="3383280" cy="640080"/>
          </a:xfrm>
          <a:prstGeom prst="rect">
            <a:avLst/>
          </a:prstGeom>
          <a:noFill/>
          <a:ln/>
        </p:spPr>
        <p:txBody>
          <a:bodyPr wrap="square" lIns="0" tIns="0" rIns="0" bIns="0" rtlCol="0" anchor="ctr"/>
          <a:lstStyle/>
          <a:p>
            <a:pPr marL="0" indent="0">
              <a:buNone/>
            </a:pPr>
            <a:r>
              <a:rPr lang="en-US" sz="1300" i="1" dirty="0">
                <a:solidFill>
                  <a:srgbClr val="4F9DE6"/>
                </a:solidFill>
                <a:latin typeface="Calibri" pitchFamily="34" charset="0"/>
                <a:ea typeface="Calibri" pitchFamily="34" charset="-122"/>
                <a:cs typeface="Calibri" pitchFamily="34" charset="-120"/>
              </a:rPr>
              <a:t>Solo wins don't compound. Team systems do.</a:t>
            </a:r>
            <a:endParaRPr lang="en-US" sz="1300" dirty="0"/>
          </a:p>
        </p:txBody>
      </p:sp>
      <p:sp>
        <p:nvSpPr>
          <p:cNvPr id="18" name="Shape 14"/>
          <p:cNvSpPr/>
          <p:nvPr/>
        </p:nvSpPr>
        <p:spPr>
          <a:xfrm>
            <a:off x="548640" y="4160520"/>
            <a:ext cx="8046720" cy="502920"/>
          </a:xfrm>
          <a:prstGeom prst="rect">
            <a:avLst/>
          </a:prstGeom>
          <a:solidFill>
            <a:srgbClr val="0F1729"/>
          </a:solidFill>
          <a:ln w="12700">
            <a:solidFill>
              <a:srgbClr val="0F1729"/>
            </a:solidFill>
            <a:prstDash val="solid"/>
          </a:ln>
        </p:spPr>
        <p:txBody>
          <a:bodyPr/>
          <a:lstStyle/>
          <a:p>
            <a:endParaRPr lang="en-US"/>
          </a:p>
        </p:txBody>
      </p:sp>
      <p:sp>
        <p:nvSpPr>
          <p:cNvPr id="19" name="Text 15"/>
          <p:cNvSpPr/>
          <p:nvPr/>
        </p:nvSpPr>
        <p:spPr>
          <a:xfrm>
            <a:off x="731520" y="4160520"/>
            <a:ext cx="7863840" cy="502920"/>
          </a:xfrm>
          <a:prstGeom prst="rect">
            <a:avLst/>
          </a:prstGeom>
          <a:noFill/>
          <a:ln/>
        </p:spPr>
        <p:txBody>
          <a:bodyPr wrap="square" lIns="0" tIns="0" rIns="0" bIns="0" rtlCol="0" anchor="ctr"/>
          <a:lstStyle/>
          <a:p>
            <a:pPr marL="0" indent="0">
              <a:buNone/>
            </a:pPr>
            <a:r>
              <a:rPr lang="en-US" sz="1400" b="1" i="1" dirty="0">
                <a:solidFill>
                  <a:srgbClr val="FFFFFF"/>
                </a:solidFill>
                <a:latin typeface="Calibri" pitchFamily="34" charset="0"/>
                <a:ea typeface="Calibri" pitchFamily="34" charset="-122"/>
                <a:cs typeface="Calibri" pitchFamily="34" charset="-120"/>
              </a:rPr>
              <a:t>The agent isn't the point. The system your team builds around it is.</a:t>
            </a:r>
            <a:endParaRPr lang="en-US" sz="1400" dirty="0"/>
          </a:p>
        </p:txBody>
      </p:sp>
      <p:sp>
        <p:nvSpPr>
          <p:cNvPr id="20" name="Text 16"/>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21" name="Text 17"/>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365760" y="164592"/>
            <a:ext cx="8412480" cy="228600"/>
          </a:xfrm>
          <a:prstGeom prst="rect">
            <a:avLst/>
          </a:prstGeom>
          <a:noFill/>
          <a:ln/>
        </p:spPr>
        <p:txBody>
          <a:bodyPr wrap="square" lIns="0" tIns="0" rIns="0" bIns="0" rtlCol="0" anchor="ctr"/>
          <a:lstStyle/>
          <a:p>
            <a:pPr marL="0" indent="0">
              <a:buNone/>
            </a:pPr>
            <a:r>
              <a:rPr lang="en-US" sz="1000" b="1" kern="0" spc="500" dirty="0">
                <a:solidFill>
                  <a:srgbClr val="F78166"/>
                </a:solidFill>
                <a:latin typeface="Calibri" pitchFamily="34" charset="0"/>
                <a:ea typeface="Calibri" pitchFamily="34" charset="-122"/>
                <a:cs typeface="Calibri" pitchFamily="34" charset="-120"/>
              </a:rPr>
              <a:t>FRAMEWORK</a:t>
            </a:r>
            <a:endParaRPr lang="en-US" sz="1000" dirty="0"/>
          </a:p>
        </p:txBody>
      </p:sp>
      <p:sp>
        <p:nvSpPr>
          <p:cNvPr id="4" name="Text 2"/>
          <p:cNvSpPr/>
          <p:nvPr/>
        </p:nvSpPr>
        <p:spPr>
          <a:xfrm>
            <a:off x="365760" y="365760"/>
            <a:ext cx="8412480" cy="4114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Agentic AI Maturity Model</a:t>
            </a:r>
            <a:endParaRPr lang="en-US" sz="2200" dirty="0"/>
          </a:p>
        </p:txBody>
      </p:sp>
      <p:sp>
        <p:nvSpPr>
          <p:cNvPr id="5" name="Text 3"/>
          <p:cNvSpPr/>
          <p:nvPr/>
        </p:nvSpPr>
        <p:spPr>
          <a:xfrm>
            <a:off x="365760" y="749808"/>
            <a:ext cx="8412480" cy="22860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Coding &amp; Application Modernization</a:t>
            </a:r>
            <a:endParaRPr lang="en-US" sz="1100" dirty="0"/>
          </a:p>
        </p:txBody>
      </p:sp>
      <p:sp>
        <p:nvSpPr>
          <p:cNvPr id="6" name="Shape 4"/>
          <p:cNvSpPr/>
          <p:nvPr/>
        </p:nvSpPr>
        <p:spPr>
          <a:xfrm>
            <a:off x="28346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7" name="Shape 5"/>
          <p:cNvSpPr/>
          <p:nvPr/>
        </p:nvSpPr>
        <p:spPr>
          <a:xfrm>
            <a:off x="28346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8" name="Text 6"/>
          <p:cNvSpPr/>
          <p:nvPr/>
        </p:nvSpPr>
        <p:spPr>
          <a:xfrm>
            <a:off x="42062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1</a:t>
            </a:r>
            <a:endParaRPr lang="en-US" sz="1000" dirty="0"/>
          </a:p>
        </p:txBody>
      </p:sp>
      <p:sp>
        <p:nvSpPr>
          <p:cNvPr id="9" name="Text 7"/>
          <p:cNvSpPr/>
          <p:nvPr/>
        </p:nvSpPr>
        <p:spPr>
          <a:xfrm>
            <a:off x="42062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Autocomplete</a:t>
            </a:r>
            <a:endParaRPr lang="en-US" sz="1500" dirty="0"/>
          </a:p>
        </p:txBody>
      </p:sp>
      <p:sp>
        <p:nvSpPr>
          <p:cNvPr id="10" name="Text 8"/>
          <p:cNvSpPr/>
          <p:nvPr/>
        </p:nvSpPr>
        <p:spPr>
          <a:xfrm>
            <a:off x="42062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11" name="Text 9"/>
          <p:cNvSpPr/>
          <p:nvPr/>
        </p:nvSpPr>
        <p:spPr>
          <a:xfrm>
            <a:off x="42062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IDE Plugin</a:t>
            </a:r>
            <a:endParaRPr lang="en-US" sz="1100" dirty="0"/>
          </a:p>
        </p:txBody>
      </p:sp>
      <p:sp>
        <p:nvSpPr>
          <p:cNvPr id="12" name="Text 10"/>
          <p:cNvSpPr/>
          <p:nvPr/>
        </p:nvSpPr>
        <p:spPr>
          <a:xfrm>
            <a:off x="42062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Inline suggestions; integration beyond the editor is rare.</a:t>
            </a:r>
            <a:endParaRPr lang="en-US" sz="900" dirty="0"/>
          </a:p>
        </p:txBody>
      </p:sp>
      <p:sp>
        <p:nvSpPr>
          <p:cNvPr id="13" name="Text 11"/>
          <p:cNvSpPr/>
          <p:nvPr/>
        </p:nvSpPr>
        <p:spPr>
          <a:xfrm>
            <a:off x="42062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14" name="Shape 12"/>
          <p:cNvSpPr/>
          <p:nvPr/>
        </p:nvSpPr>
        <p:spPr>
          <a:xfrm>
            <a:off x="42062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15" name="Shape 13"/>
          <p:cNvSpPr/>
          <p:nvPr/>
        </p:nvSpPr>
        <p:spPr>
          <a:xfrm>
            <a:off x="420624" y="3463544"/>
            <a:ext cx="135331" cy="109728"/>
          </a:xfrm>
          <a:prstGeom prst="rect">
            <a:avLst/>
          </a:prstGeom>
          <a:solidFill>
            <a:srgbClr val="4F9DE6"/>
          </a:solidFill>
          <a:ln w="12700">
            <a:solidFill>
              <a:srgbClr val="4F9DE6"/>
            </a:solidFill>
            <a:prstDash val="solid"/>
          </a:ln>
        </p:spPr>
        <p:txBody>
          <a:bodyPr/>
          <a:lstStyle/>
          <a:p>
            <a:endParaRPr lang="en-US"/>
          </a:p>
        </p:txBody>
      </p:sp>
      <p:sp>
        <p:nvSpPr>
          <p:cNvPr id="16" name="Text 14"/>
          <p:cNvSpPr/>
          <p:nvPr/>
        </p:nvSpPr>
        <p:spPr>
          <a:xfrm>
            <a:off x="42062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10% AI</a:t>
            </a:r>
            <a:endParaRPr lang="en-US" sz="800" dirty="0"/>
          </a:p>
        </p:txBody>
      </p:sp>
      <p:sp>
        <p:nvSpPr>
          <p:cNvPr id="17" name="Text 15"/>
          <p:cNvSpPr/>
          <p:nvPr/>
        </p:nvSpPr>
        <p:spPr>
          <a:xfrm>
            <a:off x="109728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90% Human</a:t>
            </a:r>
            <a:endParaRPr lang="en-US" sz="800" dirty="0"/>
          </a:p>
        </p:txBody>
      </p:sp>
      <p:sp>
        <p:nvSpPr>
          <p:cNvPr id="18" name="Text 16"/>
          <p:cNvSpPr/>
          <p:nvPr/>
        </p:nvSpPr>
        <p:spPr>
          <a:xfrm>
            <a:off x="37490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19" name="Text 17"/>
          <p:cNvSpPr/>
          <p:nvPr/>
        </p:nvSpPr>
        <p:spPr>
          <a:xfrm>
            <a:off x="37490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~10-15%</a:t>
            </a:r>
            <a:endParaRPr lang="en-US" sz="1600" dirty="0"/>
          </a:p>
        </p:txBody>
      </p:sp>
      <p:sp>
        <p:nvSpPr>
          <p:cNvPr id="20" name="Shape 18"/>
          <p:cNvSpPr/>
          <p:nvPr/>
        </p:nvSpPr>
        <p:spPr>
          <a:xfrm>
            <a:off x="649224" y="4160520"/>
            <a:ext cx="896112" cy="228600"/>
          </a:xfrm>
          <a:prstGeom prst="rect">
            <a:avLst/>
          </a:prstGeom>
          <a:solidFill>
            <a:srgbClr val="4F9DE6"/>
          </a:solidFill>
          <a:ln w="12700">
            <a:solidFill>
              <a:srgbClr val="4F9DE6"/>
            </a:solidFill>
            <a:prstDash val="solid"/>
          </a:ln>
        </p:spPr>
        <p:txBody>
          <a:bodyPr/>
          <a:lstStyle/>
          <a:p>
            <a:endParaRPr lang="en-US"/>
          </a:p>
        </p:txBody>
      </p:sp>
      <p:sp>
        <p:nvSpPr>
          <p:cNvPr id="21" name="Text 19"/>
          <p:cNvSpPr/>
          <p:nvPr/>
        </p:nvSpPr>
        <p:spPr>
          <a:xfrm>
            <a:off x="64922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Producer</a:t>
            </a:r>
            <a:endParaRPr lang="en-US" sz="900" dirty="0"/>
          </a:p>
        </p:txBody>
      </p:sp>
      <p:sp>
        <p:nvSpPr>
          <p:cNvPr id="22" name="Shape 20"/>
          <p:cNvSpPr/>
          <p:nvPr/>
        </p:nvSpPr>
        <p:spPr>
          <a:xfrm>
            <a:off x="202082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21"/>
          <p:cNvSpPr/>
          <p:nvPr/>
        </p:nvSpPr>
        <p:spPr>
          <a:xfrm>
            <a:off x="202082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24" name="Text 22"/>
          <p:cNvSpPr/>
          <p:nvPr/>
        </p:nvSpPr>
        <p:spPr>
          <a:xfrm>
            <a:off x="215798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2</a:t>
            </a:r>
            <a:endParaRPr lang="en-US" sz="1000" dirty="0"/>
          </a:p>
        </p:txBody>
      </p:sp>
      <p:sp>
        <p:nvSpPr>
          <p:cNvPr id="25" name="Text 23"/>
          <p:cNvSpPr/>
          <p:nvPr/>
        </p:nvSpPr>
        <p:spPr>
          <a:xfrm>
            <a:off x="215798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Chat</a:t>
            </a:r>
            <a:endParaRPr lang="en-US" sz="1500" dirty="0"/>
          </a:p>
        </p:txBody>
      </p:sp>
      <p:sp>
        <p:nvSpPr>
          <p:cNvPr id="26" name="Text 24"/>
          <p:cNvSpPr/>
          <p:nvPr/>
        </p:nvSpPr>
        <p:spPr>
          <a:xfrm>
            <a:off x="215798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27" name="Text 25"/>
          <p:cNvSpPr/>
          <p:nvPr/>
        </p:nvSpPr>
        <p:spPr>
          <a:xfrm>
            <a:off x="215798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Chatbot / Sidebar</a:t>
            </a:r>
            <a:endParaRPr lang="en-US" sz="1100" dirty="0"/>
          </a:p>
        </p:txBody>
      </p:sp>
      <p:sp>
        <p:nvSpPr>
          <p:cNvPr id="28" name="Text 26"/>
          <p:cNvSpPr/>
          <p:nvPr/>
        </p:nvSpPr>
        <p:spPr>
          <a:xfrm>
            <a:off x="215798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Conversational help: explain, refactor, generate snippets.</a:t>
            </a:r>
            <a:endParaRPr lang="en-US" sz="900" dirty="0"/>
          </a:p>
        </p:txBody>
      </p:sp>
      <p:sp>
        <p:nvSpPr>
          <p:cNvPr id="29" name="Text 27"/>
          <p:cNvSpPr/>
          <p:nvPr/>
        </p:nvSpPr>
        <p:spPr>
          <a:xfrm>
            <a:off x="215798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30" name="Shape 28"/>
          <p:cNvSpPr/>
          <p:nvPr/>
        </p:nvSpPr>
        <p:spPr>
          <a:xfrm>
            <a:off x="215798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31" name="Shape 29"/>
          <p:cNvSpPr/>
          <p:nvPr/>
        </p:nvSpPr>
        <p:spPr>
          <a:xfrm>
            <a:off x="2157984" y="3463544"/>
            <a:ext cx="270662" cy="109728"/>
          </a:xfrm>
          <a:prstGeom prst="rect">
            <a:avLst/>
          </a:prstGeom>
          <a:solidFill>
            <a:srgbClr val="4F9DE6"/>
          </a:solidFill>
          <a:ln w="12700">
            <a:solidFill>
              <a:srgbClr val="4F9DE6"/>
            </a:solidFill>
            <a:prstDash val="solid"/>
          </a:ln>
        </p:spPr>
        <p:txBody>
          <a:bodyPr/>
          <a:lstStyle/>
          <a:p>
            <a:endParaRPr lang="en-US"/>
          </a:p>
        </p:txBody>
      </p:sp>
      <p:sp>
        <p:nvSpPr>
          <p:cNvPr id="32" name="Text 30"/>
          <p:cNvSpPr/>
          <p:nvPr/>
        </p:nvSpPr>
        <p:spPr>
          <a:xfrm>
            <a:off x="215798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20% AI</a:t>
            </a:r>
            <a:endParaRPr lang="en-US" sz="800" dirty="0"/>
          </a:p>
        </p:txBody>
      </p:sp>
      <p:sp>
        <p:nvSpPr>
          <p:cNvPr id="33" name="Text 31"/>
          <p:cNvSpPr/>
          <p:nvPr/>
        </p:nvSpPr>
        <p:spPr>
          <a:xfrm>
            <a:off x="283464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80% Human</a:t>
            </a:r>
            <a:endParaRPr lang="en-US" sz="800" dirty="0"/>
          </a:p>
        </p:txBody>
      </p:sp>
      <p:sp>
        <p:nvSpPr>
          <p:cNvPr id="34" name="Text 32"/>
          <p:cNvSpPr/>
          <p:nvPr/>
        </p:nvSpPr>
        <p:spPr>
          <a:xfrm>
            <a:off x="211226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35" name="Text 33"/>
          <p:cNvSpPr/>
          <p:nvPr/>
        </p:nvSpPr>
        <p:spPr>
          <a:xfrm>
            <a:off x="211226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~20-25%</a:t>
            </a:r>
            <a:endParaRPr lang="en-US" sz="1600" dirty="0"/>
          </a:p>
        </p:txBody>
      </p:sp>
      <p:sp>
        <p:nvSpPr>
          <p:cNvPr id="36" name="Shape 34"/>
          <p:cNvSpPr/>
          <p:nvPr/>
        </p:nvSpPr>
        <p:spPr>
          <a:xfrm>
            <a:off x="2386584" y="4160520"/>
            <a:ext cx="896112" cy="228600"/>
          </a:xfrm>
          <a:prstGeom prst="rect">
            <a:avLst/>
          </a:prstGeom>
          <a:solidFill>
            <a:srgbClr val="4F9DE6"/>
          </a:solidFill>
          <a:ln w="12700">
            <a:solidFill>
              <a:srgbClr val="4F9DE6"/>
            </a:solidFill>
            <a:prstDash val="solid"/>
          </a:ln>
        </p:spPr>
        <p:txBody>
          <a:bodyPr/>
          <a:lstStyle/>
          <a:p>
            <a:endParaRPr lang="en-US"/>
          </a:p>
        </p:txBody>
      </p:sp>
      <p:sp>
        <p:nvSpPr>
          <p:cNvPr id="37" name="Text 35"/>
          <p:cNvSpPr/>
          <p:nvPr/>
        </p:nvSpPr>
        <p:spPr>
          <a:xfrm>
            <a:off x="238658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Producer</a:t>
            </a:r>
            <a:endParaRPr lang="en-US" sz="900" dirty="0"/>
          </a:p>
        </p:txBody>
      </p:sp>
      <p:sp>
        <p:nvSpPr>
          <p:cNvPr id="38" name="Shape 36"/>
          <p:cNvSpPr/>
          <p:nvPr/>
        </p:nvSpPr>
        <p:spPr>
          <a:xfrm>
            <a:off x="375818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39" name="Shape 37"/>
          <p:cNvSpPr/>
          <p:nvPr/>
        </p:nvSpPr>
        <p:spPr>
          <a:xfrm>
            <a:off x="375818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40" name="Text 38"/>
          <p:cNvSpPr/>
          <p:nvPr/>
        </p:nvSpPr>
        <p:spPr>
          <a:xfrm>
            <a:off x="389534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3</a:t>
            </a:r>
            <a:endParaRPr lang="en-US" sz="1000" dirty="0"/>
          </a:p>
        </p:txBody>
      </p:sp>
      <p:sp>
        <p:nvSpPr>
          <p:cNvPr id="41" name="Text 39"/>
          <p:cNvSpPr/>
          <p:nvPr/>
        </p:nvSpPr>
        <p:spPr>
          <a:xfrm>
            <a:off x="389534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Assist</a:t>
            </a:r>
            <a:endParaRPr lang="en-US" sz="1500" dirty="0"/>
          </a:p>
        </p:txBody>
      </p:sp>
      <p:sp>
        <p:nvSpPr>
          <p:cNvPr id="42" name="Text 40"/>
          <p:cNvSpPr/>
          <p:nvPr/>
        </p:nvSpPr>
        <p:spPr>
          <a:xfrm>
            <a:off x="389534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43" name="Text 41"/>
          <p:cNvSpPr/>
          <p:nvPr/>
        </p:nvSpPr>
        <p:spPr>
          <a:xfrm>
            <a:off x="389534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Copilot / IDE Agent</a:t>
            </a:r>
            <a:endParaRPr lang="en-US" sz="1100" dirty="0"/>
          </a:p>
        </p:txBody>
      </p:sp>
      <p:sp>
        <p:nvSpPr>
          <p:cNvPr id="44" name="Text 42"/>
          <p:cNvSpPr/>
          <p:nvPr/>
        </p:nvSpPr>
        <p:spPr>
          <a:xfrm>
            <a:off x="389534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Multi-step edits across files; human reviews and ships.</a:t>
            </a:r>
            <a:endParaRPr lang="en-US" sz="900" dirty="0"/>
          </a:p>
        </p:txBody>
      </p:sp>
      <p:sp>
        <p:nvSpPr>
          <p:cNvPr id="45" name="Text 43"/>
          <p:cNvSpPr/>
          <p:nvPr/>
        </p:nvSpPr>
        <p:spPr>
          <a:xfrm>
            <a:off x="389534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46" name="Shape 44"/>
          <p:cNvSpPr/>
          <p:nvPr/>
        </p:nvSpPr>
        <p:spPr>
          <a:xfrm>
            <a:off x="389534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47" name="Shape 45"/>
          <p:cNvSpPr/>
          <p:nvPr/>
        </p:nvSpPr>
        <p:spPr>
          <a:xfrm>
            <a:off x="3895344" y="3463544"/>
            <a:ext cx="676656" cy="109728"/>
          </a:xfrm>
          <a:prstGeom prst="rect">
            <a:avLst/>
          </a:prstGeom>
          <a:solidFill>
            <a:srgbClr val="4F9DE6"/>
          </a:solidFill>
          <a:ln w="12700">
            <a:solidFill>
              <a:srgbClr val="4F9DE6"/>
            </a:solidFill>
            <a:prstDash val="solid"/>
          </a:ln>
        </p:spPr>
        <p:txBody>
          <a:bodyPr/>
          <a:lstStyle/>
          <a:p>
            <a:endParaRPr lang="en-US"/>
          </a:p>
        </p:txBody>
      </p:sp>
      <p:sp>
        <p:nvSpPr>
          <p:cNvPr id="48" name="Text 46"/>
          <p:cNvSpPr/>
          <p:nvPr/>
        </p:nvSpPr>
        <p:spPr>
          <a:xfrm>
            <a:off x="389534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50% AI</a:t>
            </a:r>
            <a:endParaRPr lang="en-US" sz="800" dirty="0"/>
          </a:p>
        </p:txBody>
      </p:sp>
      <p:sp>
        <p:nvSpPr>
          <p:cNvPr id="49" name="Text 47"/>
          <p:cNvSpPr/>
          <p:nvPr/>
        </p:nvSpPr>
        <p:spPr>
          <a:xfrm>
            <a:off x="457200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50% Human</a:t>
            </a:r>
            <a:endParaRPr lang="en-US" sz="800" dirty="0"/>
          </a:p>
        </p:txBody>
      </p:sp>
      <p:sp>
        <p:nvSpPr>
          <p:cNvPr id="50" name="Text 48"/>
          <p:cNvSpPr/>
          <p:nvPr/>
        </p:nvSpPr>
        <p:spPr>
          <a:xfrm>
            <a:off x="384962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51" name="Text 49"/>
          <p:cNvSpPr/>
          <p:nvPr/>
        </p:nvSpPr>
        <p:spPr>
          <a:xfrm>
            <a:off x="384962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~25-50%</a:t>
            </a:r>
            <a:endParaRPr lang="en-US" sz="1600" dirty="0"/>
          </a:p>
        </p:txBody>
      </p:sp>
      <p:sp>
        <p:nvSpPr>
          <p:cNvPr id="52" name="Shape 50"/>
          <p:cNvSpPr/>
          <p:nvPr/>
        </p:nvSpPr>
        <p:spPr>
          <a:xfrm>
            <a:off x="4123944" y="4160520"/>
            <a:ext cx="896112" cy="228600"/>
          </a:xfrm>
          <a:prstGeom prst="rect">
            <a:avLst/>
          </a:prstGeom>
          <a:solidFill>
            <a:srgbClr val="FFD166"/>
          </a:solidFill>
          <a:ln w="12700">
            <a:solidFill>
              <a:srgbClr val="FFD166"/>
            </a:solidFill>
            <a:prstDash val="solid"/>
          </a:ln>
        </p:spPr>
        <p:txBody>
          <a:bodyPr/>
          <a:lstStyle/>
          <a:p>
            <a:endParaRPr lang="en-US"/>
          </a:p>
        </p:txBody>
      </p:sp>
      <p:sp>
        <p:nvSpPr>
          <p:cNvPr id="53" name="Text 51"/>
          <p:cNvSpPr/>
          <p:nvPr/>
        </p:nvSpPr>
        <p:spPr>
          <a:xfrm>
            <a:off x="412394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Reviewer</a:t>
            </a:r>
            <a:endParaRPr lang="en-US" sz="900" dirty="0"/>
          </a:p>
        </p:txBody>
      </p:sp>
      <p:sp>
        <p:nvSpPr>
          <p:cNvPr id="54" name="Shape 52"/>
          <p:cNvSpPr/>
          <p:nvPr/>
        </p:nvSpPr>
        <p:spPr>
          <a:xfrm>
            <a:off x="549554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55" name="Shape 53"/>
          <p:cNvSpPr/>
          <p:nvPr/>
        </p:nvSpPr>
        <p:spPr>
          <a:xfrm>
            <a:off x="549554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56" name="Text 54"/>
          <p:cNvSpPr/>
          <p:nvPr/>
        </p:nvSpPr>
        <p:spPr>
          <a:xfrm>
            <a:off x="563270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4</a:t>
            </a:r>
            <a:endParaRPr lang="en-US" sz="1000" dirty="0"/>
          </a:p>
        </p:txBody>
      </p:sp>
      <p:sp>
        <p:nvSpPr>
          <p:cNvPr id="57" name="Text 55"/>
          <p:cNvSpPr/>
          <p:nvPr/>
        </p:nvSpPr>
        <p:spPr>
          <a:xfrm>
            <a:off x="563270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Agentic Augmented</a:t>
            </a:r>
            <a:endParaRPr lang="en-US" sz="1500" dirty="0"/>
          </a:p>
        </p:txBody>
      </p:sp>
      <p:sp>
        <p:nvSpPr>
          <p:cNvPr id="58" name="Text 56"/>
          <p:cNvSpPr/>
          <p:nvPr/>
        </p:nvSpPr>
        <p:spPr>
          <a:xfrm>
            <a:off x="563270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59" name="Text 57"/>
          <p:cNvSpPr/>
          <p:nvPr/>
        </p:nvSpPr>
        <p:spPr>
          <a:xfrm>
            <a:off x="563270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Long-Running Agents</a:t>
            </a:r>
            <a:endParaRPr lang="en-US" sz="1100" dirty="0"/>
          </a:p>
        </p:txBody>
      </p:sp>
      <p:sp>
        <p:nvSpPr>
          <p:cNvPr id="60" name="Text 58"/>
          <p:cNvSpPr/>
          <p:nvPr/>
        </p:nvSpPr>
        <p:spPr>
          <a:xfrm>
            <a:off x="563270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Background tasks, PR creation, narrated cloud workflows.</a:t>
            </a:r>
            <a:endParaRPr lang="en-US" sz="900" dirty="0"/>
          </a:p>
        </p:txBody>
      </p:sp>
      <p:sp>
        <p:nvSpPr>
          <p:cNvPr id="61" name="Text 59"/>
          <p:cNvSpPr/>
          <p:nvPr/>
        </p:nvSpPr>
        <p:spPr>
          <a:xfrm>
            <a:off x="563270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62" name="Shape 60"/>
          <p:cNvSpPr/>
          <p:nvPr/>
        </p:nvSpPr>
        <p:spPr>
          <a:xfrm>
            <a:off x="563270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63" name="Shape 61"/>
          <p:cNvSpPr/>
          <p:nvPr/>
        </p:nvSpPr>
        <p:spPr>
          <a:xfrm>
            <a:off x="5632704" y="3463544"/>
            <a:ext cx="1014984" cy="109728"/>
          </a:xfrm>
          <a:prstGeom prst="rect">
            <a:avLst/>
          </a:prstGeom>
          <a:solidFill>
            <a:srgbClr val="4F9DE6"/>
          </a:solidFill>
          <a:ln w="12700">
            <a:solidFill>
              <a:srgbClr val="4F9DE6"/>
            </a:solidFill>
            <a:prstDash val="solid"/>
          </a:ln>
        </p:spPr>
        <p:txBody>
          <a:bodyPr/>
          <a:lstStyle/>
          <a:p>
            <a:endParaRPr lang="en-US"/>
          </a:p>
        </p:txBody>
      </p:sp>
      <p:sp>
        <p:nvSpPr>
          <p:cNvPr id="64" name="Text 62"/>
          <p:cNvSpPr/>
          <p:nvPr/>
        </p:nvSpPr>
        <p:spPr>
          <a:xfrm>
            <a:off x="563270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75% AI</a:t>
            </a:r>
            <a:endParaRPr lang="en-US" sz="800" dirty="0"/>
          </a:p>
        </p:txBody>
      </p:sp>
      <p:sp>
        <p:nvSpPr>
          <p:cNvPr id="65" name="Text 63"/>
          <p:cNvSpPr/>
          <p:nvPr/>
        </p:nvSpPr>
        <p:spPr>
          <a:xfrm>
            <a:off x="630936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25% Human</a:t>
            </a:r>
            <a:endParaRPr lang="en-US" sz="800" dirty="0"/>
          </a:p>
        </p:txBody>
      </p:sp>
      <p:sp>
        <p:nvSpPr>
          <p:cNvPr id="66" name="Text 64"/>
          <p:cNvSpPr/>
          <p:nvPr/>
        </p:nvSpPr>
        <p:spPr>
          <a:xfrm>
            <a:off x="558698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67" name="Text 65"/>
          <p:cNvSpPr/>
          <p:nvPr/>
        </p:nvSpPr>
        <p:spPr>
          <a:xfrm>
            <a:off x="558698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~1x-5x</a:t>
            </a:r>
            <a:endParaRPr lang="en-US" sz="1600" dirty="0"/>
          </a:p>
        </p:txBody>
      </p:sp>
      <p:sp>
        <p:nvSpPr>
          <p:cNvPr id="68" name="Shape 66"/>
          <p:cNvSpPr/>
          <p:nvPr/>
        </p:nvSpPr>
        <p:spPr>
          <a:xfrm>
            <a:off x="5861304" y="4160520"/>
            <a:ext cx="896112" cy="228600"/>
          </a:xfrm>
          <a:prstGeom prst="rect">
            <a:avLst/>
          </a:prstGeom>
          <a:solidFill>
            <a:srgbClr val="F78166"/>
          </a:solidFill>
          <a:ln w="12700">
            <a:solidFill>
              <a:srgbClr val="F78166"/>
            </a:solidFill>
            <a:prstDash val="solid"/>
          </a:ln>
        </p:spPr>
        <p:txBody>
          <a:bodyPr/>
          <a:lstStyle/>
          <a:p>
            <a:endParaRPr lang="en-US"/>
          </a:p>
        </p:txBody>
      </p:sp>
      <p:sp>
        <p:nvSpPr>
          <p:cNvPr id="69" name="Text 67"/>
          <p:cNvSpPr/>
          <p:nvPr/>
        </p:nvSpPr>
        <p:spPr>
          <a:xfrm>
            <a:off x="586130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Director</a:t>
            </a:r>
            <a:endParaRPr lang="en-US" sz="900" dirty="0"/>
          </a:p>
        </p:txBody>
      </p:sp>
      <p:sp>
        <p:nvSpPr>
          <p:cNvPr id="70" name="Shape 68"/>
          <p:cNvSpPr/>
          <p:nvPr/>
        </p:nvSpPr>
        <p:spPr>
          <a:xfrm>
            <a:off x="723290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71" name="Shape 69"/>
          <p:cNvSpPr/>
          <p:nvPr/>
        </p:nvSpPr>
        <p:spPr>
          <a:xfrm>
            <a:off x="723290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72" name="Text 70"/>
          <p:cNvSpPr/>
          <p:nvPr/>
        </p:nvSpPr>
        <p:spPr>
          <a:xfrm>
            <a:off x="737006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5</a:t>
            </a:r>
            <a:endParaRPr lang="en-US" sz="1000" dirty="0"/>
          </a:p>
        </p:txBody>
      </p:sp>
      <p:sp>
        <p:nvSpPr>
          <p:cNvPr id="73" name="Text 71"/>
          <p:cNvSpPr/>
          <p:nvPr/>
        </p:nvSpPr>
        <p:spPr>
          <a:xfrm>
            <a:off x="737006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Agentic Adaptive</a:t>
            </a:r>
            <a:endParaRPr lang="en-US" sz="1500" dirty="0"/>
          </a:p>
        </p:txBody>
      </p:sp>
      <p:sp>
        <p:nvSpPr>
          <p:cNvPr id="74" name="Text 72"/>
          <p:cNvSpPr/>
          <p:nvPr/>
        </p:nvSpPr>
        <p:spPr>
          <a:xfrm>
            <a:off x="737006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75" name="Text 73"/>
          <p:cNvSpPr/>
          <p:nvPr/>
        </p:nvSpPr>
        <p:spPr>
          <a:xfrm>
            <a:off x="737006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Agents as Automation</a:t>
            </a:r>
            <a:endParaRPr lang="en-US" sz="1100" dirty="0"/>
          </a:p>
        </p:txBody>
      </p:sp>
      <p:sp>
        <p:nvSpPr>
          <p:cNvPr id="76" name="Text 74"/>
          <p:cNvSpPr/>
          <p:nvPr/>
        </p:nvSpPr>
        <p:spPr>
          <a:xfrm>
            <a:off x="737006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Self-directing systems; humans set goals, review outcomes.</a:t>
            </a:r>
            <a:endParaRPr lang="en-US" sz="900" dirty="0"/>
          </a:p>
        </p:txBody>
      </p:sp>
      <p:sp>
        <p:nvSpPr>
          <p:cNvPr id="77" name="Text 75"/>
          <p:cNvSpPr/>
          <p:nvPr/>
        </p:nvSpPr>
        <p:spPr>
          <a:xfrm>
            <a:off x="737006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78" name="Shape 76"/>
          <p:cNvSpPr/>
          <p:nvPr/>
        </p:nvSpPr>
        <p:spPr>
          <a:xfrm>
            <a:off x="737006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79" name="Shape 77"/>
          <p:cNvSpPr/>
          <p:nvPr/>
        </p:nvSpPr>
        <p:spPr>
          <a:xfrm>
            <a:off x="7370064" y="3463544"/>
            <a:ext cx="1217981" cy="109728"/>
          </a:xfrm>
          <a:prstGeom prst="rect">
            <a:avLst/>
          </a:prstGeom>
          <a:solidFill>
            <a:srgbClr val="4F9DE6"/>
          </a:solidFill>
          <a:ln w="12700">
            <a:solidFill>
              <a:srgbClr val="4F9DE6"/>
            </a:solidFill>
            <a:prstDash val="solid"/>
          </a:ln>
        </p:spPr>
        <p:txBody>
          <a:bodyPr/>
          <a:lstStyle/>
          <a:p>
            <a:endParaRPr lang="en-US"/>
          </a:p>
        </p:txBody>
      </p:sp>
      <p:sp>
        <p:nvSpPr>
          <p:cNvPr id="80" name="Text 78"/>
          <p:cNvSpPr/>
          <p:nvPr/>
        </p:nvSpPr>
        <p:spPr>
          <a:xfrm>
            <a:off x="737006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90% AI</a:t>
            </a:r>
            <a:endParaRPr lang="en-US" sz="800" dirty="0"/>
          </a:p>
        </p:txBody>
      </p:sp>
      <p:sp>
        <p:nvSpPr>
          <p:cNvPr id="81" name="Text 79"/>
          <p:cNvSpPr/>
          <p:nvPr/>
        </p:nvSpPr>
        <p:spPr>
          <a:xfrm>
            <a:off x="804672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10% Human</a:t>
            </a:r>
            <a:endParaRPr lang="en-US" sz="800" dirty="0"/>
          </a:p>
        </p:txBody>
      </p:sp>
      <p:sp>
        <p:nvSpPr>
          <p:cNvPr id="82" name="Text 80"/>
          <p:cNvSpPr/>
          <p:nvPr/>
        </p:nvSpPr>
        <p:spPr>
          <a:xfrm>
            <a:off x="732434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83" name="Text 81"/>
          <p:cNvSpPr/>
          <p:nvPr/>
        </p:nvSpPr>
        <p:spPr>
          <a:xfrm>
            <a:off x="732434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~10-20x</a:t>
            </a:r>
            <a:endParaRPr lang="en-US" sz="1600" dirty="0"/>
          </a:p>
        </p:txBody>
      </p:sp>
      <p:sp>
        <p:nvSpPr>
          <p:cNvPr id="84" name="Shape 82"/>
          <p:cNvSpPr/>
          <p:nvPr/>
        </p:nvSpPr>
        <p:spPr>
          <a:xfrm>
            <a:off x="7598664" y="4160520"/>
            <a:ext cx="896112" cy="228600"/>
          </a:xfrm>
          <a:prstGeom prst="rect">
            <a:avLst/>
          </a:prstGeom>
          <a:solidFill>
            <a:srgbClr val="F78166"/>
          </a:solidFill>
          <a:ln w="12700">
            <a:solidFill>
              <a:srgbClr val="F78166"/>
            </a:solidFill>
            <a:prstDash val="solid"/>
          </a:ln>
        </p:spPr>
        <p:txBody>
          <a:bodyPr/>
          <a:lstStyle/>
          <a:p>
            <a:endParaRPr lang="en-US"/>
          </a:p>
        </p:txBody>
      </p:sp>
      <p:sp>
        <p:nvSpPr>
          <p:cNvPr id="85" name="Text 83"/>
          <p:cNvSpPr/>
          <p:nvPr/>
        </p:nvSpPr>
        <p:spPr>
          <a:xfrm>
            <a:off x="759866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Director</a:t>
            </a:r>
            <a:endParaRPr lang="en-US" sz="900" dirty="0"/>
          </a:p>
        </p:txBody>
      </p:sp>
      <p:sp>
        <p:nvSpPr>
          <p:cNvPr id="86" name="Shape 84"/>
          <p:cNvSpPr/>
          <p:nvPr/>
        </p:nvSpPr>
        <p:spPr>
          <a:xfrm>
            <a:off x="2926080" y="900684"/>
            <a:ext cx="1554480" cy="347472"/>
          </a:xfrm>
          <a:prstGeom prst="rect">
            <a:avLst/>
          </a:prstGeom>
          <a:solidFill>
            <a:srgbClr val="F78166"/>
          </a:solidFill>
          <a:ln w="12700">
            <a:solidFill>
              <a:srgbClr val="F78166"/>
            </a:solidFill>
            <a:prstDash val="solid"/>
          </a:ln>
          <a:effectLst>
            <a:outerShdw blurRad="101600" dist="25400" dir="8100000" algn="bl" rotWithShape="0">
              <a:srgbClr val="000000">
                <a:alpha val="12000"/>
              </a:srgbClr>
            </a:outerShdw>
          </a:effectLst>
        </p:spPr>
        <p:txBody>
          <a:bodyPr/>
          <a:lstStyle/>
          <a:p>
            <a:endParaRPr lang="en-US"/>
          </a:p>
        </p:txBody>
      </p:sp>
      <p:sp>
        <p:nvSpPr>
          <p:cNvPr id="87" name="Text 85"/>
          <p:cNvSpPr/>
          <p:nvPr/>
        </p:nvSpPr>
        <p:spPr>
          <a:xfrm>
            <a:off x="2971800" y="905256"/>
            <a:ext cx="1554480" cy="347472"/>
          </a:xfrm>
          <a:prstGeom prst="rect">
            <a:avLst/>
          </a:prstGeom>
          <a:noFill/>
          <a:ln/>
        </p:spPr>
        <p:txBody>
          <a:bodyPr wrap="square" lIns="0" tIns="0" rIns="0" bIns="0" rtlCol="0" anchor="ctr"/>
          <a:lstStyle/>
          <a:p>
            <a:pPr marL="0" indent="0" algn="ctr">
              <a:buNone/>
            </a:pPr>
            <a:r>
              <a:rPr lang="en-US" sz="1000" b="1" kern="0" spc="300" dirty="0">
                <a:solidFill>
                  <a:srgbClr val="FFFFFF"/>
                </a:solidFill>
                <a:latin typeface="Calibri" pitchFamily="34" charset="0"/>
                <a:ea typeface="Calibri" pitchFamily="34" charset="-122"/>
                <a:cs typeface="Calibri" pitchFamily="34" charset="-120"/>
              </a:rPr>
              <a:t>THE CAPABILITY GAP</a:t>
            </a:r>
            <a:endParaRPr lang="en-US" sz="1000" dirty="0"/>
          </a:p>
        </p:txBody>
      </p:sp>
      <p:sp>
        <p:nvSpPr>
          <p:cNvPr id="88" name="Shape 86"/>
          <p:cNvSpPr/>
          <p:nvPr/>
        </p:nvSpPr>
        <p:spPr>
          <a:xfrm>
            <a:off x="365760" y="4754880"/>
            <a:ext cx="146304" cy="146304"/>
          </a:xfrm>
          <a:prstGeom prst="ellipse">
            <a:avLst/>
          </a:prstGeom>
          <a:solidFill>
            <a:srgbClr val="4F9DE6"/>
          </a:solidFill>
          <a:ln w="12700">
            <a:solidFill>
              <a:srgbClr val="4F9DE6"/>
            </a:solidFill>
            <a:prstDash val="solid"/>
          </a:ln>
        </p:spPr>
        <p:txBody>
          <a:bodyPr/>
          <a:lstStyle/>
          <a:p>
            <a:endParaRPr lang="en-US"/>
          </a:p>
        </p:txBody>
      </p:sp>
      <p:sp>
        <p:nvSpPr>
          <p:cNvPr id="89" name="Text 87"/>
          <p:cNvSpPr/>
          <p:nvPr/>
        </p:nvSpPr>
        <p:spPr>
          <a:xfrm>
            <a:off x="548640" y="4709160"/>
            <a:ext cx="210312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Individual Productivity</a:t>
            </a:r>
            <a:endParaRPr lang="en-US" sz="1000" dirty="0"/>
          </a:p>
        </p:txBody>
      </p:sp>
      <p:sp>
        <p:nvSpPr>
          <p:cNvPr id="90" name="Text 88"/>
          <p:cNvSpPr/>
          <p:nvPr/>
        </p:nvSpPr>
        <p:spPr>
          <a:xfrm>
            <a:off x="2651760" y="4709160"/>
            <a:ext cx="4206240" cy="256032"/>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The human role shifts from Producer → Reviewer → Director</a:t>
            </a:r>
            <a:endParaRPr lang="en-US" sz="1000" dirty="0"/>
          </a:p>
        </p:txBody>
      </p:sp>
      <p:sp>
        <p:nvSpPr>
          <p:cNvPr id="91" name="Shape 89"/>
          <p:cNvSpPr/>
          <p:nvPr/>
        </p:nvSpPr>
        <p:spPr>
          <a:xfrm>
            <a:off x="6949440" y="4754880"/>
            <a:ext cx="146304" cy="146304"/>
          </a:xfrm>
          <a:prstGeom prst="ellipse">
            <a:avLst/>
          </a:prstGeom>
          <a:solidFill>
            <a:srgbClr val="F78166"/>
          </a:solidFill>
          <a:ln w="12700">
            <a:solidFill>
              <a:srgbClr val="F78166"/>
            </a:solidFill>
            <a:prstDash val="solid"/>
          </a:ln>
        </p:spPr>
        <p:txBody>
          <a:bodyPr/>
          <a:lstStyle/>
          <a:p>
            <a:endParaRPr lang="en-US"/>
          </a:p>
        </p:txBody>
      </p:sp>
      <p:sp>
        <p:nvSpPr>
          <p:cNvPr id="92" name="Text 90"/>
          <p:cNvSpPr/>
          <p:nvPr/>
        </p:nvSpPr>
        <p:spPr>
          <a:xfrm>
            <a:off x="7132320" y="4709160"/>
            <a:ext cx="182880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Organizational Capability</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Solo wins don't scale.</a:t>
            </a:r>
            <a:endParaRPr lang="en-US" sz="3000" dirty="0"/>
          </a:p>
        </p:txBody>
      </p:sp>
      <p:sp>
        <p:nvSpPr>
          <p:cNvPr id="5" name="Shape 3"/>
          <p:cNvSpPr/>
          <p:nvPr/>
        </p:nvSpPr>
        <p:spPr>
          <a:xfrm>
            <a:off x="548640" y="141732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4023360" cy="73152"/>
          </a:xfrm>
          <a:prstGeom prst="rect">
            <a:avLst/>
          </a:prstGeom>
          <a:solidFill>
            <a:srgbClr val="F78166"/>
          </a:solidFill>
          <a:ln w="12700">
            <a:solidFill>
              <a:srgbClr val="F78166"/>
            </a:solidFill>
            <a:prstDash val="solid"/>
          </a:ln>
        </p:spPr>
        <p:txBody>
          <a:bodyPr/>
          <a:lstStyle/>
          <a:p>
            <a:endParaRPr lang="en-US"/>
          </a:p>
        </p:txBody>
      </p:sp>
      <p:sp>
        <p:nvSpPr>
          <p:cNvPr id="7" name="Shape 5"/>
          <p:cNvSpPr/>
          <p:nvPr/>
        </p:nvSpPr>
        <p:spPr>
          <a:xfrm>
            <a:off x="777240" y="169164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68680" y="1783080"/>
            <a:ext cx="365760" cy="365760"/>
          </a:xfrm>
          <a:prstGeom prst="rect">
            <a:avLst/>
          </a:prstGeom>
        </p:spPr>
      </p:pic>
      <p:sp>
        <p:nvSpPr>
          <p:cNvPr id="9" name="Text 6"/>
          <p:cNvSpPr/>
          <p:nvPr/>
        </p:nvSpPr>
        <p:spPr>
          <a:xfrm>
            <a:off x="1463040" y="167335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Every session starts from zero</a:t>
            </a:r>
            <a:endParaRPr lang="en-US" sz="1500" dirty="0"/>
          </a:p>
        </p:txBody>
      </p:sp>
      <p:sp>
        <p:nvSpPr>
          <p:cNvPr id="10" name="Text 7"/>
          <p:cNvSpPr/>
          <p:nvPr/>
        </p:nvSpPr>
        <p:spPr>
          <a:xfrm>
            <a:off x="1463040" y="219456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No shared context carries between developers or days.</a:t>
            </a:r>
            <a:endParaRPr lang="en-US" sz="1200" dirty="0"/>
          </a:p>
        </p:txBody>
      </p:sp>
      <p:sp>
        <p:nvSpPr>
          <p:cNvPr id="11" name="Shape 8"/>
          <p:cNvSpPr/>
          <p:nvPr/>
        </p:nvSpPr>
        <p:spPr>
          <a:xfrm>
            <a:off x="4754880" y="141732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9"/>
          <p:cNvSpPr/>
          <p:nvPr/>
        </p:nvSpPr>
        <p:spPr>
          <a:xfrm>
            <a:off x="4754880" y="1417320"/>
            <a:ext cx="4023360" cy="73152"/>
          </a:xfrm>
          <a:prstGeom prst="rect">
            <a:avLst/>
          </a:prstGeom>
          <a:solidFill>
            <a:srgbClr val="F78166"/>
          </a:solidFill>
          <a:ln w="12700">
            <a:solidFill>
              <a:srgbClr val="F78166"/>
            </a:solidFill>
            <a:prstDash val="solid"/>
          </a:ln>
        </p:spPr>
        <p:txBody>
          <a:bodyPr/>
          <a:lstStyle/>
          <a:p>
            <a:endParaRPr lang="en-US"/>
          </a:p>
        </p:txBody>
      </p:sp>
      <p:sp>
        <p:nvSpPr>
          <p:cNvPr id="13" name="Shape 10"/>
          <p:cNvSpPr/>
          <p:nvPr/>
        </p:nvSpPr>
        <p:spPr>
          <a:xfrm>
            <a:off x="4983480" y="169164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5074920" y="1783080"/>
            <a:ext cx="365760" cy="365760"/>
          </a:xfrm>
          <a:prstGeom prst="rect">
            <a:avLst/>
          </a:prstGeom>
        </p:spPr>
      </p:pic>
      <p:sp>
        <p:nvSpPr>
          <p:cNvPr id="15" name="Text 11"/>
          <p:cNvSpPr/>
          <p:nvPr/>
        </p:nvSpPr>
        <p:spPr>
          <a:xfrm>
            <a:off x="5669280" y="167335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Copilot doesn't know your team</a:t>
            </a:r>
            <a:endParaRPr lang="en-US" sz="1500" dirty="0"/>
          </a:p>
        </p:txBody>
      </p:sp>
      <p:sp>
        <p:nvSpPr>
          <p:cNvPr id="16" name="Text 12"/>
          <p:cNvSpPr/>
          <p:nvPr/>
        </p:nvSpPr>
        <p:spPr>
          <a:xfrm>
            <a:off x="5669280" y="219456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It hasn't learned how you write code, review PRs, or deploy.</a:t>
            </a:r>
            <a:endParaRPr lang="en-US" sz="1200" dirty="0"/>
          </a:p>
        </p:txBody>
      </p:sp>
      <p:sp>
        <p:nvSpPr>
          <p:cNvPr id="17" name="Shape 13"/>
          <p:cNvSpPr/>
          <p:nvPr/>
        </p:nvSpPr>
        <p:spPr>
          <a:xfrm>
            <a:off x="548640" y="310896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4"/>
          <p:cNvSpPr/>
          <p:nvPr/>
        </p:nvSpPr>
        <p:spPr>
          <a:xfrm>
            <a:off x="548640" y="3108960"/>
            <a:ext cx="4023360" cy="73152"/>
          </a:xfrm>
          <a:prstGeom prst="rect">
            <a:avLst/>
          </a:prstGeom>
          <a:solidFill>
            <a:srgbClr val="F78166"/>
          </a:solidFill>
          <a:ln w="12700">
            <a:solidFill>
              <a:srgbClr val="F78166"/>
            </a:solidFill>
            <a:prstDash val="solid"/>
          </a:ln>
        </p:spPr>
        <p:txBody>
          <a:bodyPr/>
          <a:lstStyle/>
          <a:p>
            <a:endParaRPr lang="en-US"/>
          </a:p>
        </p:txBody>
      </p:sp>
      <p:sp>
        <p:nvSpPr>
          <p:cNvPr id="19" name="Shape 15"/>
          <p:cNvSpPr/>
          <p:nvPr/>
        </p:nvSpPr>
        <p:spPr>
          <a:xfrm>
            <a:off x="777240" y="338328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68680" y="3474720"/>
            <a:ext cx="365760" cy="365760"/>
          </a:xfrm>
          <a:prstGeom prst="rect">
            <a:avLst/>
          </a:prstGeom>
        </p:spPr>
      </p:pic>
      <p:sp>
        <p:nvSpPr>
          <p:cNvPr id="21" name="Text 16"/>
          <p:cNvSpPr/>
          <p:nvPr/>
        </p:nvSpPr>
        <p:spPr>
          <a:xfrm>
            <a:off x="1463040" y="336499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Tribal knowledge stays tribal</a:t>
            </a:r>
            <a:endParaRPr lang="en-US" sz="1500" dirty="0"/>
          </a:p>
        </p:txBody>
      </p:sp>
      <p:sp>
        <p:nvSpPr>
          <p:cNvPr id="22" name="Text 17"/>
          <p:cNvSpPr/>
          <p:nvPr/>
        </p:nvSpPr>
        <p:spPr>
          <a:xfrm>
            <a:off x="1463040" y="388620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Conventions live in people's heads — not in the tools.</a:t>
            </a:r>
            <a:endParaRPr lang="en-US" sz="1200" dirty="0"/>
          </a:p>
        </p:txBody>
      </p:sp>
      <p:sp>
        <p:nvSpPr>
          <p:cNvPr id="23" name="Shape 18"/>
          <p:cNvSpPr/>
          <p:nvPr/>
        </p:nvSpPr>
        <p:spPr>
          <a:xfrm>
            <a:off x="4754880" y="310896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4" name="Shape 19"/>
          <p:cNvSpPr/>
          <p:nvPr/>
        </p:nvSpPr>
        <p:spPr>
          <a:xfrm>
            <a:off x="4754880" y="3108960"/>
            <a:ext cx="4023360" cy="73152"/>
          </a:xfrm>
          <a:prstGeom prst="rect">
            <a:avLst/>
          </a:prstGeom>
          <a:solidFill>
            <a:srgbClr val="F78166"/>
          </a:solidFill>
          <a:ln w="12700">
            <a:solidFill>
              <a:srgbClr val="F78166"/>
            </a:solidFill>
            <a:prstDash val="solid"/>
          </a:ln>
        </p:spPr>
        <p:txBody>
          <a:bodyPr/>
          <a:lstStyle/>
          <a:p>
            <a:endParaRPr lang="en-US"/>
          </a:p>
        </p:txBody>
      </p:sp>
      <p:sp>
        <p:nvSpPr>
          <p:cNvPr id="25" name="Shape 20"/>
          <p:cNvSpPr/>
          <p:nvPr/>
        </p:nvSpPr>
        <p:spPr>
          <a:xfrm>
            <a:off x="4983480" y="338328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5074920" y="3474720"/>
            <a:ext cx="365760" cy="365760"/>
          </a:xfrm>
          <a:prstGeom prst="rect">
            <a:avLst/>
          </a:prstGeom>
        </p:spPr>
      </p:pic>
      <p:sp>
        <p:nvSpPr>
          <p:cNvPr id="27" name="Text 21"/>
          <p:cNvSpPr/>
          <p:nvPr/>
        </p:nvSpPr>
        <p:spPr>
          <a:xfrm>
            <a:off x="5669280" y="336499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Gap: one fast person ≠ fast team</a:t>
            </a:r>
            <a:endParaRPr lang="en-US" sz="1500" dirty="0"/>
          </a:p>
        </p:txBody>
      </p:sp>
      <p:sp>
        <p:nvSpPr>
          <p:cNvPr id="28" name="Text 22"/>
          <p:cNvSpPr/>
          <p:nvPr/>
        </p:nvSpPr>
        <p:spPr>
          <a:xfrm>
            <a:off x="5669280" y="388620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Individual velocity doesn't compound into shipping velocity.</a:t>
            </a:r>
            <a:endParaRPr lang="en-US" sz="1200" dirty="0"/>
          </a:p>
        </p:txBody>
      </p:sp>
      <p:sp>
        <p:nvSpPr>
          <p:cNvPr id="29" name="Text 23"/>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30" name="Text 24"/>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sp>
        <p:nvSpPr>
          <p:cNvPr id="4" name="Text 2"/>
          <p:cNvSpPr/>
          <p:nvPr/>
        </p:nvSpPr>
        <p:spPr>
          <a:xfrm>
            <a:off x="548640" y="1463040"/>
            <a:ext cx="8229600" cy="365760"/>
          </a:xfrm>
          <a:prstGeom prst="rect">
            <a:avLst/>
          </a:prstGeom>
          <a:noFill/>
          <a:ln/>
        </p:spPr>
        <p:txBody>
          <a:bodyPr wrap="square" lIns="0" tIns="0" rIns="0" bIns="0" rtlCol="0" anchor="ctr"/>
          <a:lstStyle/>
          <a:p>
            <a:pPr marL="0" indent="0">
              <a:buNone/>
            </a:pPr>
            <a:r>
              <a:rPr lang="en-US" sz="1300" b="1" kern="0" spc="600" dirty="0">
                <a:solidFill>
                  <a:srgbClr val="FFD166"/>
                </a:solidFill>
                <a:latin typeface="Calibri" pitchFamily="34" charset="0"/>
                <a:ea typeface="Calibri" pitchFamily="34" charset="-122"/>
                <a:cs typeface="Calibri" pitchFamily="34" charset="-120"/>
              </a:rPr>
              <a:t>PART ONE</a:t>
            </a:r>
            <a:endParaRPr lang="en-US" sz="1300" dirty="0"/>
          </a:p>
        </p:txBody>
      </p:sp>
      <p:sp>
        <p:nvSpPr>
          <p:cNvPr id="5" name="Text 3"/>
          <p:cNvSpPr/>
          <p:nvPr/>
        </p:nvSpPr>
        <p:spPr>
          <a:xfrm>
            <a:off x="548640" y="1828800"/>
            <a:ext cx="82296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The System</a:t>
            </a:r>
            <a:endParaRPr lang="en-US" sz="5600" dirty="0"/>
          </a:p>
        </p:txBody>
      </p:sp>
      <p:sp>
        <p:nvSpPr>
          <p:cNvPr id="6" name="Text 4"/>
          <p:cNvSpPr/>
          <p:nvPr/>
        </p:nvSpPr>
        <p:spPr>
          <a:xfrm>
            <a:off x="548640" y="2834640"/>
            <a:ext cx="8229600" cy="640080"/>
          </a:xfrm>
          <a:prstGeom prst="rect">
            <a:avLst/>
          </a:prstGeom>
          <a:noFill/>
          <a:ln/>
        </p:spPr>
        <p:txBody>
          <a:bodyPr wrap="square" lIns="0" tIns="0" rIns="0" bIns="0" rtlCol="0" anchor="ctr"/>
          <a:lstStyle/>
          <a:p>
            <a:pPr marL="0" indent="0">
              <a:buNone/>
            </a:pPr>
            <a:r>
              <a:rPr lang="en-US" sz="2400" i="1" dirty="0">
                <a:solidFill>
                  <a:srgbClr val="4F9DE6"/>
                </a:solidFill>
                <a:latin typeface="Calibri" pitchFamily="34" charset="0"/>
                <a:ea typeface="Calibri" pitchFamily="34" charset="-122"/>
                <a:cs typeface="Calibri" pitchFamily="34" charset="-120"/>
              </a:rPr>
              <a:t>What goes in .github/</a:t>
            </a:r>
            <a:endParaRPr lang="en-US" sz="2400" dirty="0"/>
          </a:p>
        </p:txBody>
      </p:sp>
      <p:sp>
        <p:nvSpPr>
          <p:cNvPr id="7" name="Text 5"/>
          <p:cNvSpPr/>
          <p:nvPr/>
        </p:nvSpPr>
        <p:spPr>
          <a:xfrm>
            <a:off x="548640" y="3657600"/>
            <a:ext cx="8229600" cy="457200"/>
          </a:xfrm>
          <a:prstGeom prst="rect">
            <a:avLst/>
          </a:prstGeom>
          <a:noFill/>
          <a:ln/>
        </p:spPr>
        <p:txBody>
          <a:bodyPr wrap="square" lIns="0" tIns="0" rIns="0" bIns="0" rtlCol="0" anchor="ctr"/>
          <a:lstStyle/>
          <a:p>
            <a:pPr marL="0" indent="0">
              <a:buNone/>
            </a:pPr>
            <a:r>
              <a:rPr lang="en-US" sz="1400" kern="0" spc="200" dirty="0">
                <a:solidFill>
                  <a:srgbClr val="94A3B8"/>
                </a:solidFill>
                <a:latin typeface="Calibri" pitchFamily="34" charset="0"/>
                <a:ea typeface="Calibri" pitchFamily="34" charset="-122"/>
                <a:cs typeface="Calibri" pitchFamily="34" charset="-120"/>
              </a:rPr>
              <a:t>Instructions · Prompts · Skills · Agents · MCP</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COMPOSITION MODEL</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What goes in .github/</a:t>
            </a:r>
            <a:endParaRPr lang="en-US" sz="3000" dirty="0"/>
          </a:p>
        </p:txBody>
      </p:sp>
      <p:sp>
        <p:nvSpPr>
          <p:cNvPr id="5" name="Shape 3"/>
          <p:cNvSpPr/>
          <p:nvPr/>
        </p:nvSpPr>
        <p:spPr>
          <a:xfrm>
            <a:off x="548640" y="1371600"/>
            <a:ext cx="8046720" cy="320040"/>
          </a:xfrm>
          <a:prstGeom prst="rect">
            <a:avLst/>
          </a:prstGeom>
          <a:solidFill>
            <a:srgbClr val="0B1F3A"/>
          </a:solidFill>
          <a:ln w="12700">
            <a:solidFill>
              <a:srgbClr val="0B1F3A"/>
            </a:solidFill>
            <a:prstDash val="solid"/>
          </a:ln>
        </p:spPr>
        <p:txBody>
          <a:bodyPr/>
          <a:lstStyle/>
          <a:p>
            <a:endParaRPr lang="en-US"/>
          </a:p>
        </p:txBody>
      </p:sp>
      <p:sp>
        <p:nvSpPr>
          <p:cNvPr id="6" name="Text 4"/>
          <p:cNvSpPr/>
          <p:nvPr/>
        </p:nvSpPr>
        <p:spPr>
          <a:xfrm>
            <a:off x="1097280" y="1371600"/>
            <a:ext cx="3017520" cy="32004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ASSET</a:t>
            </a:r>
            <a:endParaRPr lang="en-US" sz="1100" dirty="0"/>
          </a:p>
        </p:txBody>
      </p:sp>
      <p:sp>
        <p:nvSpPr>
          <p:cNvPr id="7" name="Text 5"/>
          <p:cNvSpPr/>
          <p:nvPr/>
        </p:nvSpPr>
        <p:spPr>
          <a:xfrm>
            <a:off x="4114800" y="1371600"/>
            <a:ext cx="4297680" cy="32004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8" name="Shape 6"/>
          <p:cNvSpPr/>
          <p:nvPr/>
        </p:nvSpPr>
        <p:spPr>
          <a:xfrm>
            <a:off x="548640" y="1691640"/>
            <a:ext cx="8046720" cy="438912"/>
          </a:xfrm>
          <a:prstGeom prst="rect">
            <a:avLst/>
          </a:prstGeom>
          <a:solidFill>
            <a:srgbClr val="FFFFFF"/>
          </a:solidFill>
          <a:ln w="12700">
            <a:solidFill>
              <a:srgbClr val="E2E8F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685800" y="1783080"/>
            <a:ext cx="274320" cy="274320"/>
          </a:xfrm>
          <a:prstGeom prst="rect">
            <a:avLst/>
          </a:prstGeom>
        </p:spPr>
      </p:pic>
      <p:sp>
        <p:nvSpPr>
          <p:cNvPr id="10" name="Text 7"/>
          <p:cNvSpPr/>
          <p:nvPr/>
        </p:nvSpPr>
        <p:spPr>
          <a:xfrm>
            <a:off x="1097280" y="1691640"/>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copilot-instructions.md</a:t>
            </a:r>
            <a:endParaRPr lang="en-US" sz="1200" dirty="0"/>
          </a:p>
        </p:txBody>
      </p:sp>
      <p:sp>
        <p:nvSpPr>
          <p:cNvPr id="11" name="Text 8"/>
          <p:cNvSpPr/>
          <p:nvPr/>
        </p:nvSpPr>
        <p:spPr>
          <a:xfrm>
            <a:off x="4114800" y="1691640"/>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Raises the floor — every dev gets the same baseline</a:t>
            </a:r>
            <a:endParaRPr lang="en-US" sz="1200" dirty="0"/>
          </a:p>
        </p:txBody>
      </p:sp>
      <p:sp>
        <p:nvSpPr>
          <p:cNvPr id="12" name="Shape 9"/>
          <p:cNvSpPr/>
          <p:nvPr/>
        </p:nvSpPr>
        <p:spPr>
          <a:xfrm>
            <a:off x="548640" y="2130552"/>
            <a:ext cx="8046720" cy="438912"/>
          </a:xfrm>
          <a:prstGeom prst="rect">
            <a:avLst/>
          </a:prstGeom>
          <a:solidFill>
            <a:srgbClr val="F5F7FA"/>
          </a:solidFill>
          <a:ln w="12700">
            <a:solidFill>
              <a:srgbClr val="E2E8F0"/>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685800" y="2221992"/>
            <a:ext cx="274320" cy="274320"/>
          </a:xfrm>
          <a:prstGeom prst="rect">
            <a:avLst/>
          </a:prstGeom>
        </p:spPr>
      </p:pic>
      <p:sp>
        <p:nvSpPr>
          <p:cNvPr id="14" name="Text 10"/>
          <p:cNvSpPr/>
          <p:nvPr/>
        </p:nvSpPr>
        <p:spPr>
          <a:xfrm>
            <a:off x="1097280" y="2130552"/>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*.instructions.md</a:t>
            </a:r>
            <a:endParaRPr lang="en-US" sz="1200" dirty="0"/>
          </a:p>
        </p:txBody>
      </p:sp>
      <p:sp>
        <p:nvSpPr>
          <p:cNvPr id="15" name="Text 11"/>
          <p:cNvSpPr/>
          <p:nvPr/>
        </p:nvSpPr>
        <p:spPr>
          <a:xfrm>
            <a:off x="4114800" y="2130552"/>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Always-on coding standards (Clean Architecture, DDD)</a:t>
            </a:r>
            <a:endParaRPr lang="en-US" sz="1200" dirty="0"/>
          </a:p>
        </p:txBody>
      </p:sp>
      <p:sp>
        <p:nvSpPr>
          <p:cNvPr id="16" name="Shape 12"/>
          <p:cNvSpPr/>
          <p:nvPr/>
        </p:nvSpPr>
        <p:spPr>
          <a:xfrm>
            <a:off x="548640" y="2569464"/>
            <a:ext cx="8046720" cy="438912"/>
          </a:xfrm>
          <a:prstGeom prst="rect">
            <a:avLst/>
          </a:prstGeom>
          <a:solidFill>
            <a:srgbClr val="FFFFFF"/>
          </a:solidFill>
          <a:ln w="12700">
            <a:solidFill>
              <a:srgbClr val="E2E8F0"/>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85800" y="2660904"/>
            <a:ext cx="274320" cy="274320"/>
          </a:xfrm>
          <a:prstGeom prst="rect">
            <a:avLst/>
          </a:prstGeom>
        </p:spPr>
      </p:pic>
      <p:sp>
        <p:nvSpPr>
          <p:cNvPr id="18" name="Text 13"/>
          <p:cNvSpPr/>
          <p:nvPr/>
        </p:nvSpPr>
        <p:spPr>
          <a:xfrm>
            <a:off x="1097280" y="2569464"/>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*.prompt.md</a:t>
            </a:r>
            <a:endParaRPr lang="en-US" sz="1200" dirty="0"/>
          </a:p>
        </p:txBody>
      </p:sp>
      <p:sp>
        <p:nvSpPr>
          <p:cNvPr id="19" name="Text 14"/>
          <p:cNvSpPr/>
          <p:nvPr/>
        </p:nvSpPr>
        <p:spPr>
          <a:xfrm>
            <a:off x="4114800" y="2569464"/>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One-click automation — PR descriptions, commits</a:t>
            </a:r>
            <a:endParaRPr lang="en-US" sz="1200" dirty="0"/>
          </a:p>
        </p:txBody>
      </p:sp>
      <p:sp>
        <p:nvSpPr>
          <p:cNvPr id="20" name="Shape 15"/>
          <p:cNvSpPr/>
          <p:nvPr/>
        </p:nvSpPr>
        <p:spPr>
          <a:xfrm>
            <a:off x="548640" y="3008376"/>
            <a:ext cx="8046720" cy="438912"/>
          </a:xfrm>
          <a:prstGeom prst="rect">
            <a:avLst/>
          </a:prstGeom>
          <a:solidFill>
            <a:srgbClr val="F5F7FA"/>
          </a:solidFill>
          <a:ln w="12700">
            <a:solidFill>
              <a:srgbClr val="E2E8F0"/>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85800" y="3099816"/>
            <a:ext cx="274320" cy="274320"/>
          </a:xfrm>
          <a:prstGeom prst="rect">
            <a:avLst/>
          </a:prstGeom>
        </p:spPr>
      </p:pic>
      <p:sp>
        <p:nvSpPr>
          <p:cNvPr id="22" name="Text 16"/>
          <p:cNvSpPr/>
          <p:nvPr/>
        </p:nvSpPr>
        <p:spPr>
          <a:xfrm>
            <a:off x="1097280" y="3008376"/>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SKILL.md</a:t>
            </a:r>
            <a:endParaRPr lang="en-US" sz="1200" dirty="0"/>
          </a:p>
        </p:txBody>
      </p:sp>
      <p:sp>
        <p:nvSpPr>
          <p:cNvPr id="23" name="Text 17"/>
          <p:cNvSpPr/>
          <p:nvPr/>
        </p:nvSpPr>
        <p:spPr>
          <a:xfrm>
            <a:off x="4114800" y="3008376"/>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Portable multi-step capabilities — scripts + resources</a:t>
            </a:r>
            <a:endParaRPr lang="en-US" sz="1200" dirty="0"/>
          </a:p>
        </p:txBody>
      </p:sp>
      <p:sp>
        <p:nvSpPr>
          <p:cNvPr id="24" name="Shape 18"/>
          <p:cNvSpPr/>
          <p:nvPr/>
        </p:nvSpPr>
        <p:spPr>
          <a:xfrm>
            <a:off x="548640" y="3447288"/>
            <a:ext cx="8046720" cy="438912"/>
          </a:xfrm>
          <a:prstGeom prst="rect">
            <a:avLst/>
          </a:prstGeom>
          <a:solidFill>
            <a:srgbClr val="FFFFFF"/>
          </a:solidFill>
          <a:ln w="12700">
            <a:solidFill>
              <a:srgbClr val="E2E8F0"/>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685800" y="3538728"/>
            <a:ext cx="274320" cy="274320"/>
          </a:xfrm>
          <a:prstGeom prst="rect">
            <a:avLst/>
          </a:prstGeom>
        </p:spPr>
      </p:pic>
      <p:sp>
        <p:nvSpPr>
          <p:cNvPr id="26" name="Text 19"/>
          <p:cNvSpPr/>
          <p:nvPr/>
        </p:nvSpPr>
        <p:spPr>
          <a:xfrm>
            <a:off x="1097280" y="3447288"/>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*.agent.md</a:t>
            </a:r>
            <a:endParaRPr lang="en-US" sz="1200" dirty="0"/>
          </a:p>
        </p:txBody>
      </p:sp>
      <p:sp>
        <p:nvSpPr>
          <p:cNvPr id="27" name="Text 20"/>
          <p:cNvSpPr/>
          <p:nvPr/>
        </p:nvSpPr>
        <p:spPr>
          <a:xfrm>
            <a:off x="4114800" y="3447288"/>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Role-based specialists with tool restrictions</a:t>
            </a:r>
            <a:endParaRPr lang="en-US" sz="1200" dirty="0"/>
          </a:p>
        </p:txBody>
      </p:sp>
      <p:sp>
        <p:nvSpPr>
          <p:cNvPr id="28" name="Shape 21"/>
          <p:cNvSpPr/>
          <p:nvPr/>
        </p:nvSpPr>
        <p:spPr>
          <a:xfrm>
            <a:off x="548640" y="3886200"/>
            <a:ext cx="8046720" cy="438912"/>
          </a:xfrm>
          <a:prstGeom prst="rect">
            <a:avLst/>
          </a:prstGeom>
          <a:solidFill>
            <a:srgbClr val="F5F7FA"/>
          </a:solidFill>
          <a:ln w="12700">
            <a:solidFill>
              <a:srgbClr val="E2E8F0"/>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685800" y="3977640"/>
            <a:ext cx="274320" cy="274320"/>
          </a:xfrm>
          <a:prstGeom prst="rect">
            <a:avLst/>
          </a:prstGeom>
        </p:spPr>
      </p:pic>
      <p:sp>
        <p:nvSpPr>
          <p:cNvPr id="30" name="Text 22"/>
          <p:cNvSpPr/>
          <p:nvPr/>
        </p:nvSpPr>
        <p:spPr>
          <a:xfrm>
            <a:off x="1097280" y="3886200"/>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.mcp.json</a:t>
            </a:r>
            <a:endParaRPr lang="en-US" sz="1200" dirty="0"/>
          </a:p>
        </p:txBody>
      </p:sp>
      <p:sp>
        <p:nvSpPr>
          <p:cNvPr id="31" name="Text 23"/>
          <p:cNvSpPr/>
          <p:nvPr/>
        </p:nvSpPr>
        <p:spPr>
          <a:xfrm>
            <a:off x="4114800" y="3886200"/>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The execution layer — connects agents to real tools</a:t>
            </a:r>
            <a:endParaRPr lang="en-US" sz="1200" dirty="0"/>
          </a:p>
        </p:txBody>
      </p:sp>
      <p:sp>
        <p:nvSpPr>
          <p:cNvPr id="32" name="Shape 24"/>
          <p:cNvSpPr/>
          <p:nvPr/>
        </p:nvSpPr>
        <p:spPr>
          <a:xfrm>
            <a:off x="548640" y="4462272"/>
            <a:ext cx="8046720" cy="411480"/>
          </a:xfrm>
          <a:prstGeom prst="rect">
            <a:avLst/>
          </a:prstGeom>
          <a:solidFill>
            <a:srgbClr val="0F1729"/>
          </a:solidFill>
          <a:ln w="12700">
            <a:solidFill>
              <a:srgbClr val="0F1729"/>
            </a:solidFill>
            <a:prstDash val="solid"/>
          </a:ln>
        </p:spPr>
        <p:txBody>
          <a:bodyPr/>
          <a:lstStyle/>
          <a:p>
            <a:endParaRPr lang="en-US"/>
          </a:p>
        </p:txBody>
      </p:sp>
      <p:sp>
        <p:nvSpPr>
          <p:cNvPr id="33" name="Text 25"/>
          <p:cNvSpPr/>
          <p:nvPr/>
        </p:nvSpPr>
        <p:spPr>
          <a:xfrm>
            <a:off x="731520" y="4462272"/>
            <a:ext cx="7680960" cy="41148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Version-controlled · PR-reviewed · Shared with the whole team</a:t>
            </a:r>
            <a:endParaRPr lang="en-US" sz="1300" dirty="0"/>
          </a:p>
        </p:txBody>
      </p:sp>
      <p:sp>
        <p:nvSpPr>
          <p:cNvPr id="34" name="Text 26"/>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35" name="Text 27"/>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WHEN TO USE WHAT</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Instructions · Skills · Agents · Prompts</a:t>
            </a:r>
            <a:endParaRPr lang="en-US" sz="3000" dirty="0"/>
          </a:p>
        </p:txBody>
      </p:sp>
      <p:sp>
        <p:nvSpPr>
          <p:cNvPr id="5" name="Shape 3"/>
          <p:cNvSpPr/>
          <p:nvPr/>
        </p:nvSpPr>
        <p:spPr>
          <a:xfrm>
            <a:off x="66294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662940" y="1554480"/>
            <a:ext cx="1783080" cy="91440"/>
          </a:xfrm>
          <a:prstGeom prst="rect">
            <a:avLst/>
          </a:prstGeom>
          <a:solidFill>
            <a:srgbClr val="0B1F3A"/>
          </a:solidFill>
          <a:ln w="12700">
            <a:solidFill>
              <a:srgbClr val="0B1F3A"/>
            </a:solidFill>
            <a:prstDash val="solid"/>
          </a:ln>
        </p:spPr>
        <p:txBody>
          <a:bodyPr/>
          <a:lstStyle/>
          <a:p>
            <a:endParaRPr lang="en-US"/>
          </a:p>
        </p:txBody>
      </p:sp>
      <p:sp>
        <p:nvSpPr>
          <p:cNvPr id="7" name="Shape 5"/>
          <p:cNvSpPr/>
          <p:nvPr/>
        </p:nvSpPr>
        <p:spPr>
          <a:xfrm>
            <a:off x="1188720" y="1828800"/>
            <a:ext cx="731520" cy="731520"/>
          </a:xfrm>
          <a:prstGeom prst="ellipse">
            <a:avLst/>
          </a:prstGeom>
          <a:solidFill>
            <a:srgbClr val="0B1F3A"/>
          </a:solidFill>
          <a:ln w="12700">
            <a:solidFill>
              <a:srgbClr val="0B1F3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325880" y="1965960"/>
            <a:ext cx="457200" cy="457200"/>
          </a:xfrm>
          <a:prstGeom prst="rect">
            <a:avLst/>
          </a:prstGeom>
        </p:spPr>
      </p:pic>
      <p:sp>
        <p:nvSpPr>
          <p:cNvPr id="9" name="Text 6"/>
          <p:cNvSpPr/>
          <p:nvPr/>
        </p:nvSpPr>
        <p:spPr>
          <a:xfrm>
            <a:off x="66294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INSTRUCTIONS</a:t>
            </a:r>
            <a:endParaRPr lang="en-US" sz="1300" dirty="0"/>
          </a:p>
        </p:txBody>
      </p:sp>
      <p:sp>
        <p:nvSpPr>
          <p:cNvPr id="10" name="Text 7"/>
          <p:cNvSpPr/>
          <p:nvPr/>
        </p:nvSpPr>
        <p:spPr>
          <a:xfrm>
            <a:off x="66294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Always-on guardrails</a:t>
            </a:r>
            <a:endParaRPr lang="en-US" sz="1100" dirty="0"/>
          </a:p>
        </p:txBody>
      </p:sp>
      <p:pic>
        <p:nvPicPr>
          <p:cNvPr id="11" name="Image 1" descr="preencoded.png"/>
          <p:cNvPicPr>
            <a:picLocks noChangeAspect="1"/>
          </p:cNvPicPr>
          <p:nvPr/>
        </p:nvPicPr>
        <p:blipFill>
          <a:blip r:embed="rId4"/>
          <a:stretch>
            <a:fillRect/>
          </a:stretch>
        </p:blipFill>
        <p:spPr>
          <a:xfrm>
            <a:off x="2500884" y="2423160"/>
            <a:ext cx="164592" cy="164592"/>
          </a:xfrm>
          <a:prstGeom prst="rect">
            <a:avLst/>
          </a:prstGeom>
        </p:spPr>
      </p:pic>
      <p:sp>
        <p:nvSpPr>
          <p:cNvPr id="12" name="Shape 8"/>
          <p:cNvSpPr/>
          <p:nvPr/>
        </p:nvSpPr>
        <p:spPr>
          <a:xfrm>
            <a:off x="267462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9"/>
          <p:cNvSpPr/>
          <p:nvPr/>
        </p:nvSpPr>
        <p:spPr>
          <a:xfrm>
            <a:off x="2674620" y="1554480"/>
            <a:ext cx="1783080" cy="91440"/>
          </a:xfrm>
          <a:prstGeom prst="rect">
            <a:avLst/>
          </a:prstGeom>
          <a:solidFill>
            <a:srgbClr val="4F9DE6"/>
          </a:solidFill>
          <a:ln w="12700">
            <a:solidFill>
              <a:srgbClr val="4F9DE6"/>
            </a:solidFill>
            <a:prstDash val="solid"/>
          </a:ln>
        </p:spPr>
        <p:txBody>
          <a:bodyPr/>
          <a:lstStyle/>
          <a:p>
            <a:endParaRPr lang="en-US"/>
          </a:p>
        </p:txBody>
      </p:sp>
      <p:sp>
        <p:nvSpPr>
          <p:cNvPr id="14" name="Shape 10"/>
          <p:cNvSpPr/>
          <p:nvPr/>
        </p:nvSpPr>
        <p:spPr>
          <a:xfrm>
            <a:off x="3200400" y="1828800"/>
            <a:ext cx="731520" cy="731520"/>
          </a:xfrm>
          <a:prstGeom prst="ellipse">
            <a:avLst/>
          </a:prstGeom>
          <a:solidFill>
            <a:srgbClr val="4F9DE6"/>
          </a:solidFill>
          <a:ln w="12700">
            <a:solidFill>
              <a:srgbClr val="4F9DE6"/>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3337560" y="1965960"/>
            <a:ext cx="457200" cy="457200"/>
          </a:xfrm>
          <a:prstGeom prst="rect">
            <a:avLst/>
          </a:prstGeom>
        </p:spPr>
      </p:pic>
      <p:sp>
        <p:nvSpPr>
          <p:cNvPr id="16" name="Text 11"/>
          <p:cNvSpPr/>
          <p:nvPr/>
        </p:nvSpPr>
        <p:spPr>
          <a:xfrm>
            <a:off x="267462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SKILLS</a:t>
            </a:r>
            <a:endParaRPr lang="en-US" sz="1300" dirty="0"/>
          </a:p>
        </p:txBody>
      </p:sp>
      <p:sp>
        <p:nvSpPr>
          <p:cNvPr id="17" name="Text 12"/>
          <p:cNvSpPr/>
          <p:nvPr/>
        </p:nvSpPr>
        <p:spPr>
          <a:xfrm>
            <a:off x="267462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Portable SOPs</a:t>
            </a:r>
            <a:endParaRPr lang="en-US" sz="1100" dirty="0"/>
          </a:p>
        </p:txBody>
      </p:sp>
      <p:pic>
        <p:nvPicPr>
          <p:cNvPr id="18" name="Image 3" descr="preencoded.png"/>
          <p:cNvPicPr>
            <a:picLocks noChangeAspect="1"/>
          </p:cNvPicPr>
          <p:nvPr/>
        </p:nvPicPr>
        <p:blipFill>
          <a:blip r:embed="rId4"/>
          <a:stretch>
            <a:fillRect/>
          </a:stretch>
        </p:blipFill>
        <p:spPr>
          <a:xfrm>
            <a:off x="4512564" y="2423160"/>
            <a:ext cx="164592" cy="164592"/>
          </a:xfrm>
          <a:prstGeom prst="rect">
            <a:avLst/>
          </a:prstGeom>
        </p:spPr>
      </p:pic>
      <p:sp>
        <p:nvSpPr>
          <p:cNvPr id="19" name="Shape 13"/>
          <p:cNvSpPr/>
          <p:nvPr/>
        </p:nvSpPr>
        <p:spPr>
          <a:xfrm>
            <a:off x="468630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4"/>
          <p:cNvSpPr/>
          <p:nvPr/>
        </p:nvSpPr>
        <p:spPr>
          <a:xfrm>
            <a:off x="4686300" y="1554480"/>
            <a:ext cx="1783080" cy="91440"/>
          </a:xfrm>
          <a:prstGeom prst="rect">
            <a:avLst/>
          </a:prstGeom>
          <a:solidFill>
            <a:srgbClr val="F78166"/>
          </a:solidFill>
          <a:ln w="12700">
            <a:solidFill>
              <a:srgbClr val="F78166"/>
            </a:solidFill>
            <a:prstDash val="solid"/>
          </a:ln>
        </p:spPr>
        <p:txBody>
          <a:bodyPr/>
          <a:lstStyle/>
          <a:p>
            <a:endParaRPr lang="en-US"/>
          </a:p>
        </p:txBody>
      </p:sp>
      <p:sp>
        <p:nvSpPr>
          <p:cNvPr id="21" name="Shape 15"/>
          <p:cNvSpPr/>
          <p:nvPr/>
        </p:nvSpPr>
        <p:spPr>
          <a:xfrm>
            <a:off x="5212080" y="1828800"/>
            <a:ext cx="731520" cy="731520"/>
          </a:xfrm>
          <a:prstGeom prst="ellipse">
            <a:avLst/>
          </a:prstGeom>
          <a:solidFill>
            <a:srgbClr val="F78166"/>
          </a:solidFill>
          <a:ln w="12700">
            <a:solidFill>
              <a:srgbClr val="F78166"/>
            </a:solidFill>
            <a:prstDash val="solid"/>
          </a:ln>
        </p:spPr>
        <p:txBody>
          <a:bodyPr/>
          <a:lstStyle/>
          <a:p>
            <a:endParaRPr lang="en-US"/>
          </a:p>
        </p:txBody>
      </p:sp>
      <p:pic>
        <p:nvPicPr>
          <p:cNvPr id="22" name="Image 4" descr="preencoded.png"/>
          <p:cNvPicPr>
            <a:picLocks noChangeAspect="1"/>
          </p:cNvPicPr>
          <p:nvPr/>
        </p:nvPicPr>
        <p:blipFill>
          <a:blip r:embed="rId6"/>
          <a:stretch>
            <a:fillRect/>
          </a:stretch>
        </p:blipFill>
        <p:spPr>
          <a:xfrm>
            <a:off x="5349240" y="1965960"/>
            <a:ext cx="457200" cy="457200"/>
          </a:xfrm>
          <a:prstGeom prst="rect">
            <a:avLst/>
          </a:prstGeom>
        </p:spPr>
      </p:pic>
      <p:sp>
        <p:nvSpPr>
          <p:cNvPr id="23" name="Text 16"/>
          <p:cNvSpPr/>
          <p:nvPr/>
        </p:nvSpPr>
        <p:spPr>
          <a:xfrm>
            <a:off x="468630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AGENTS</a:t>
            </a:r>
            <a:endParaRPr lang="en-US" sz="1300" dirty="0"/>
          </a:p>
        </p:txBody>
      </p:sp>
      <p:sp>
        <p:nvSpPr>
          <p:cNvPr id="24" name="Text 17"/>
          <p:cNvSpPr/>
          <p:nvPr/>
        </p:nvSpPr>
        <p:spPr>
          <a:xfrm>
            <a:off x="468630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Role-based specialists</a:t>
            </a:r>
            <a:endParaRPr lang="en-US" sz="1100" dirty="0"/>
          </a:p>
        </p:txBody>
      </p:sp>
      <p:pic>
        <p:nvPicPr>
          <p:cNvPr id="25" name="Image 5" descr="preencoded.png"/>
          <p:cNvPicPr>
            <a:picLocks noChangeAspect="1"/>
          </p:cNvPicPr>
          <p:nvPr/>
        </p:nvPicPr>
        <p:blipFill>
          <a:blip r:embed="rId4"/>
          <a:stretch>
            <a:fillRect/>
          </a:stretch>
        </p:blipFill>
        <p:spPr>
          <a:xfrm>
            <a:off x="6524244" y="2423160"/>
            <a:ext cx="164592" cy="164592"/>
          </a:xfrm>
          <a:prstGeom prst="rect">
            <a:avLst/>
          </a:prstGeom>
        </p:spPr>
      </p:pic>
      <p:sp>
        <p:nvSpPr>
          <p:cNvPr id="26" name="Shape 18"/>
          <p:cNvSpPr/>
          <p:nvPr/>
        </p:nvSpPr>
        <p:spPr>
          <a:xfrm>
            <a:off x="669798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7" name="Shape 19"/>
          <p:cNvSpPr/>
          <p:nvPr/>
        </p:nvSpPr>
        <p:spPr>
          <a:xfrm>
            <a:off x="6697980" y="1554480"/>
            <a:ext cx="1783080" cy="91440"/>
          </a:xfrm>
          <a:prstGeom prst="rect">
            <a:avLst/>
          </a:prstGeom>
          <a:solidFill>
            <a:srgbClr val="FFD166"/>
          </a:solidFill>
          <a:ln w="12700">
            <a:solidFill>
              <a:srgbClr val="FFD166"/>
            </a:solidFill>
            <a:prstDash val="solid"/>
          </a:ln>
        </p:spPr>
        <p:txBody>
          <a:bodyPr/>
          <a:lstStyle/>
          <a:p>
            <a:endParaRPr lang="en-US"/>
          </a:p>
        </p:txBody>
      </p:sp>
      <p:sp>
        <p:nvSpPr>
          <p:cNvPr id="28" name="Shape 20"/>
          <p:cNvSpPr/>
          <p:nvPr/>
        </p:nvSpPr>
        <p:spPr>
          <a:xfrm>
            <a:off x="7223760" y="1828800"/>
            <a:ext cx="731520" cy="731520"/>
          </a:xfrm>
          <a:prstGeom prst="ellipse">
            <a:avLst/>
          </a:prstGeom>
          <a:solidFill>
            <a:srgbClr val="FFD166"/>
          </a:solidFill>
          <a:ln w="12700">
            <a:solidFill>
              <a:srgbClr val="FFD166"/>
            </a:solidFill>
            <a:prstDash val="solid"/>
          </a:ln>
        </p:spPr>
        <p:txBody>
          <a:bodyPr/>
          <a:lstStyle/>
          <a:p>
            <a:endParaRPr lang="en-US"/>
          </a:p>
        </p:txBody>
      </p:sp>
      <p:pic>
        <p:nvPicPr>
          <p:cNvPr id="29" name="Image 6" descr="preencoded.png"/>
          <p:cNvPicPr>
            <a:picLocks noChangeAspect="1"/>
          </p:cNvPicPr>
          <p:nvPr/>
        </p:nvPicPr>
        <p:blipFill>
          <a:blip r:embed="rId7"/>
          <a:stretch>
            <a:fillRect/>
          </a:stretch>
        </p:blipFill>
        <p:spPr>
          <a:xfrm>
            <a:off x="7360920" y="1965960"/>
            <a:ext cx="457200" cy="457200"/>
          </a:xfrm>
          <a:prstGeom prst="rect">
            <a:avLst/>
          </a:prstGeom>
        </p:spPr>
      </p:pic>
      <p:sp>
        <p:nvSpPr>
          <p:cNvPr id="30" name="Text 21"/>
          <p:cNvSpPr/>
          <p:nvPr/>
        </p:nvSpPr>
        <p:spPr>
          <a:xfrm>
            <a:off x="669798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PROMPTS</a:t>
            </a:r>
            <a:endParaRPr lang="en-US" sz="1300" dirty="0"/>
          </a:p>
        </p:txBody>
      </p:sp>
      <p:sp>
        <p:nvSpPr>
          <p:cNvPr id="31" name="Text 22"/>
          <p:cNvSpPr/>
          <p:nvPr/>
        </p:nvSpPr>
        <p:spPr>
          <a:xfrm>
            <a:off x="669798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Lightweight macros</a:t>
            </a:r>
            <a:endParaRPr lang="en-US" sz="1100" dirty="0"/>
          </a:p>
        </p:txBody>
      </p:sp>
      <p:sp>
        <p:nvSpPr>
          <p:cNvPr id="32" name="Shape 23"/>
          <p:cNvSpPr/>
          <p:nvPr/>
        </p:nvSpPr>
        <p:spPr>
          <a:xfrm>
            <a:off x="548640" y="3931920"/>
            <a:ext cx="8046720" cy="685800"/>
          </a:xfrm>
          <a:prstGeom prst="rect">
            <a:avLst/>
          </a:prstGeom>
          <a:solidFill>
            <a:srgbClr val="0B1F3A"/>
          </a:solidFill>
          <a:ln w="12700">
            <a:solidFill>
              <a:srgbClr val="0B1F3A"/>
            </a:solidFill>
            <a:prstDash val="solid"/>
          </a:ln>
        </p:spPr>
        <p:txBody>
          <a:bodyPr/>
          <a:lstStyle/>
          <a:p>
            <a:endParaRPr lang="en-US"/>
          </a:p>
        </p:txBody>
      </p:sp>
      <p:sp>
        <p:nvSpPr>
          <p:cNvPr id="33" name="Shape 24"/>
          <p:cNvSpPr/>
          <p:nvPr/>
        </p:nvSpPr>
        <p:spPr>
          <a:xfrm>
            <a:off x="548640" y="3931920"/>
            <a:ext cx="91440" cy="685800"/>
          </a:xfrm>
          <a:prstGeom prst="rect">
            <a:avLst/>
          </a:prstGeom>
          <a:solidFill>
            <a:srgbClr val="F78166"/>
          </a:solidFill>
          <a:ln w="12700">
            <a:solidFill>
              <a:srgbClr val="F78166"/>
            </a:solidFill>
            <a:prstDash val="solid"/>
          </a:ln>
        </p:spPr>
        <p:txBody>
          <a:bodyPr/>
          <a:lstStyle/>
          <a:p>
            <a:endParaRPr lang="en-US"/>
          </a:p>
        </p:txBody>
      </p:sp>
      <p:sp>
        <p:nvSpPr>
          <p:cNvPr id="34" name="Text 25"/>
          <p:cNvSpPr/>
          <p:nvPr/>
        </p:nvSpPr>
        <p:spPr>
          <a:xfrm>
            <a:off x="822960" y="3931920"/>
            <a:ext cx="7680960" cy="68580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Pick the lowest-weight tool that does the job. </a:t>
            </a:r>
            <a:r>
              <a:rPr lang="en-US" sz="1600" b="1" i="1" dirty="0">
                <a:solidFill>
                  <a:srgbClr val="FFD166"/>
                </a:solidFill>
                <a:latin typeface="Calibri" pitchFamily="34" charset="0"/>
                <a:ea typeface="Calibri" pitchFamily="34" charset="-122"/>
                <a:cs typeface="Calibri" pitchFamily="34" charset="-120"/>
              </a:rPr>
              <a:t>Compose them. Version them. Ship them.</a:t>
            </a:r>
            <a:endParaRPr lang="en-US" sz="1600" dirty="0"/>
          </a:p>
        </p:txBody>
      </p:sp>
      <p:sp>
        <p:nvSpPr>
          <p:cNvPr id="35" name="Text 26"/>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36" name="Text 27"/>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PICK THE RIGHT TOOL</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When to use each .github/ component</a:t>
            </a:r>
            <a:endParaRPr lang="en-US" sz="3000" dirty="0"/>
          </a:p>
        </p:txBody>
      </p:sp>
      <p:sp>
        <p:nvSpPr>
          <p:cNvPr id="5" name="Shape 3"/>
          <p:cNvSpPr/>
          <p:nvPr/>
        </p:nvSpPr>
        <p:spPr>
          <a:xfrm>
            <a:off x="502920" y="1280160"/>
            <a:ext cx="1645920" cy="594360"/>
          </a:xfrm>
          <a:prstGeom prst="rect">
            <a:avLst/>
          </a:prstGeom>
          <a:solidFill>
            <a:srgbClr val="0F1729"/>
          </a:solidFill>
          <a:ln w="12700">
            <a:solidFill>
              <a:srgbClr val="0F1729"/>
            </a:solidFill>
            <a:prstDash val="solid"/>
          </a:ln>
        </p:spPr>
        <p:txBody>
          <a:bodyPr/>
          <a:lstStyle/>
          <a:p>
            <a:endParaRPr lang="en-US"/>
          </a:p>
        </p:txBody>
      </p:sp>
      <p:sp>
        <p:nvSpPr>
          <p:cNvPr id="6" name="Text 4"/>
          <p:cNvSpPr/>
          <p:nvPr/>
        </p:nvSpPr>
        <p:spPr>
          <a:xfrm>
            <a:off x="502920" y="1325880"/>
            <a:ext cx="164592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FEATURE</a:t>
            </a:r>
            <a:endParaRPr lang="en-US" sz="1200" dirty="0"/>
          </a:p>
        </p:txBody>
      </p:sp>
      <p:sp>
        <p:nvSpPr>
          <p:cNvPr id="7" name="Shape 5"/>
          <p:cNvSpPr/>
          <p:nvPr/>
        </p:nvSpPr>
        <p:spPr>
          <a:xfrm>
            <a:off x="2148840" y="1280160"/>
            <a:ext cx="1691640" cy="594360"/>
          </a:xfrm>
          <a:prstGeom prst="rect">
            <a:avLst/>
          </a:prstGeom>
          <a:solidFill>
            <a:srgbClr val="FFD166"/>
          </a:solidFill>
          <a:ln w="12700">
            <a:solidFill>
              <a:srgbClr val="FFD166"/>
            </a:solidFill>
            <a:prstDash val="solid"/>
          </a:ln>
        </p:spPr>
        <p:txBody>
          <a:bodyPr/>
          <a:lstStyle/>
          <a:p>
            <a:endParaRPr lang="en-US"/>
          </a:p>
        </p:txBody>
      </p:sp>
      <p:sp>
        <p:nvSpPr>
          <p:cNvPr id="8" name="Text 6"/>
          <p:cNvSpPr/>
          <p:nvPr/>
        </p:nvSpPr>
        <p:spPr>
          <a:xfrm>
            <a:off x="214884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PROMPTS</a:t>
            </a:r>
            <a:endParaRPr lang="en-US" sz="1200" dirty="0"/>
          </a:p>
        </p:txBody>
      </p:sp>
      <p:sp>
        <p:nvSpPr>
          <p:cNvPr id="9" name="Text 7"/>
          <p:cNvSpPr/>
          <p:nvPr/>
        </p:nvSpPr>
        <p:spPr>
          <a:xfrm>
            <a:off x="214884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*.prompt.md</a:t>
            </a:r>
            <a:endParaRPr lang="en-US" sz="1000" dirty="0"/>
          </a:p>
        </p:txBody>
      </p:sp>
      <p:sp>
        <p:nvSpPr>
          <p:cNvPr id="10" name="Shape 8"/>
          <p:cNvSpPr/>
          <p:nvPr/>
        </p:nvSpPr>
        <p:spPr>
          <a:xfrm>
            <a:off x="3840480" y="1280160"/>
            <a:ext cx="1691640" cy="594360"/>
          </a:xfrm>
          <a:prstGeom prst="rect">
            <a:avLst/>
          </a:prstGeom>
          <a:solidFill>
            <a:srgbClr val="4F9DE6"/>
          </a:solidFill>
          <a:ln w="12700">
            <a:solidFill>
              <a:srgbClr val="4F9DE6"/>
            </a:solidFill>
            <a:prstDash val="solid"/>
          </a:ln>
        </p:spPr>
        <p:txBody>
          <a:bodyPr/>
          <a:lstStyle/>
          <a:p>
            <a:endParaRPr lang="en-US"/>
          </a:p>
        </p:txBody>
      </p:sp>
      <p:sp>
        <p:nvSpPr>
          <p:cNvPr id="11" name="Text 9"/>
          <p:cNvSpPr/>
          <p:nvPr/>
        </p:nvSpPr>
        <p:spPr>
          <a:xfrm>
            <a:off x="384048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INSTRUCTIONS</a:t>
            </a:r>
            <a:endParaRPr lang="en-US" sz="1200" dirty="0"/>
          </a:p>
        </p:txBody>
      </p:sp>
      <p:sp>
        <p:nvSpPr>
          <p:cNvPr id="12" name="Text 10"/>
          <p:cNvSpPr/>
          <p:nvPr/>
        </p:nvSpPr>
        <p:spPr>
          <a:xfrm>
            <a:off x="384048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*.instructions.md</a:t>
            </a:r>
            <a:endParaRPr lang="en-US" sz="1000" dirty="0"/>
          </a:p>
        </p:txBody>
      </p:sp>
      <p:sp>
        <p:nvSpPr>
          <p:cNvPr id="13" name="Shape 11"/>
          <p:cNvSpPr/>
          <p:nvPr/>
        </p:nvSpPr>
        <p:spPr>
          <a:xfrm>
            <a:off x="5532120" y="1280160"/>
            <a:ext cx="1691640" cy="594360"/>
          </a:xfrm>
          <a:prstGeom prst="rect">
            <a:avLst/>
          </a:prstGeom>
          <a:solidFill>
            <a:srgbClr val="0B1F3A"/>
          </a:solidFill>
          <a:ln w="12700">
            <a:solidFill>
              <a:srgbClr val="0B1F3A"/>
            </a:solidFill>
            <a:prstDash val="solid"/>
          </a:ln>
        </p:spPr>
        <p:txBody>
          <a:bodyPr/>
          <a:lstStyle/>
          <a:p>
            <a:endParaRPr lang="en-US"/>
          </a:p>
        </p:txBody>
      </p:sp>
      <p:sp>
        <p:nvSpPr>
          <p:cNvPr id="14" name="Text 12"/>
          <p:cNvSpPr/>
          <p:nvPr/>
        </p:nvSpPr>
        <p:spPr>
          <a:xfrm>
            <a:off x="553212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SKILLS</a:t>
            </a:r>
            <a:endParaRPr lang="en-US" sz="1200" dirty="0"/>
          </a:p>
        </p:txBody>
      </p:sp>
      <p:sp>
        <p:nvSpPr>
          <p:cNvPr id="15" name="Text 13"/>
          <p:cNvSpPr/>
          <p:nvPr/>
        </p:nvSpPr>
        <p:spPr>
          <a:xfrm>
            <a:off x="553212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SKILL.md</a:t>
            </a:r>
            <a:endParaRPr lang="en-US" sz="1000" dirty="0"/>
          </a:p>
        </p:txBody>
      </p:sp>
      <p:sp>
        <p:nvSpPr>
          <p:cNvPr id="16" name="Shape 14"/>
          <p:cNvSpPr/>
          <p:nvPr/>
        </p:nvSpPr>
        <p:spPr>
          <a:xfrm>
            <a:off x="7223760" y="1280160"/>
            <a:ext cx="1691640" cy="594360"/>
          </a:xfrm>
          <a:prstGeom prst="rect">
            <a:avLst/>
          </a:prstGeom>
          <a:solidFill>
            <a:srgbClr val="F78166"/>
          </a:solidFill>
          <a:ln w="12700">
            <a:solidFill>
              <a:srgbClr val="F78166"/>
            </a:solidFill>
            <a:prstDash val="solid"/>
          </a:ln>
        </p:spPr>
        <p:txBody>
          <a:bodyPr/>
          <a:lstStyle/>
          <a:p>
            <a:endParaRPr lang="en-US"/>
          </a:p>
        </p:txBody>
      </p:sp>
      <p:sp>
        <p:nvSpPr>
          <p:cNvPr id="17" name="Text 15"/>
          <p:cNvSpPr/>
          <p:nvPr/>
        </p:nvSpPr>
        <p:spPr>
          <a:xfrm>
            <a:off x="722376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AGENTS</a:t>
            </a:r>
            <a:endParaRPr lang="en-US" sz="1200" dirty="0"/>
          </a:p>
        </p:txBody>
      </p:sp>
      <p:sp>
        <p:nvSpPr>
          <p:cNvPr id="18" name="Text 16"/>
          <p:cNvSpPr/>
          <p:nvPr/>
        </p:nvSpPr>
        <p:spPr>
          <a:xfrm>
            <a:off x="722376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*.agent.md</a:t>
            </a:r>
            <a:endParaRPr lang="en-US" sz="1000" dirty="0"/>
          </a:p>
        </p:txBody>
      </p:sp>
      <p:sp>
        <p:nvSpPr>
          <p:cNvPr id="19" name="Shape 17"/>
          <p:cNvSpPr/>
          <p:nvPr/>
        </p:nvSpPr>
        <p:spPr>
          <a:xfrm>
            <a:off x="502920" y="1874520"/>
            <a:ext cx="1645920" cy="402336"/>
          </a:xfrm>
          <a:prstGeom prst="rect">
            <a:avLst/>
          </a:prstGeom>
          <a:solidFill>
            <a:srgbClr val="FFFFFF"/>
          </a:solidFill>
          <a:ln w="12700">
            <a:solidFill>
              <a:srgbClr val="E2E8F0"/>
            </a:solidFill>
            <a:prstDash val="solid"/>
          </a:ln>
        </p:spPr>
        <p:txBody>
          <a:bodyPr/>
          <a:lstStyle/>
          <a:p>
            <a:endParaRPr lang="en-US"/>
          </a:p>
        </p:txBody>
      </p:sp>
      <p:sp>
        <p:nvSpPr>
          <p:cNvPr id="20" name="Shape 18"/>
          <p:cNvSpPr/>
          <p:nvPr/>
        </p:nvSpPr>
        <p:spPr>
          <a:xfrm>
            <a:off x="214884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1" name="Shape 19"/>
          <p:cNvSpPr/>
          <p:nvPr/>
        </p:nvSpPr>
        <p:spPr>
          <a:xfrm>
            <a:off x="384048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2" name="Shape 20"/>
          <p:cNvSpPr/>
          <p:nvPr/>
        </p:nvSpPr>
        <p:spPr>
          <a:xfrm>
            <a:off x="553212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3" name="Shape 21"/>
          <p:cNvSpPr/>
          <p:nvPr/>
        </p:nvSpPr>
        <p:spPr>
          <a:xfrm>
            <a:off x="722376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4" name="Text 22"/>
          <p:cNvSpPr/>
          <p:nvPr/>
        </p:nvSpPr>
        <p:spPr>
          <a:xfrm>
            <a:off x="685800" y="1874520"/>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Scope</a:t>
            </a:r>
            <a:endParaRPr lang="en-US" sz="1200" dirty="0"/>
          </a:p>
        </p:txBody>
      </p:sp>
      <p:sp>
        <p:nvSpPr>
          <p:cNvPr id="25" name="Text 23"/>
          <p:cNvSpPr/>
          <p:nvPr/>
        </p:nvSpPr>
        <p:spPr>
          <a:xfrm>
            <a:off x="214884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One-off</a:t>
            </a:r>
            <a:endParaRPr lang="en-US" sz="1200" dirty="0"/>
          </a:p>
        </p:txBody>
      </p:sp>
      <p:sp>
        <p:nvSpPr>
          <p:cNvPr id="26" name="Text 24"/>
          <p:cNvSpPr/>
          <p:nvPr/>
        </p:nvSpPr>
        <p:spPr>
          <a:xfrm>
            <a:off x="384048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Always-on</a:t>
            </a:r>
            <a:endParaRPr lang="en-US" sz="1200" dirty="0"/>
          </a:p>
        </p:txBody>
      </p:sp>
      <p:sp>
        <p:nvSpPr>
          <p:cNvPr id="27" name="Text 25"/>
          <p:cNvSpPr/>
          <p:nvPr/>
        </p:nvSpPr>
        <p:spPr>
          <a:xfrm>
            <a:off x="553212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On-demand</a:t>
            </a:r>
            <a:endParaRPr lang="en-US" sz="1200" dirty="0"/>
          </a:p>
        </p:txBody>
      </p:sp>
      <p:sp>
        <p:nvSpPr>
          <p:cNvPr id="28" name="Text 26"/>
          <p:cNvSpPr/>
          <p:nvPr/>
        </p:nvSpPr>
        <p:spPr>
          <a:xfrm>
            <a:off x="722376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On-demand</a:t>
            </a:r>
            <a:endParaRPr lang="en-US" sz="1200" dirty="0"/>
          </a:p>
        </p:txBody>
      </p:sp>
      <p:sp>
        <p:nvSpPr>
          <p:cNvPr id="29" name="Shape 27"/>
          <p:cNvSpPr/>
          <p:nvPr/>
        </p:nvSpPr>
        <p:spPr>
          <a:xfrm>
            <a:off x="502920" y="2276856"/>
            <a:ext cx="1645920" cy="402336"/>
          </a:xfrm>
          <a:prstGeom prst="rect">
            <a:avLst/>
          </a:prstGeom>
          <a:solidFill>
            <a:srgbClr val="F5F7FA"/>
          </a:solidFill>
          <a:ln w="12700">
            <a:solidFill>
              <a:srgbClr val="E2E8F0"/>
            </a:solidFill>
            <a:prstDash val="solid"/>
          </a:ln>
        </p:spPr>
        <p:txBody>
          <a:bodyPr/>
          <a:lstStyle/>
          <a:p>
            <a:endParaRPr lang="en-US"/>
          </a:p>
        </p:txBody>
      </p:sp>
      <p:sp>
        <p:nvSpPr>
          <p:cNvPr id="30" name="Shape 28"/>
          <p:cNvSpPr/>
          <p:nvPr/>
        </p:nvSpPr>
        <p:spPr>
          <a:xfrm>
            <a:off x="214884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1" name="Shape 29"/>
          <p:cNvSpPr/>
          <p:nvPr/>
        </p:nvSpPr>
        <p:spPr>
          <a:xfrm>
            <a:off x="384048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2" name="Shape 30"/>
          <p:cNvSpPr/>
          <p:nvPr/>
        </p:nvSpPr>
        <p:spPr>
          <a:xfrm>
            <a:off x="553212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3" name="Shape 31"/>
          <p:cNvSpPr/>
          <p:nvPr/>
        </p:nvSpPr>
        <p:spPr>
          <a:xfrm>
            <a:off x="722376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4" name="Text 32"/>
          <p:cNvSpPr/>
          <p:nvPr/>
        </p:nvSpPr>
        <p:spPr>
          <a:xfrm>
            <a:off x="685800" y="2276856"/>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Invocation</a:t>
            </a:r>
            <a:endParaRPr lang="en-US" sz="1200" dirty="0"/>
          </a:p>
        </p:txBody>
      </p:sp>
      <p:sp>
        <p:nvSpPr>
          <p:cNvPr id="35" name="Text 33"/>
          <p:cNvSpPr/>
          <p:nvPr/>
        </p:nvSpPr>
        <p:spPr>
          <a:xfrm>
            <a:off x="2148840" y="2276856"/>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Chat</a:t>
            </a:r>
            <a:endParaRPr lang="en-US" sz="1200" dirty="0"/>
          </a:p>
        </p:txBody>
      </p:sp>
      <p:sp>
        <p:nvSpPr>
          <p:cNvPr id="36" name="Text 34"/>
          <p:cNvSpPr/>
          <p:nvPr/>
        </p:nvSpPr>
        <p:spPr>
          <a:xfrm>
            <a:off x="3840480" y="2276856"/>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Automatic</a:t>
            </a:r>
            <a:endParaRPr lang="en-US" sz="1200" dirty="0"/>
          </a:p>
        </p:txBody>
      </p:sp>
      <p:sp>
        <p:nvSpPr>
          <p:cNvPr id="37" name="Text 35"/>
          <p:cNvSpPr/>
          <p:nvPr/>
        </p:nvSpPr>
        <p:spPr>
          <a:xfrm>
            <a:off x="5532120" y="2276856"/>
            <a:ext cx="1691640" cy="402336"/>
          </a:xfrm>
          <a:prstGeom prst="rect">
            <a:avLst/>
          </a:prstGeom>
          <a:noFill/>
          <a:ln/>
        </p:spPr>
        <p:txBody>
          <a:bodyPr wrap="square" lIns="0" tIns="0" rIns="0" bIns="0" rtlCol="0" anchor="ctr"/>
          <a:lstStyle/>
          <a:p>
            <a:pPr marL="0" indent="0" algn="ctr">
              <a:buNone/>
            </a:pPr>
            <a:r>
              <a:rPr lang="en-US" sz="1300" b="1" dirty="0">
                <a:solidFill>
                  <a:srgbClr val="0B1F3A"/>
                </a:solidFill>
                <a:latin typeface="Consolas" pitchFamily="34" charset="0"/>
                <a:ea typeface="Consolas" pitchFamily="34" charset="-122"/>
                <a:cs typeface="Consolas" pitchFamily="34" charset="-120"/>
              </a:rPr>
              <a:t>#name</a:t>
            </a:r>
            <a:endParaRPr lang="en-US" sz="1300" dirty="0"/>
          </a:p>
        </p:txBody>
      </p:sp>
      <p:sp>
        <p:nvSpPr>
          <p:cNvPr id="38" name="Text 36"/>
          <p:cNvSpPr/>
          <p:nvPr/>
        </p:nvSpPr>
        <p:spPr>
          <a:xfrm>
            <a:off x="7223760" y="2276856"/>
            <a:ext cx="1691640" cy="402336"/>
          </a:xfrm>
          <a:prstGeom prst="rect">
            <a:avLst/>
          </a:prstGeom>
          <a:noFill/>
          <a:ln/>
        </p:spPr>
        <p:txBody>
          <a:bodyPr wrap="square" lIns="0" tIns="0" rIns="0" bIns="0" rtlCol="0" anchor="ctr"/>
          <a:lstStyle/>
          <a:p>
            <a:pPr marL="0" indent="0" algn="ctr">
              <a:buNone/>
            </a:pPr>
            <a:r>
              <a:rPr lang="en-US" sz="1300" b="1" dirty="0">
                <a:solidFill>
                  <a:srgbClr val="F78166"/>
                </a:solidFill>
                <a:latin typeface="Consolas" pitchFamily="34" charset="0"/>
                <a:ea typeface="Consolas" pitchFamily="34" charset="-122"/>
                <a:cs typeface="Consolas" pitchFamily="34" charset="-120"/>
              </a:rPr>
              <a:t>@name</a:t>
            </a:r>
            <a:endParaRPr lang="en-US" sz="1300" dirty="0"/>
          </a:p>
        </p:txBody>
      </p:sp>
      <p:sp>
        <p:nvSpPr>
          <p:cNvPr id="39" name="Shape 37"/>
          <p:cNvSpPr/>
          <p:nvPr/>
        </p:nvSpPr>
        <p:spPr>
          <a:xfrm>
            <a:off x="502920" y="2679192"/>
            <a:ext cx="1645920" cy="402336"/>
          </a:xfrm>
          <a:prstGeom prst="rect">
            <a:avLst/>
          </a:prstGeom>
          <a:solidFill>
            <a:srgbClr val="FFFFFF"/>
          </a:solidFill>
          <a:ln w="12700">
            <a:solidFill>
              <a:srgbClr val="E2E8F0"/>
            </a:solidFill>
            <a:prstDash val="solid"/>
          </a:ln>
        </p:spPr>
        <p:txBody>
          <a:bodyPr/>
          <a:lstStyle/>
          <a:p>
            <a:endParaRPr lang="en-US"/>
          </a:p>
        </p:txBody>
      </p:sp>
      <p:sp>
        <p:nvSpPr>
          <p:cNvPr id="40" name="Shape 38"/>
          <p:cNvSpPr/>
          <p:nvPr/>
        </p:nvSpPr>
        <p:spPr>
          <a:xfrm>
            <a:off x="214884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1" name="Shape 39"/>
          <p:cNvSpPr/>
          <p:nvPr/>
        </p:nvSpPr>
        <p:spPr>
          <a:xfrm>
            <a:off x="384048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2" name="Shape 40"/>
          <p:cNvSpPr/>
          <p:nvPr/>
        </p:nvSpPr>
        <p:spPr>
          <a:xfrm>
            <a:off x="553212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3" name="Shape 41"/>
          <p:cNvSpPr/>
          <p:nvPr/>
        </p:nvSpPr>
        <p:spPr>
          <a:xfrm>
            <a:off x="722376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4" name="Text 42"/>
          <p:cNvSpPr/>
          <p:nvPr/>
        </p:nvSpPr>
        <p:spPr>
          <a:xfrm>
            <a:off x="685800" y="2679192"/>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Tool Access</a:t>
            </a:r>
            <a:endParaRPr lang="en-US" sz="1200" dirty="0"/>
          </a:p>
        </p:txBody>
      </p:sp>
      <p:sp>
        <p:nvSpPr>
          <p:cNvPr id="45" name="Shape 43"/>
          <p:cNvSpPr/>
          <p:nvPr/>
        </p:nvSpPr>
        <p:spPr>
          <a:xfrm>
            <a:off x="2606040" y="2720340"/>
            <a:ext cx="777240" cy="320040"/>
          </a:xfrm>
          <a:prstGeom prst="rect">
            <a:avLst/>
          </a:prstGeom>
          <a:solidFill>
            <a:srgbClr val="E2E8F0"/>
          </a:solidFill>
          <a:ln w="12700">
            <a:solidFill>
              <a:srgbClr val="E2E8F0"/>
            </a:solidFill>
            <a:prstDash val="solid"/>
          </a:ln>
        </p:spPr>
        <p:txBody>
          <a:bodyPr/>
          <a:lstStyle/>
          <a:p>
            <a:endParaRPr lang="en-US"/>
          </a:p>
        </p:txBody>
      </p:sp>
      <p:sp>
        <p:nvSpPr>
          <p:cNvPr id="46" name="Text 44"/>
          <p:cNvSpPr/>
          <p:nvPr/>
        </p:nvSpPr>
        <p:spPr>
          <a:xfrm>
            <a:off x="260604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64748B"/>
                </a:solidFill>
                <a:latin typeface="Calibri" pitchFamily="34" charset="0"/>
                <a:ea typeface="Calibri" pitchFamily="34" charset="-122"/>
                <a:cs typeface="Calibri" pitchFamily="34" charset="-120"/>
              </a:rPr>
              <a:t>No</a:t>
            </a:r>
            <a:endParaRPr lang="en-US" sz="1100" dirty="0"/>
          </a:p>
        </p:txBody>
      </p:sp>
      <p:sp>
        <p:nvSpPr>
          <p:cNvPr id="47" name="Shape 45"/>
          <p:cNvSpPr/>
          <p:nvPr/>
        </p:nvSpPr>
        <p:spPr>
          <a:xfrm>
            <a:off x="4297680" y="2720340"/>
            <a:ext cx="777240" cy="320040"/>
          </a:xfrm>
          <a:prstGeom prst="rect">
            <a:avLst/>
          </a:prstGeom>
          <a:solidFill>
            <a:srgbClr val="E2E8F0"/>
          </a:solidFill>
          <a:ln w="12700">
            <a:solidFill>
              <a:srgbClr val="E2E8F0"/>
            </a:solidFill>
            <a:prstDash val="solid"/>
          </a:ln>
        </p:spPr>
        <p:txBody>
          <a:bodyPr/>
          <a:lstStyle/>
          <a:p>
            <a:endParaRPr lang="en-US"/>
          </a:p>
        </p:txBody>
      </p:sp>
      <p:sp>
        <p:nvSpPr>
          <p:cNvPr id="48" name="Text 46"/>
          <p:cNvSpPr/>
          <p:nvPr/>
        </p:nvSpPr>
        <p:spPr>
          <a:xfrm>
            <a:off x="429768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64748B"/>
                </a:solidFill>
                <a:latin typeface="Calibri" pitchFamily="34" charset="0"/>
                <a:ea typeface="Calibri" pitchFamily="34" charset="-122"/>
                <a:cs typeface="Calibri" pitchFamily="34" charset="-120"/>
              </a:rPr>
              <a:t>No</a:t>
            </a:r>
            <a:endParaRPr lang="en-US" sz="1100" dirty="0"/>
          </a:p>
        </p:txBody>
      </p:sp>
      <p:sp>
        <p:nvSpPr>
          <p:cNvPr id="49" name="Shape 47"/>
          <p:cNvSpPr/>
          <p:nvPr/>
        </p:nvSpPr>
        <p:spPr>
          <a:xfrm>
            <a:off x="5989320" y="2720340"/>
            <a:ext cx="777240" cy="320040"/>
          </a:xfrm>
          <a:prstGeom prst="rect">
            <a:avLst/>
          </a:prstGeom>
          <a:solidFill>
            <a:srgbClr val="E2E8F0"/>
          </a:solidFill>
          <a:ln w="12700">
            <a:solidFill>
              <a:srgbClr val="E2E8F0"/>
            </a:solidFill>
            <a:prstDash val="solid"/>
          </a:ln>
        </p:spPr>
        <p:txBody>
          <a:bodyPr/>
          <a:lstStyle/>
          <a:p>
            <a:endParaRPr lang="en-US"/>
          </a:p>
        </p:txBody>
      </p:sp>
      <p:sp>
        <p:nvSpPr>
          <p:cNvPr id="50" name="Text 48"/>
          <p:cNvSpPr/>
          <p:nvPr/>
        </p:nvSpPr>
        <p:spPr>
          <a:xfrm>
            <a:off x="598932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64748B"/>
                </a:solidFill>
                <a:latin typeface="Calibri" pitchFamily="34" charset="0"/>
                <a:ea typeface="Calibri" pitchFamily="34" charset="-122"/>
                <a:cs typeface="Calibri" pitchFamily="34" charset="-120"/>
              </a:rPr>
              <a:t>No</a:t>
            </a:r>
            <a:endParaRPr lang="en-US" sz="1100" dirty="0"/>
          </a:p>
        </p:txBody>
      </p:sp>
      <p:sp>
        <p:nvSpPr>
          <p:cNvPr id="51" name="Shape 49"/>
          <p:cNvSpPr/>
          <p:nvPr/>
        </p:nvSpPr>
        <p:spPr>
          <a:xfrm>
            <a:off x="7680960" y="2720340"/>
            <a:ext cx="777240" cy="320040"/>
          </a:xfrm>
          <a:prstGeom prst="rect">
            <a:avLst/>
          </a:prstGeom>
          <a:solidFill>
            <a:srgbClr val="22C55E"/>
          </a:solidFill>
          <a:ln w="12700">
            <a:solidFill>
              <a:srgbClr val="22C55E"/>
            </a:solidFill>
            <a:prstDash val="solid"/>
          </a:ln>
        </p:spPr>
        <p:txBody>
          <a:bodyPr/>
          <a:lstStyle/>
          <a:p>
            <a:endParaRPr lang="en-US"/>
          </a:p>
        </p:txBody>
      </p:sp>
      <p:sp>
        <p:nvSpPr>
          <p:cNvPr id="52" name="Text 50"/>
          <p:cNvSpPr/>
          <p:nvPr/>
        </p:nvSpPr>
        <p:spPr>
          <a:xfrm>
            <a:off x="768096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Yes</a:t>
            </a:r>
            <a:endParaRPr lang="en-US" sz="1100" dirty="0"/>
          </a:p>
        </p:txBody>
      </p:sp>
      <p:sp>
        <p:nvSpPr>
          <p:cNvPr id="53" name="Shape 51"/>
          <p:cNvSpPr/>
          <p:nvPr/>
        </p:nvSpPr>
        <p:spPr>
          <a:xfrm>
            <a:off x="502920" y="3081528"/>
            <a:ext cx="1645920" cy="402336"/>
          </a:xfrm>
          <a:prstGeom prst="rect">
            <a:avLst/>
          </a:prstGeom>
          <a:solidFill>
            <a:srgbClr val="F5F7FA"/>
          </a:solidFill>
          <a:ln w="12700">
            <a:solidFill>
              <a:srgbClr val="E2E8F0"/>
            </a:solidFill>
            <a:prstDash val="solid"/>
          </a:ln>
        </p:spPr>
        <p:txBody>
          <a:bodyPr/>
          <a:lstStyle/>
          <a:p>
            <a:endParaRPr lang="en-US"/>
          </a:p>
        </p:txBody>
      </p:sp>
      <p:sp>
        <p:nvSpPr>
          <p:cNvPr id="54" name="Shape 52"/>
          <p:cNvSpPr/>
          <p:nvPr/>
        </p:nvSpPr>
        <p:spPr>
          <a:xfrm>
            <a:off x="214884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5" name="Shape 53"/>
          <p:cNvSpPr/>
          <p:nvPr/>
        </p:nvSpPr>
        <p:spPr>
          <a:xfrm>
            <a:off x="384048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6" name="Shape 54"/>
          <p:cNvSpPr/>
          <p:nvPr/>
        </p:nvSpPr>
        <p:spPr>
          <a:xfrm>
            <a:off x="553212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7" name="Shape 55"/>
          <p:cNvSpPr/>
          <p:nvPr/>
        </p:nvSpPr>
        <p:spPr>
          <a:xfrm>
            <a:off x="722376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8" name="Text 56"/>
          <p:cNvSpPr/>
          <p:nvPr/>
        </p:nvSpPr>
        <p:spPr>
          <a:xfrm>
            <a:off x="685800" y="3081528"/>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Purpose</a:t>
            </a:r>
            <a:endParaRPr lang="en-US" sz="1200" dirty="0"/>
          </a:p>
        </p:txBody>
      </p:sp>
      <p:sp>
        <p:nvSpPr>
          <p:cNvPr id="59" name="Text 57"/>
          <p:cNvSpPr/>
          <p:nvPr/>
        </p:nvSpPr>
        <p:spPr>
          <a:xfrm>
            <a:off x="214884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Question</a:t>
            </a:r>
            <a:endParaRPr lang="en-US" sz="1200" dirty="0"/>
          </a:p>
        </p:txBody>
      </p:sp>
      <p:sp>
        <p:nvSpPr>
          <p:cNvPr id="60" name="Text 58"/>
          <p:cNvSpPr/>
          <p:nvPr/>
        </p:nvSpPr>
        <p:spPr>
          <a:xfrm>
            <a:off x="384048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Guardrails</a:t>
            </a:r>
            <a:endParaRPr lang="en-US" sz="1200" dirty="0"/>
          </a:p>
        </p:txBody>
      </p:sp>
      <p:sp>
        <p:nvSpPr>
          <p:cNvPr id="61" name="Text 59"/>
          <p:cNvSpPr/>
          <p:nvPr/>
        </p:nvSpPr>
        <p:spPr>
          <a:xfrm>
            <a:off x="553212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Knowledge</a:t>
            </a:r>
            <a:endParaRPr lang="en-US" sz="1200" dirty="0"/>
          </a:p>
        </p:txBody>
      </p:sp>
      <p:sp>
        <p:nvSpPr>
          <p:cNvPr id="62" name="Text 60"/>
          <p:cNvSpPr/>
          <p:nvPr/>
        </p:nvSpPr>
        <p:spPr>
          <a:xfrm>
            <a:off x="722376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Workflow</a:t>
            </a:r>
            <a:endParaRPr lang="en-US" sz="1200" dirty="0"/>
          </a:p>
        </p:txBody>
      </p:sp>
      <p:sp>
        <p:nvSpPr>
          <p:cNvPr id="63" name="Shape 61"/>
          <p:cNvSpPr/>
          <p:nvPr/>
        </p:nvSpPr>
        <p:spPr>
          <a:xfrm>
            <a:off x="502920" y="3483864"/>
            <a:ext cx="1645920" cy="402336"/>
          </a:xfrm>
          <a:prstGeom prst="rect">
            <a:avLst/>
          </a:prstGeom>
          <a:solidFill>
            <a:srgbClr val="FFFFFF"/>
          </a:solidFill>
          <a:ln w="12700">
            <a:solidFill>
              <a:srgbClr val="E2E8F0"/>
            </a:solidFill>
            <a:prstDash val="solid"/>
          </a:ln>
        </p:spPr>
        <p:txBody>
          <a:bodyPr/>
          <a:lstStyle/>
          <a:p>
            <a:endParaRPr lang="en-US"/>
          </a:p>
        </p:txBody>
      </p:sp>
      <p:sp>
        <p:nvSpPr>
          <p:cNvPr id="64" name="Shape 62"/>
          <p:cNvSpPr/>
          <p:nvPr/>
        </p:nvSpPr>
        <p:spPr>
          <a:xfrm>
            <a:off x="214884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5" name="Shape 63"/>
          <p:cNvSpPr/>
          <p:nvPr/>
        </p:nvSpPr>
        <p:spPr>
          <a:xfrm>
            <a:off x="384048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6" name="Shape 64"/>
          <p:cNvSpPr/>
          <p:nvPr/>
        </p:nvSpPr>
        <p:spPr>
          <a:xfrm>
            <a:off x="553212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7" name="Shape 65"/>
          <p:cNvSpPr/>
          <p:nvPr/>
        </p:nvSpPr>
        <p:spPr>
          <a:xfrm>
            <a:off x="722376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8" name="Text 66"/>
          <p:cNvSpPr/>
          <p:nvPr/>
        </p:nvSpPr>
        <p:spPr>
          <a:xfrm>
            <a:off x="685800" y="3483864"/>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Discovery</a:t>
            </a:r>
            <a:endParaRPr lang="en-US" sz="1200" dirty="0"/>
          </a:p>
        </p:txBody>
      </p:sp>
      <p:sp>
        <p:nvSpPr>
          <p:cNvPr id="69" name="Text 67"/>
          <p:cNvSpPr/>
          <p:nvPr/>
        </p:nvSpPr>
        <p:spPr>
          <a:xfrm>
            <a:off x="2148840" y="3483864"/>
            <a:ext cx="1691640" cy="40233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t>
            </a:r>
            <a:endParaRPr lang="en-US" sz="1200" dirty="0"/>
          </a:p>
        </p:txBody>
      </p:sp>
      <p:sp>
        <p:nvSpPr>
          <p:cNvPr id="70" name="Text 68"/>
          <p:cNvSpPr/>
          <p:nvPr/>
        </p:nvSpPr>
        <p:spPr>
          <a:xfrm>
            <a:off x="3840480" y="3483864"/>
            <a:ext cx="1691640" cy="40233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t>
            </a:r>
            <a:endParaRPr lang="en-US" sz="1200" dirty="0"/>
          </a:p>
        </p:txBody>
      </p:sp>
      <p:sp>
        <p:nvSpPr>
          <p:cNvPr id="71" name="Text 69"/>
          <p:cNvSpPr/>
          <p:nvPr/>
        </p:nvSpPr>
        <p:spPr>
          <a:xfrm>
            <a:off x="5532120" y="3483864"/>
            <a:ext cx="1691640" cy="402336"/>
          </a:xfrm>
          <a:prstGeom prst="rect">
            <a:avLst/>
          </a:prstGeom>
          <a:noFill/>
          <a:ln/>
        </p:spPr>
        <p:txBody>
          <a:bodyPr wrap="square" lIns="0" tIns="0" rIns="0" bIns="0" rtlCol="0" anchor="ctr"/>
          <a:lstStyle/>
          <a:p>
            <a:pPr marL="0" indent="0" algn="ctr">
              <a:buNone/>
            </a:pPr>
            <a:r>
              <a:rPr lang="en-US" sz="1300" b="1" dirty="0">
                <a:solidFill>
                  <a:srgbClr val="0B1F3A"/>
                </a:solidFill>
                <a:latin typeface="Consolas" pitchFamily="34" charset="0"/>
                <a:ea typeface="Consolas" pitchFamily="34" charset="-122"/>
                <a:cs typeface="Consolas" pitchFamily="34" charset="-120"/>
              </a:rPr>
              <a:t>/skills</a:t>
            </a:r>
            <a:endParaRPr lang="en-US" sz="1300" dirty="0"/>
          </a:p>
        </p:txBody>
      </p:sp>
      <p:sp>
        <p:nvSpPr>
          <p:cNvPr id="72" name="Text 70"/>
          <p:cNvSpPr/>
          <p:nvPr/>
        </p:nvSpPr>
        <p:spPr>
          <a:xfrm>
            <a:off x="7223760" y="3483864"/>
            <a:ext cx="1691640" cy="402336"/>
          </a:xfrm>
          <a:prstGeom prst="rect">
            <a:avLst/>
          </a:prstGeom>
          <a:noFill/>
          <a:ln/>
        </p:spPr>
        <p:txBody>
          <a:bodyPr wrap="square" lIns="0" tIns="0" rIns="0" bIns="0" rtlCol="0" anchor="ctr"/>
          <a:lstStyle/>
          <a:p>
            <a:pPr marL="0" indent="0" algn="ctr">
              <a:buNone/>
            </a:pPr>
            <a:r>
              <a:rPr lang="en-US" sz="1300" b="1" dirty="0">
                <a:solidFill>
                  <a:srgbClr val="F78166"/>
                </a:solidFill>
                <a:latin typeface="Consolas" pitchFamily="34" charset="0"/>
                <a:ea typeface="Consolas" pitchFamily="34" charset="-122"/>
                <a:cs typeface="Consolas" pitchFamily="34" charset="-120"/>
              </a:rPr>
              <a:t>/agents</a:t>
            </a:r>
            <a:endParaRPr lang="en-US" sz="1300" dirty="0"/>
          </a:p>
        </p:txBody>
      </p:sp>
      <p:sp>
        <p:nvSpPr>
          <p:cNvPr id="73" name="Shape 71"/>
          <p:cNvSpPr/>
          <p:nvPr/>
        </p:nvSpPr>
        <p:spPr>
          <a:xfrm>
            <a:off x="502920" y="3959352"/>
            <a:ext cx="8412480" cy="347472"/>
          </a:xfrm>
          <a:prstGeom prst="rect">
            <a:avLst/>
          </a:prstGeom>
          <a:solidFill>
            <a:srgbClr val="0B1F3A"/>
          </a:solidFill>
          <a:ln w="12700">
            <a:solidFill>
              <a:srgbClr val="0B1F3A"/>
            </a:solidFill>
            <a:prstDash val="solid"/>
          </a:ln>
        </p:spPr>
        <p:txBody>
          <a:bodyPr/>
          <a:lstStyle/>
          <a:p>
            <a:endParaRPr lang="en-US"/>
          </a:p>
        </p:txBody>
      </p:sp>
      <p:sp>
        <p:nvSpPr>
          <p:cNvPr id="74" name="Text 72"/>
          <p:cNvSpPr/>
          <p:nvPr/>
        </p:nvSpPr>
        <p:spPr>
          <a:xfrm>
            <a:off x="502920" y="3959352"/>
            <a:ext cx="8412480" cy="347472"/>
          </a:xfrm>
          <a:prstGeom prst="rect">
            <a:avLst/>
          </a:prstGeom>
          <a:noFill/>
          <a:ln/>
        </p:spPr>
        <p:txBody>
          <a:bodyPr wrap="square" lIns="0" tIns="0" rIns="0" bIns="0" rtlCol="0" anchor="ctr"/>
          <a:lstStyle/>
          <a:p>
            <a:pPr marL="0" indent="0" algn="ctr">
              <a:buNone/>
            </a:pPr>
            <a:r>
              <a:rPr lang="en-US" sz="1100" b="1" i="1" dirty="0">
                <a:solidFill>
                  <a:srgbClr val="FFD166"/>
                </a:solidFill>
                <a:latin typeface="Calibri" pitchFamily="34" charset="0"/>
                <a:ea typeface="Calibri" pitchFamily="34" charset="-122"/>
                <a:cs typeface="Calibri" pitchFamily="34" charset="-120"/>
              </a:rPr>
              <a:t>Instructions </a:t>
            </a:r>
            <a:r>
              <a:rPr lang="en-US" sz="1100" i="1" dirty="0">
                <a:solidFill>
                  <a:srgbClr val="FFFFFF"/>
                </a:solidFill>
                <a:latin typeface="Calibri" pitchFamily="34" charset="0"/>
                <a:ea typeface="Calibri" pitchFamily="34" charset="-122"/>
                <a:cs typeface="Calibri" pitchFamily="34" charset="-120"/>
              </a:rPr>
              <a:t>= guardrails   ·   </a:t>
            </a:r>
            <a:r>
              <a:rPr lang="en-US" sz="1100" b="1" i="1" dirty="0">
                <a:solidFill>
                  <a:srgbClr val="FFD166"/>
                </a:solidFill>
                <a:latin typeface="Calibri" pitchFamily="34" charset="0"/>
                <a:ea typeface="Calibri" pitchFamily="34" charset="-122"/>
                <a:cs typeface="Calibri" pitchFamily="34" charset="-120"/>
              </a:rPr>
              <a:t>Skills </a:t>
            </a:r>
            <a:r>
              <a:rPr lang="en-US" sz="1100" i="1" dirty="0">
                <a:solidFill>
                  <a:srgbClr val="FFFFFF"/>
                </a:solidFill>
                <a:latin typeface="Calibri" pitchFamily="34" charset="0"/>
                <a:ea typeface="Calibri" pitchFamily="34" charset="-122"/>
                <a:cs typeface="Calibri" pitchFamily="34" charset="-120"/>
              </a:rPr>
              <a:t>= knowledge   ·   </a:t>
            </a:r>
            <a:r>
              <a:rPr lang="en-US" sz="1100" b="1" i="1" dirty="0">
                <a:solidFill>
                  <a:srgbClr val="FFD166"/>
                </a:solidFill>
                <a:latin typeface="Calibri" pitchFamily="34" charset="0"/>
                <a:ea typeface="Calibri" pitchFamily="34" charset="-122"/>
                <a:cs typeface="Calibri" pitchFamily="34" charset="-120"/>
              </a:rPr>
              <a:t>Agents </a:t>
            </a:r>
            <a:r>
              <a:rPr lang="en-US" sz="1100" i="1" dirty="0">
                <a:solidFill>
                  <a:srgbClr val="FFFFFF"/>
                </a:solidFill>
                <a:latin typeface="Calibri" pitchFamily="34" charset="0"/>
                <a:ea typeface="Calibri" pitchFamily="34" charset="-122"/>
                <a:cs typeface="Calibri" pitchFamily="34" charset="-120"/>
              </a:rPr>
              <a:t>= specialists with tools</a:t>
            </a:r>
            <a:endParaRPr lang="en-US" sz="1100" dirty="0"/>
          </a:p>
        </p:txBody>
      </p:sp>
      <p:sp>
        <p:nvSpPr>
          <p:cNvPr id="75" name="Text 73"/>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76" name="Text 74"/>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PLUG IT IN</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Adding Azure: The Azure Skills Plugin</a:t>
            </a:r>
            <a:endParaRPr lang="en-US" sz="3000" dirty="0"/>
          </a:p>
        </p:txBody>
      </p:sp>
      <p:sp>
        <p:nvSpPr>
          <p:cNvPr id="5" name="Shape 3"/>
          <p:cNvSpPr/>
          <p:nvPr/>
        </p:nvSpPr>
        <p:spPr>
          <a:xfrm>
            <a:off x="480060" y="1417320"/>
            <a:ext cx="2606040" cy="2331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480060" y="1417320"/>
            <a:ext cx="2606040" cy="502920"/>
          </a:xfrm>
          <a:prstGeom prst="rect">
            <a:avLst/>
          </a:prstGeom>
          <a:solidFill>
            <a:srgbClr val="0B1F3A"/>
          </a:solidFill>
          <a:ln w="12700">
            <a:solidFill>
              <a:srgbClr val="0B1F3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62940" y="1536192"/>
            <a:ext cx="274320" cy="274320"/>
          </a:xfrm>
          <a:prstGeom prst="rect">
            <a:avLst/>
          </a:prstGeom>
        </p:spPr>
      </p:pic>
      <p:sp>
        <p:nvSpPr>
          <p:cNvPr id="8" name="Text 5"/>
          <p:cNvSpPr/>
          <p:nvPr/>
        </p:nvSpPr>
        <p:spPr>
          <a:xfrm>
            <a:off x="982980" y="1490472"/>
            <a:ext cx="196596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SKILLS</a:t>
            </a:r>
            <a:endParaRPr lang="en-US" sz="1200" dirty="0"/>
          </a:p>
        </p:txBody>
      </p:sp>
      <p:sp>
        <p:nvSpPr>
          <p:cNvPr id="9" name="Text 6"/>
          <p:cNvSpPr/>
          <p:nvPr/>
        </p:nvSpPr>
        <p:spPr>
          <a:xfrm>
            <a:off x="480060" y="2057400"/>
            <a:ext cx="2606040" cy="914400"/>
          </a:xfrm>
          <a:prstGeom prst="rect">
            <a:avLst/>
          </a:prstGeom>
          <a:noFill/>
          <a:ln/>
        </p:spPr>
        <p:txBody>
          <a:bodyPr wrap="square" lIns="0" tIns="0" rIns="0" bIns="0" rtlCol="0" anchor="ctr"/>
          <a:lstStyle/>
          <a:p>
            <a:pPr marL="0" indent="0" algn="ctr">
              <a:buNone/>
            </a:pPr>
            <a:r>
              <a:rPr lang="en-US" sz="5400" b="1" dirty="0">
                <a:solidFill>
                  <a:srgbClr val="0B1F3A"/>
                </a:solidFill>
                <a:latin typeface="Calibri" pitchFamily="34" charset="0"/>
                <a:ea typeface="Calibri" pitchFamily="34" charset="-122"/>
                <a:cs typeface="Calibri" pitchFamily="34" charset="-120"/>
              </a:rPr>
              <a:t>20</a:t>
            </a:r>
            <a:endParaRPr lang="en-US" sz="5400" dirty="0"/>
          </a:p>
        </p:txBody>
      </p:sp>
      <p:sp>
        <p:nvSpPr>
          <p:cNvPr id="10" name="Text 7"/>
          <p:cNvSpPr/>
          <p:nvPr/>
        </p:nvSpPr>
        <p:spPr>
          <a:xfrm>
            <a:off x="480060" y="2926080"/>
            <a:ext cx="2606040" cy="274320"/>
          </a:xfrm>
          <a:prstGeom prst="rect">
            <a:avLst/>
          </a:prstGeom>
          <a:noFill/>
          <a:ln/>
        </p:spPr>
        <p:txBody>
          <a:bodyPr wrap="square" lIns="0" tIns="0" rIns="0" bIns="0" rtlCol="0" anchor="ctr"/>
          <a:lstStyle/>
          <a:p>
            <a:pPr marL="0" indent="0" algn="ctr">
              <a:buNone/>
            </a:pPr>
            <a:r>
              <a:rPr lang="en-US" sz="1000" b="1" kern="0" spc="300" dirty="0">
                <a:solidFill>
                  <a:srgbClr val="64748B"/>
                </a:solidFill>
                <a:latin typeface="Calibri" pitchFamily="34" charset="0"/>
                <a:ea typeface="Calibri" pitchFamily="34" charset="-122"/>
                <a:cs typeface="Calibri" pitchFamily="34" charset="-120"/>
              </a:rPr>
              <a:t>CURATED WORKFLOWS</a:t>
            </a:r>
            <a:endParaRPr lang="en-US" sz="1000" dirty="0"/>
          </a:p>
        </p:txBody>
      </p:sp>
      <p:sp>
        <p:nvSpPr>
          <p:cNvPr id="11" name="Text 8"/>
          <p:cNvSpPr/>
          <p:nvPr/>
        </p:nvSpPr>
        <p:spPr>
          <a:xfrm>
            <a:off x="617220" y="3227832"/>
            <a:ext cx="233172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prepare · validate · deploy · diagnose · optimize</a:t>
            </a:r>
            <a:endParaRPr lang="en-US" sz="1100" dirty="0"/>
          </a:p>
        </p:txBody>
      </p:sp>
      <p:sp>
        <p:nvSpPr>
          <p:cNvPr id="12" name="Shape 9"/>
          <p:cNvSpPr/>
          <p:nvPr/>
        </p:nvSpPr>
        <p:spPr>
          <a:xfrm>
            <a:off x="3268980" y="1417320"/>
            <a:ext cx="2606040" cy="2331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0"/>
          <p:cNvSpPr/>
          <p:nvPr/>
        </p:nvSpPr>
        <p:spPr>
          <a:xfrm>
            <a:off x="3268980" y="1417320"/>
            <a:ext cx="2606040" cy="502920"/>
          </a:xfrm>
          <a:prstGeom prst="rect">
            <a:avLst/>
          </a:prstGeom>
          <a:solidFill>
            <a:srgbClr val="4F9DE6"/>
          </a:solidFill>
          <a:ln w="12700">
            <a:solidFill>
              <a:srgbClr val="4F9DE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51860" y="1536192"/>
            <a:ext cx="274320" cy="274320"/>
          </a:xfrm>
          <a:prstGeom prst="rect">
            <a:avLst/>
          </a:prstGeom>
        </p:spPr>
      </p:pic>
      <p:sp>
        <p:nvSpPr>
          <p:cNvPr id="15" name="Text 11"/>
          <p:cNvSpPr/>
          <p:nvPr/>
        </p:nvSpPr>
        <p:spPr>
          <a:xfrm>
            <a:off x="3771900" y="1490472"/>
            <a:ext cx="196596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AZURE MCP SERVER</a:t>
            </a:r>
            <a:endParaRPr lang="en-US" sz="1200" dirty="0"/>
          </a:p>
        </p:txBody>
      </p:sp>
      <p:sp>
        <p:nvSpPr>
          <p:cNvPr id="16" name="Text 12"/>
          <p:cNvSpPr/>
          <p:nvPr/>
        </p:nvSpPr>
        <p:spPr>
          <a:xfrm>
            <a:off x="3268980" y="2057400"/>
            <a:ext cx="2606040" cy="914400"/>
          </a:xfrm>
          <a:prstGeom prst="rect">
            <a:avLst/>
          </a:prstGeom>
          <a:noFill/>
          <a:ln/>
        </p:spPr>
        <p:txBody>
          <a:bodyPr wrap="square" lIns="0" tIns="0" rIns="0" bIns="0" rtlCol="0" anchor="ctr"/>
          <a:lstStyle/>
          <a:p>
            <a:pPr marL="0" indent="0" algn="ctr">
              <a:buNone/>
            </a:pPr>
            <a:r>
              <a:rPr lang="en-US" sz="5400" b="1" dirty="0">
                <a:solidFill>
                  <a:srgbClr val="4F9DE6"/>
                </a:solidFill>
                <a:latin typeface="Calibri" pitchFamily="34" charset="0"/>
                <a:ea typeface="Calibri" pitchFamily="34" charset="-122"/>
                <a:cs typeface="Calibri" pitchFamily="34" charset="-120"/>
              </a:rPr>
              <a:t>200+</a:t>
            </a:r>
            <a:endParaRPr lang="en-US" sz="5400" dirty="0"/>
          </a:p>
        </p:txBody>
      </p:sp>
      <p:sp>
        <p:nvSpPr>
          <p:cNvPr id="17" name="Text 13"/>
          <p:cNvSpPr/>
          <p:nvPr/>
        </p:nvSpPr>
        <p:spPr>
          <a:xfrm>
            <a:off x="3268980" y="2926080"/>
            <a:ext cx="2606040" cy="274320"/>
          </a:xfrm>
          <a:prstGeom prst="rect">
            <a:avLst/>
          </a:prstGeom>
          <a:noFill/>
          <a:ln/>
        </p:spPr>
        <p:txBody>
          <a:bodyPr wrap="square" lIns="0" tIns="0" rIns="0" bIns="0" rtlCol="0" anchor="ctr"/>
          <a:lstStyle/>
          <a:p>
            <a:pPr marL="0" indent="0" algn="ctr">
              <a:buNone/>
            </a:pPr>
            <a:r>
              <a:rPr lang="en-US" sz="1000" b="1" kern="0" spc="300" dirty="0">
                <a:solidFill>
                  <a:srgbClr val="64748B"/>
                </a:solidFill>
                <a:latin typeface="Calibri" pitchFamily="34" charset="0"/>
                <a:ea typeface="Calibri" pitchFamily="34" charset="-122"/>
                <a:cs typeface="Calibri" pitchFamily="34" charset="-120"/>
              </a:rPr>
              <a:t>STRUCTURED TOOLS</a:t>
            </a:r>
            <a:endParaRPr lang="en-US" sz="1000" dirty="0"/>
          </a:p>
        </p:txBody>
      </p:sp>
      <p:sp>
        <p:nvSpPr>
          <p:cNvPr id="18" name="Text 14"/>
          <p:cNvSpPr/>
          <p:nvPr/>
        </p:nvSpPr>
        <p:spPr>
          <a:xfrm>
            <a:off x="3406140" y="3227832"/>
            <a:ext cx="233172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Real operations across 40+ Azure services</a:t>
            </a:r>
            <a:endParaRPr lang="en-US" sz="1100" dirty="0"/>
          </a:p>
        </p:txBody>
      </p:sp>
      <p:sp>
        <p:nvSpPr>
          <p:cNvPr id="19" name="Shape 15"/>
          <p:cNvSpPr/>
          <p:nvPr/>
        </p:nvSpPr>
        <p:spPr>
          <a:xfrm>
            <a:off x="6057900" y="1417320"/>
            <a:ext cx="2606040" cy="2331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6"/>
          <p:cNvSpPr/>
          <p:nvPr/>
        </p:nvSpPr>
        <p:spPr>
          <a:xfrm>
            <a:off x="6057900" y="1417320"/>
            <a:ext cx="2606040" cy="502920"/>
          </a:xfrm>
          <a:prstGeom prst="rect">
            <a:avLst/>
          </a:prstGeom>
          <a:solidFill>
            <a:srgbClr val="F78166"/>
          </a:solidFill>
          <a:ln w="12700">
            <a:solidFill>
              <a:srgbClr val="F78166"/>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240780" y="1536192"/>
            <a:ext cx="274320" cy="274320"/>
          </a:xfrm>
          <a:prstGeom prst="rect">
            <a:avLst/>
          </a:prstGeom>
        </p:spPr>
      </p:pic>
      <p:sp>
        <p:nvSpPr>
          <p:cNvPr id="22" name="Text 17"/>
          <p:cNvSpPr/>
          <p:nvPr/>
        </p:nvSpPr>
        <p:spPr>
          <a:xfrm>
            <a:off x="6560820" y="1490472"/>
            <a:ext cx="196596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FOUNDRY MCP</a:t>
            </a:r>
            <a:endParaRPr lang="en-US" sz="1200" dirty="0"/>
          </a:p>
        </p:txBody>
      </p:sp>
      <p:sp>
        <p:nvSpPr>
          <p:cNvPr id="23" name="Text 18"/>
          <p:cNvSpPr/>
          <p:nvPr/>
        </p:nvSpPr>
        <p:spPr>
          <a:xfrm>
            <a:off x="6057900" y="2057400"/>
            <a:ext cx="2606040" cy="914400"/>
          </a:xfrm>
          <a:prstGeom prst="rect">
            <a:avLst/>
          </a:prstGeom>
          <a:noFill/>
          <a:ln/>
        </p:spPr>
        <p:txBody>
          <a:bodyPr wrap="square" lIns="0" tIns="0" rIns="0" bIns="0" rtlCol="0" anchor="ctr"/>
          <a:lstStyle/>
          <a:p>
            <a:pPr marL="0" indent="0" algn="ctr">
              <a:buNone/>
            </a:pPr>
            <a:r>
              <a:rPr lang="en-US" sz="5400" b="1" dirty="0">
                <a:solidFill>
                  <a:srgbClr val="F78166"/>
                </a:solidFill>
                <a:latin typeface="Calibri" pitchFamily="34" charset="0"/>
                <a:ea typeface="Calibri" pitchFamily="34" charset="-122"/>
                <a:cs typeface="Calibri" pitchFamily="34" charset="-120"/>
              </a:rPr>
              <a:t>AI</a:t>
            </a:r>
            <a:endParaRPr lang="en-US" sz="5400" dirty="0"/>
          </a:p>
        </p:txBody>
      </p:sp>
      <p:sp>
        <p:nvSpPr>
          <p:cNvPr id="24" name="Text 19"/>
          <p:cNvSpPr/>
          <p:nvPr/>
        </p:nvSpPr>
        <p:spPr>
          <a:xfrm>
            <a:off x="6057900" y="2926080"/>
            <a:ext cx="2606040" cy="274320"/>
          </a:xfrm>
          <a:prstGeom prst="rect">
            <a:avLst/>
          </a:prstGeom>
          <a:noFill/>
          <a:ln/>
        </p:spPr>
        <p:txBody>
          <a:bodyPr wrap="square" lIns="0" tIns="0" rIns="0" bIns="0" rtlCol="0" anchor="ctr"/>
          <a:lstStyle/>
          <a:p>
            <a:pPr marL="0" indent="0" algn="ctr">
              <a:buNone/>
            </a:pPr>
            <a:r>
              <a:rPr lang="en-US" sz="1000" b="1" kern="0" spc="300" dirty="0">
                <a:solidFill>
                  <a:srgbClr val="64748B"/>
                </a:solidFill>
                <a:latin typeface="Calibri" pitchFamily="34" charset="0"/>
                <a:ea typeface="Calibri" pitchFamily="34" charset="-122"/>
                <a:cs typeface="Calibri" pitchFamily="34" charset="-120"/>
              </a:rPr>
              <a:t>SPECIALIST LAYER</a:t>
            </a:r>
            <a:endParaRPr lang="en-US" sz="1000" dirty="0"/>
          </a:p>
        </p:txBody>
      </p:sp>
      <p:sp>
        <p:nvSpPr>
          <p:cNvPr id="25" name="Text 20"/>
          <p:cNvSpPr/>
          <p:nvPr/>
        </p:nvSpPr>
        <p:spPr>
          <a:xfrm>
            <a:off x="6195060" y="3227832"/>
            <a:ext cx="233172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Model catalog, deployments, agents, evals</a:t>
            </a:r>
            <a:endParaRPr lang="en-US" sz="1100" dirty="0"/>
          </a:p>
        </p:txBody>
      </p:sp>
      <p:sp>
        <p:nvSpPr>
          <p:cNvPr id="26" name="Shape 21"/>
          <p:cNvSpPr/>
          <p:nvPr/>
        </p:nvSpPr>
        <p:spPr>
          <a:xfrm>
            <a:off x="548640" y="3931920"/>
            <a:ext cx="8046720" cy="731520"/>
          </a:xfrm>
          <a:prstGeom prst="rect">
            <a:avLst/>
          </a:prstGeom>
          <a:solidFill>
            <a:srgbClr val="0F1729"/>
          </a:solidFill>
          <a:ln w="12700">
            <a:solidFill>
              <a:srgbClr val="0F1729"/>
            </a:solidFill>
            <a:prstDash val="solid"/>
          </a:ln>
        </p:spPr>
        <p:txBody>
          <a:bodyPr/>
          <a:lstStyle/>
          <a:p>
            <a:endParaRPr lang="en-US"/>
          </a:p>
        </p:txBody>
      </p:sp>
      <p:sp>
        <p:nvSpPr>
          <p:cNvPr id="27" name="Shape 22"/>
          <p:cNvSpPr/>
          <p:nvPr/>
        </p:nvSpPr>
        <p:spPr>
          <a:xfrm>
            <a:off x="548640" y="3931920"/>
            <a:ext cx="91440" cy="731520"/>
          </a:xfrm>
          <a:prstGeom prst="rect">
            <a:avLst/>
          </a:prstGeom>
          <a:solidFill>
            <a:srgbClr val="FFD166"/>
          </a:solidFill>
          <a:ln w="12700">
            <a:solidFill>
              <a:srgbClr val="FFD166"/>
            </a:solidFill>
            <a:prstDash val="solid"/>
          </a:ln>
        </p:spPr>
        <p:txBody>
          <a:bodyPr/>
          <a:lstStyle/>
          <a:p>
            <a:endParaRPr lang="en-US"/>
          </a:p>
        </p:txBody>
      </p:sp>
      <p:sp>
        <p:nvSpPr>
          <p:cNvPr id="28" name="Text 23"/>
          <p:cNvSpPr/>
          <p:nvPr/>
        </p:nvSpPr>
        <p:spPr>
          <a:xfrm>
            <a:off x="822960" y="3950208"/>
            <a:ext cx="4114800" cy="274320"/>
          </a:xfrm>
          <a:prstGeom prst="rect">
            <a:avLst/>
          </a:prstGeom>
          <a:noFill/>
          <a:ln/>
        </p:spPr>
        <p:txBody>
          <a:bodyPr wrap="square" lIns="0" tIns="0" rIns="0" bIns="0" rtlCol="0" anchor="ctr"/>
          <a:lstStyle/>
          <a:p>
            <a:pPr marL="0" indent="0">
              <a:buNone/>
            </a:pPr>
            <a:r>
              <a:rPr lang="en-US" sz="1300" b="1" kern="0" spc="300" dirty="0">
                <a:solidFill>
                  <a:srgbClr val="FFD166"/>
                </a:solidFill>
                <a:latin typeface="Calibri" pitchFamily="34" charset="0"/>
                <a:ea typeface="Calibri" pitchFamily="34" charset="-122"/>
                <a:cs typeface="Calibri" pitchFamily="34" charset="-120"/>
              </a:rPr>
              <a:t>One install. Three layers.</a:t>
            </a:r>
            <a:endParaRPr lang="en-US" sz="1300" dirty="0"/>
          </a:p>
        </p:txBody>
      </p:sp>
      <p:sp>
        <p:nvSpPr>
          <p:cNvPr id="29" name="Text 24"/>
          <p:cNvSpPr/>
          <p:nvPr/>
        </p:nvSpPr>
        <p:spPr>
          <a:xfrm>
            <a:off x="822960" y="4224528"/>
            <a:ext cx="7498080" cy="41148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.github/plugins/azure-skills/  — visible, auditable, team-owned</a:t>
            </a:r>
            <a:endParaRPr lang="en-US" sz="1200" dirty="0"/>
          </a:p>
        </p:txBody>
      </p:sp>
      <p:sp>
        <p:nvSpPr>
          <p:cNvPr id="30" name="Text 25"/>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31" name="Text 26"/>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SAME PROMPT</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Before &amp; After the Plugin</a:t>
            </a:r>
            <a:endParaRPr lang="en-US" sz="3000" dirty="0"/>
          </a:p>
        </p:txBody>
      </p:sp>
      <p:sp>
        <p:nvSpPr>
          <p:cNvPr id="5" name="Shape 3"/>
          <p:cNvSpPr/>
          <p:nvPr/>
        </p:nvSpPr>
        <p:spPr>
          <a:xfrm>
            <a:off x="548640" y="1417320"/>
            <a:ext cx="3840480" cy="3200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3840480" cy="457200"/>
          </a:xfrm>
          <a:prstGeom prst="rect">
            <a:avLst/>
          </a:prstGeom>
          <a:solidFill>
            <a:srgbClr val="64748B"/>
          </a:solidFill>
          <a:ln w="12700">
            <a:solidFill>
              <a:srgbClr val="64748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508760"/>
            <a:ext cx="274320" cy="274320"/>
          </a:xfrm>
          <a:prstGeom prst="rect">
            <a:avLst/>
          </a:prstGeom>
        </p:spPr>
      </p:pic>
      <p:sp>
        <p:nvSpPr>
          <p:cNvPr id="8" name="Text 5"/>
          <p:cNvSpPr/>
          <p:nvPr/>
        </p:nvSpPr>
        <p:spPr>
          <a:xfrm>
            <a:off x="1051560" y="1463040"/>
            <a:ext cx="320040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WITHOUT PLUGIN</a:t>
            </a:r>
            <a:endParaRPr lang="en-US" sz="1200" dirty="0"/>
          </a:p>
        </p:txBody>
      </p:sp>
      <p:sp>
        <p:nvSpPr>
          <p:cNvPr id="9" name="Text 6"/>
          <p:cNvSpPr/>
          <p:nvPr/>
        </p:nvSpPr>
        <p:spPr>
          <a:xfrm>
            <a:off x="822960" y="2057400"/>
            <a:ext cx="3383280" cy="2423160"/>
          </a:xfrm>
          <a:prstGeom prst="rect">
            <a:avLst/>
          </a:prstGeom>
          <a:noFill/>
          <a:ln/>
        </p:spPr>
        <p:txBody>
          <a:bodyPr wrap="square" lIns="0" tIns="0" rIns="0" bIns="0" rtlCol="0" anchor="ctr"/>
          <a:lstStyle/>
          <a:p>
            <a:pPr marL="0" indent="0">
              <a:spcAft>
                <a:spcPts val="400"/>
              </a:spcAft>
              <a:buNone/>
            </a:pPr>
            <a:r>
              <a:rPr lang="en-US" sz="1300" i="1" dirty="0">
                <a:solidFill>
                  <a:srgbClr val="64748B"/>
                </a:solidFill>
                <a:latin typeface="Calibri" pitchFamily="34" charset="0"/>
                <a:ea typeface="Calibri" pitchFamily="34" charset="-122"/>
                <a:cs typeface="Calibri" pitchFamily="34" charset="-120"/>
              </a:rPr>
              <a:t>Deploy my app to Azure</a:t>
            </a:r>
            <a:endParaRPr lang="en-US" sz="13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Generic tutorial text</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Hand-rolled az CLI commands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Advice — not artifacts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Nothing actually runs</a:t>
            </a:r>
            <a:endParaRPr lang="en-US" sz="1300" dirty="0"/>
          </a:p>
        </p:txBody>
      </p:sp>
      <p:sp>
        <p:nvSpPr>
          <p:cNvPr id="10" name="Shape 7"/>
          <p:cNvSpPr/>
          <p:nvPr/>
        </p:nvSpPr>
        <p:spPr>
          <a:xfrm>
            <a:off x="4754880" y="1417320"/>
            <a:ext cx="3840480" cy="3200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8"/>
          <p:cNvSpPr/>
          <p:nvPr/>
        </p:nvSpPr>
        <p:spPr>
          <a:xfrm>
            <a:off x="4754880" y="1417320"/>
            <a:ext cx="3840480" cy="457200"/>
          </a:xfrm>
          <a:prstGeom prst="rect">
            <a:avLst/>
          </a:prstGeom>
          <a:solidFill>
            <a:srgbClr val="F78166"/>
          </a:solidFill>
          <a:ln w="12700">
            <a:solidFill>
              <a:srgbClr val="F78166"/>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937760" y="1508760"/>
            <a:ext cx="274320" cy="274320"/>
          </a:xfrm>
          <a:prstGeom prst="rect">
            <a:avLst/>
          </a:prstGeom>
        </p:spPr>
      </p:pic>
      <p:sp>
        <p:nvSpPr>
          <p:cNvPr id="13" name="Text 9"/>
          <p:cNvSpPr/>
          <p:nvPr/>
        </p:nvSpPr>
        <p:spPr>
          <a:xfrm>
            <a:off x="5257800" y="1463040"/>
            <a:ext cx="320040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WITH AZURE SKILLS</a:t>
            </a:r>
            <a:endParaRPr lang="en-US" sz="1200" dirty="0"/>
          </a:p>
        </p:txBody>
      </p:sp>
      <p:sp>
        <p:nvSpPr>
          <p:cNvPr id="14" name="Text 10"/>
          <p:cNvSpPr/>
          <p:nvPr/>
        </p:nvSpPr>
        <p:spPr>
          <a:xfrm>
            <a:off x="5029200" y="2057400"/>
            <a:ext cx="3383280" cy="2423160"/>
          </a:xfrm>
          <a:prstGeom prst="rect">
            <a:avLst/>
          </a:prstGeom>
          <a:noFill/>
          <a:ln/>
        </p:spPr>
        <p:txBody>
          <a:bodyPr wrap="square" lIns="0" tIns="0" rIns="0" bIns="0" rtlCol="0" anchor="ctr"/>
          <a:lstStyle/>
          <a:p>
            <a:pPr marL="0" indent="0">
              <a:spcAft>
                <a:spcPts val="400"/>
              </a:spcAft>
              <a:buNone/>
            </a:pPr>
            <a:r>
              <a:rPr lang="en-US" sz="1300" i="1" dirty="0">
                <a:solidFill>
                  <a:srgbClr val="64748B"/>
                </a:solidFill>
                <a:latin typeface="Calibri" pitchFamily="34" charset="0"/>
                <a:ea typeface="Calibri" pitchFamily="34" charset="-122"/>
                <a:cs typeface="Calibri" pitchFamily="34" charset="-120"/>
              </a:rPr>
              <a:t>Deploy my app to Azure</a:t>
            </a:r>
            <a:endParaRPr lang="en-US" sz="13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Dockerfile + azure.yaml generated</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Bicep infra-as-code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Pre-flight validation runs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azd up deploys end-to-end</a:t>
            </a:r>
            <a:endParaRPr lang="en-US" sz="1300" dirty="0"/>
          </a:p>
        </p:txBody>
      </p:sp>
      <p:sp>
        <p:nvSpPr>
          <p:cNvPr id="15" name="Shape 11"/>
          <p:cNvSpPr/>
          <p:nvPr/>
        </p:nvSpPr>
        <p:spPr>
          <a:xfrm>
            <a:off x="4320540" y="2761488"/>
            <a:ext cx="502920" cy="502920"/>
          </a:xfrm>
          <a:prstGeom prst="ellipse">
            <a:avLst/>
          </a:prstGeom>
          <a:solidFill>
            <a:srgbClr val="0B1F3A"/>
          </a:solidFill>
          <a:ln w="12700">
            <a:solidFill>
              <a:srgbClr val="0B1F3A"/>
            </a:solidFill>
            <a:prstDash val="solid"/>
          </a:ln>
          <a:effectLst>
            <a:outerShdw blurRad="101600" dist="25400" dir="8100000" algn="bl" rotWithShape="0">
              <a:srgbClr val="000000">
                <a:alpha val="12000"/>
              </a:srgbClr>
            </a:outerShdw>
          </a:effectLst>
        </p:spPr>
        <p:txBody>
          <a:bodyPr/>
          <a:lstStyle/>
          <a:p>
            <a:endParaRPr lang="en-US"/>
          </a:p>
        </p:txBody>
      </p:sp>
      <p:sp>
        <p:nvSpPr>
          <p:cNvPr id="16" name="Text 12"/>
          <p:cNvSpPr/>
          <p:nvPr/>
        </p:nvSpPr>
        <p:spPr>
          <a:xfrm>
            <a:off x="4320540" y="2761488"/>
            <a:ext cx="502920" cy="502920"/>
          </a:xfrm>
          <a:prstGeom prst="rect">
            <a:avLst/>
          </a:prstGeom>
          <a:noFill/>
          <a:ln/>
        </p:spPr>
        <p:txBody>
          <a:bodyPr wrap="square" lIns="0" tIns="0" rIns="0" bIns="0" rtlCol="0" anchor="ctr"/>
          <a:lstStyle/>
          <a:p>
            <a:pPr marL="0" indent="0" algn="ctr">
              <a:buNone/>
            </a:pPr>
            <a:r>
              <a:rPr lang="en-US" sz="1400" b="1" kern="0" spc="200" dirty="0">
                <a:solidFill>
                  <a:srgbClr val="FFFFFF"/>
                </a:solidFill>
                <a:latin typeface="Calibri" pitchFamily="34" charset="0"/>
                <a:ea typeface="Calibri" pitchFamily="34" charset="-122"/>
                <a:cs typeface="Calibri" pitchFamily="34" charset="-120"/>
              </a:rPr>
              <a:t>VS</a:t>
            </a:r>
            <a:endParaRPr lang="en-US" sz="1400" dirty="0"/>
          </a:p>
        </p:txBody>
      </p:sp>
      <p:sp>
        <p:nvSpPr>
          <p:cNvPr id="17" name="Text 13"/>
          <p:cNvSpPr/>
          <p:nvPr/>
        </p:nvSpPr>
        <p:spPr>
          <a:xfrm>
            <a:off x="548640" y="4709160"/>
            <a:ext cx="8046720" cy="274320"/>
          </a:xfrm>
          <a:prstGeom prst="rect">
            <a:avLst/>
          </a:prstGeom>
          <a:noFill/>
          <a:ln/>
        </p:spPr>
        <p:txBody>
          <a:bodyPr wrap="square" lIns="0" tIns="0" rIns="0" bIns="0" rtlCol="0" anchor="ctr"/>
          <a:lstStyle/>
          <a:p>
            <a:pPr marL="0" indent="0" algn="ctr">
              <a:buNone/>
            </a:pPr>
            <a:r>
              <a:rPr lang="en-US" sz="1300" b="1" i="1" dirty="0">
                <a:solidFill>
                  <a:srgbClr val="0B1F3A"/>
                </a:solidFill>
                <a:latin typeface="Calibri" pitchFamily="34" charset="0"/>
                <a:ea typeface="Calibri" pitchFamily="34" charset="-122"/>
                <a:cs typeface="Calibri" pitchFamily="34" charset="-120"/>
              </a:rPr>
              <a:t>Not the model. The system.</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548640" y="1417320"/>
            <a:ext cx="914400" cy="914400"/>
          </a:xfrm>
          <a:prstGeom prst="rect">
            <a:avLst/>
          </a:prstGeom>
        </p:spPr>
      </p:pic>
      <p:sp>
        <p:nvSpPr>
          <p:cNvPr id="5" name="Text 2"/>
          <p:cNvSpPr/>
          <p:nvPr/>
        </p:nvSpPr>
        <p:spPr>
          <a:xfrm>
            <a:off x="1645920" y="1463040"/>
            <a:ext cx="8229600" cy="365760"/>
          </a:xfrm>
          <a:prstGeom prst="rect">
            <a:avLst/>
          </a:prstGeom>
          <a:noFill/>
          <a:ln/>
        </p:spPr>
        <p:txBody>
          <a:bodyPr wrap="square" lIns="0" tIns="0" rIns="0" bIns="0" rtlCol="0" anchor="ctr"/>
          <a:lstStyle/>
          <a:p>
            <a:pPr marL="0" indent="0">
              <a:buNone/>
            </a:pPr>
            <a:r>
              <a:rPr lang="en-US" sz="1300" b="1" kern="0" spc="600" dirty="0">
                <a:solidFill>
                  <a:srgbClr val="FFD166"/>
                </a:solidFill>
                <a:latin typeface="Calibri" pitchFamily="34" charset="0"/>
                <a:ea typeface="Calibri" pitchFamily="34" charset="-122"/>
                <a:cs typeface="Calibri" pitchFamily="34" charset="-120"/>
              </a:rPr>
              <a:t>PART TWO</a:t>
            </a:r>
            <a:endParaRPr lang="en-US" sz="1300" dirty="0"/>
          </a:p>
        </p:txBody>
      </p:sp>
      <p:sp>
        <p:nvSpPr>
          <p:cNvPr id="6" name="Text 3"/>
          <p:cNvSpPr/>
          <p:nvPr/>
        </p:nvSpPr>
        <p:spPr>
          <a:xfrm>
            <a:off x="1645920" y="1828800"/>
            <a:ext cx="8229600" cy="73152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Live Demo</a:t>
            </a:r>
            <a:endParaRPr lang="en-US" sz="4800" dirty="0"/>
          </a:p>
        </p:txBody>
      </p:sp>
      <p:sp>
        <p:nvSpPr>
          <p:cNvPr id="7" name="Text 4"/>
          <p:cNvSpPr/>
          <p:nvPr/>
        </p:nvSpPr>
        <p:spPr>
          <a:xfrm>
            <a:off x="548640" y="3017520"/>
            <a:ext cx="8229600" cy="411480"/>
          </a:xfrm>
          <a:prstGeom prst="rect">
            <a:avLst/>
          </a:prstGeom>
          <a:noFill/>
          <a:ln/>
        </p:spPr>
        <p:txBody>
          <a:bodyPr wrap="square" lIns="0" tIns="0" rIns="0" bIns="0" rtlCol="0" anchor="ctr"/>
          <a:lstStyle/>
          <a:p>
            <a:pPr marL="0" indent="0">
              <a:buNone/>
            </a:pPr>
            <a:r>
              <a:rPr lang="en-US" sz="1800" i="1" dirty="0">
                <a:solidFill>
                  <a:srgbClr val="4F9DE6"/>
                </a:solidFill>
                <a:latin typeface="Calibri" pitchFamily="34" charset="0"/>
                <a:ea typeface="Calibri" pitchFamily="34" charset="-122"/>
                <a:cs typeface="Calibri" pitchFamily="34" charset="-120"/>
              </a:rPr>
              <a:t>Task Library · .NET 10 + React + Postgres + Azure OpenAI</a:t>
            </a:r>
            <a:endParaRPr lang="en-US" sz="1800" dirty="0"/>
          </a:p>
        </p:txBody>
      </p:sp>
      <p:sp>
        <p:nvSpPr>
          <p:cNvPr id="8" name="Text 5"/>
          <p:cNvSpPr/>
          <p:nvPr/>
        </p:nvSpPr>
        <p:spPr>
          <a:xfrm>
            <a:off x="548640" y="3474720"/>
            <a:ext cx="8229600" cy="41148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From “blank slate” to deployed — narrated end to end.</a:t>
            </a:r>
            <a:endParaRPr lang="en-US" sz="1400" dirty="0"/>
          </a:p>
        </p:txBody>
      </p:sp>
      <p:sp>
        <p:nvSpPr>
          <p:cNvPr id="9" name="Shape 6"/>
          <p:cNvSpPr/>
          <p:nvPr/>
        </p:nvSpPr>
        <p:spPr>
          <a:xfrm>
            <a:off x="548640" y="4160520"/>
            <a:ext cx="1645920" cy="502920"/>
          </a:xfrm>
          <a:prstGeom prst="rect">
            <a:avLst/>
          </a:prstGeom>
          <a:solidFill>
            <a:srgbClr val="F78166"/>
          </a:solidFill>
          <a:ln w="12700">
            <a:solidFill>
              <a:srgbClr val="F78166"/>
            </a:solidFill>
            <a:prstDash val="solid"/>
          </a:ln>
        </p:spPr>
        <p:txBody>
          <a:bodyPr/>
          <a:lstStyle/>
          <a:p>
            <a:endParaRPr lang="en-US"/>
          </a:p>
        </p:txBody>
      </p:sp>
      <p:sp>
        <p:nvSpPr>
          <p:cNvPr id="10" name="Text 7"/>
          <p:cNvSpPr/>
          <p:nvPr/>
        </p:nvSpPr>
        <p:spPr>
          <a:xfrm>
            <a:off x="548640" y="4160520"/>
            <a:ext cx="1645920" cy="502920"/>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alibri" pitchFamily="34" charset="0"/>
                <a:ea typeface="Calibri" pitchFamily="34" charset="-122"/>
                <a:cs typeface="Calibri" pitchFamily="34" charset="-120"/>
              </a:rPr>
              <a:t>~12 MINUTES</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WHAT YOU'LL SEE</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Demo walkthrough</a:t>
            </a:r>
            <a:endParaRPr lang="en-US" sz="3000" dirty="0"/>
          </a:p>
        </p:txBody>
      </p:sp>
      <p:sp>
        <p:nvSpPr>
          <p:cNvPr id="5" name="Shape 3"/>
          <p:cNvSpPr/>
          <p:nvPr/>
        </p:nvSpPr>
        <p:spPr>
          <a:xfrm>
            <a:off x="548640" y="1371600"/>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731520" y="1536192"/>
            <a:ext cx="457200" cy="457200"/>
          </a:xfrm>
          <a:prstGeom prst="ellipse">
            <a:avLst/>
          </a:prstGeom>
          <a:solidFill>
            <a:srgbClr val="F78166"/>
          </a:solidFill>
          <a:ln w="12700">
            <a:solidFill>
              <a:srgbClr val="F78166"/>
            </a:solidFill>
            <a:prstDash val="solid"/>
          </a:ln>
        </p:spPr>
        <p:txBody>
          <a:bodyPr/>
          <a:lstStyle/>
          <a:p>
            <a:endParaRPr lang="en-US"/>
          </a:p>
        </p:txBody>
      </p:sp>
      <p:sp>
        <p:nvSpPr>
          <p:cNvPr id="7" name="Text 5"/>
          <p:cNvSpPr/>
          <p:nvPr/>
        </p:nvSpPr>
        <p:spPr>
          <a:xfrm>
            <a:off x="731520"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pic>
        <p:nvPicPr>
          <p:cNvPr id="8" name="Image 0" descr="preencoded.png"/>
          <p:cNvPicPr>
            <a:picLocks noChangeAspect="1"/>
          </p:cNvPicPr>
          <p:nvPr/>
        </p:nvPicPr>
        <p:blipFill>
          <a:blip r:embed="rId3"/>
          <a:stretch>
            <a:fillRect/>
          </a:stretch>
        </p:blipFill>
        <p:spPr>
          <a:xfrm>
            <a:off x="2606040" y="1572768"/>
            <a:ext cx="365760" cy="365760"/>
          </a:xfrm>
          <a:prstGeom prst="rect">
            <a:avLst/>
          </a:prstGeom>
        </p:spPr>
      </p:pic>
      <p:sp>
        <p:nvSpPr>
          <p:cNvPr id="9" name="Text 6"/>
          <p:cNvSpPr/>
          <p:nvPr/>
        </p:nvSpPr>
        <p:spPr>
          <a:xfrm>
            <a:off x="731520" y="2029968"/>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Set the scene</a:t>
            </a:r>
            <a:endParaRPr lang="en-US" sz="1200" dirty="0"/>
          </a:p>
        </p:txBody>
      </p:sp>
      <p:sp>
        <p:nvSpPr>
          <p:cNvPr id="10" name="Text 7"/>
          <p:cNvSpPr/>
          <p:nvPr/>
        </p:nvSpPr>
        <p:spPr>
          <a:xfrm>
            <a:off x="731520" y="2304288"/>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.github/ folder, instructions, agents, Azure Skills plugin</a:t>
            </a:r>
            <a:endParaRPr lang="en-US" sz="1000" dirty="0"/>
          </a:p>
        </p:txBody>
      </p:sp>
      <p:sp>
        <p:nvSpPr>
          <p:cNvPr id="11" name="Shape 8"/>
          <p:cNvSpPr/>
          <p:nvPr/>
        </p:nvSpPr>
        <p:spPr>
          <a:xfrm>
            <a:off x="3319272" y="1371600"/>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9"/>
          <p:cNvSpPr/>
          <p:nvPr/>
        </p:nvSpPr>
        <p:spPr>
          <a:xfrm>
            <a:off x="3502152" y="1536192"/>
            <a:ext cx="457200" cy="457200"/>
          </a:xfrm>
          <a:prstGeom prst="ellipse">
            <a:avLst/>
          </a:prstGeom>
          <a:solidFill>
            <a:srgbClr val="F78166"/>
          </a:solidFill>
          <a:ln w="12700">
            <a:solidFill>
              <a:srgbClr val="F78166"/>
            </a:solidFill>
            <a:prstDash val="solid"/>
          </a:ln>
        </p:spPr>
        <p:txBody>
          <a:bodyPr/>
          <a:lstStyle/>
          <a:p>
            <a:endParaRPr lang="en-US"/>
          </a:p>
        </p:txBody>
      </p:sp>
      <p:sp>
        <p:nvSpPr>
          <p:cNvPr id="13" name="Text 10"/>
          <p:cNvSpPr/>
          <p:nvPr/>
        </p:nvSpPr>
        <p:spPr>
          <a:xfrm>
            <a:off x="3502152"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pic>
        <p:nvPicPr>
          <p:cNvPr id="14" name="Image 1" descr="preencoded.png"/>
          <p:cNvPicPr>
            <a:picLocks noChangeAspect="1"/>
          </p:cNvPicPr>
          <p:nvPr/>
        </p:nvPicPr>
        <p:blipFill>
          <a:blip r:embed="rId4"/>
          <a:stretch>
            <a:fillRect/>
          </a:stretch>
        </p:blipFill>
        <p:spPr>
          <a:xfrm>
            <a:off x="5376672" y="1572768"/>
            <a:ext cx="365760" cy="365760"/>
          </a:xfrm>
          <a:prstGeom prst="rect">
            <a:avLst/>
          </a:prstGeom>
        </p:spPr>
      </p:pic>
      <p:sp>
        <p:nvSpPr>
          <p:cNvPr id="15" name="Text 11"/>
          <p:cNvSpPr/>
          <p:nvPr/>
        </p:nvSpPr>
        <p:spPr>
          <a:xfrm>
            <a:off x="3502152" y="2029968"/>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azure-prepare</a:t>
            </a:r>
            <a:endParaRPr lang="en-US" sz="1200" dirty="0"/>
          </a:p>
        </p:txBody>
      </p:sp>
      <p:sp>
        <p:nvSpPr>
          <p:cNvPr id="16" name="Text 12"/>
          <p:cNvSpPr/>
          <p:nvPr/>
        </p:nvSpPr>
        <p:spPr>
          <a:xfrm>
            <a:off x="3502152" y="2304288"/>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Scans the code, generates Dockerfile + azure.yaml + Bicep</a:t>
            </a:r>
            <a:endParaRPr lang="en-US" sz="1000" dirty="0"/>
          </a:p>
        </p:txBody>
      </p:sp>
      <p:sp>
        <p:nvSpPr>
          <p:cNvPr id="17" name="Shape 13"/>
          <p:cNvSpPr/>
          <p:nvPr/>
        </p:nvSpPr>
        <p:spPr>
          <a:xfrm>
            <a:off x="6089904" y="1371600"/>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4"/>
          <p:cNvSpPr/>
          <p:nvPr/>
        </p:nvSpPr>
        <p:spPr>
          <a:xfrm>
            <a:off x="6272784" y="1536192"/>
            <a:ext cx="457200" cy="457200"/>
          </a:xfrm>
          <a:prstGeom prst="ellipse">
            <a:avLst/>
          </a:prstGeom>
          <a:solidFill>
            <a:srgbClr val="F78166"/>
          </a:solidFill>
          <a:ln w="12700">
            <a:solidFill>
              <a:srgbClr val="F78166"/>
            </a:solidFill>
            <a:prstDash val="solid"/>
          </a:ln>
        </p:spPr>
        <p:txBody>
          <a:bodyPr/>
          <a:lstStyle/>
          <a:p>
            <a:endParaRPr lang="en-US"/>
          </a:p>
        </p:txBody>
      </p:sp>
      <p:sp>
        <p:nvSpPr>
          <p:cNvPr id="19" name="Text 15"/>
          <p:cNvSpPr/>
          <p:nvPr/>
        </p:nvSpPr>
        <p:spPr>
          <a:xfrm>
            <a:off x="6272784"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pic>
        <p:nvPicPr>
          <p:cNvPr id="20" name="Image 2" descr="preencoded.png"/>
          <p:cNvPicPr>
            <a:picLocks noChangeAspect="1"/>
          </p:cNvPicPr>
          <p:nvPr/>
        </p:nvPicPr>
        <p:blipFill>
          <a:blip r:embed="rId5"/>
          <a:stretch>
            <a:fillRect/>
          </a:stretch>
        </p:blipFill>
        <p:spPr>
          <a:xfrm>
            <a:off x="8147304" y="1572768"/>
            <a:ext cx="365760" cy="365760"/>
          </a:xfrm>
          <a:prstGeom prst="rect">
            <a:avLst/>
          </a:prstGeom>
        </p:spPr>
      </p:pic>
      <p:sp>
        <p:nvSpPr>
          <p:cNvPr id="21" name="Text 16"/>
          <p:cNvSpPr/>
          <p:nvPr/>
        </p:nvSpPr>
        <p:spPr>
          <a:xfrm>
            <a:off x="6272784" y="2029968"/>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azure-validate</a:t>
            </a:r>
            <a:endParaRPr lang="en-US" sz="1200" dirty="0"/>
          </a:p>
        </p:txBody>
      </p:sp>
      <p:sp>
        <p:nvSpPr>
          <p:cNvPr id="22" name="Text 17"/>
          <p:cNvSpPr/>
          <p:nvPr/>
        </p:nvSpPr>
        <p:spPr>
          <a:xfrm>
            <a:off x="6272784" y="2304288"/>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Quotas · RBAC · naming · region availability — pre-flight</a:t>
            </a:r>
            <a:endParaRPr lang="en-US" sz="1000" dirty="0"/>
          </a:p>
        </p:txBody>
      </p:sp>
      <p:sp>
        <p:nvSpPr>
          <p:cNvPr id="23" name="Shape 18"/>
          <p:cNvSpPr/>
          <p:nvPr/>
        </p:nvSpPr>
        <p:spPr>
          <a:xfrm>
            <a:off x="548640" y="2862072"/>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4" name="Shape 19"/>
          <p:cNvSpPr/>
          <p:nvPr/>
        </p:nvSpPr>
        <p:spPr>
          <a:xfrm>
            <a:off x="731520" y="3026664"/>
            <a:ext cx="457200" cy="457200"/>
          </a:xfrm>
          <a:prstGeom prst="ellipse">
            <a:avLst/>
          </a:prstGeom>
          <a:solidFill>
            <a:srgbClr val="F78166"/>
          </a:solidFill>
          <a:ln w="12700">
            <a:solidFill>
              <a:srgbClr val="F78166"/>
            </a:solidFill>
            <a:prstDash val="solid"/>
          </a:ln>
        </p:spPr>
        <p:txBody>
          <a:bodyPr/>
          <a:lstStyle/>
          <a:p>
            <a:endParaRPr lang="en-US"/>
          </a:p>
        </p:txBody>
      </p:sp>
      <p:sp>
        <p:nvSpPr>
          <p:cNvPr id="25" name="Text 20"/>
          <p:cNvSpPr/>
          <p:nvPr/>
        </p:nvSpPr>
        <p:spPr>
          <a:xfrm>
            <a:off x="731520" y="3026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pic>
        <p:nvPicPr>
          <p:cNvPr id="26" name="Image 3" descr="preencoded.png"/>
          <p:cNvPicPr>
            <a:picLocks noChangeAspect="1"/>
          </p:cNvPicPr>
          <p:nvPr/>
        </p:nvPicPr>
        <p:blipFill>
          <a:blip r:embed="rId6"/>
          <a:stretch>
            <a:fillRect/>
          </a:stretch>
        </p:blipFill>
        <p:spPr>
          <a:xfrm>
            <a:off x="2606040" y="3063240"/>
            <a:ext cx="365760" cy="365760"/>
          </a:xfrm>
          <a:prstGeom prst="rect">
            <a:avLst/>
          </a:prstGeom>
        </p:spPr>
      </p:pic>
      <p:sp>
        <p:nvSpPr>
          <p:cNvPr id="27" name="Text 21"/>
          <p:cNvSpPr/>
          <p:nvPr/>
        </p:nvSpPr>
        <p:spPr>
          <a:xfrm>
            <a:off x="731520" y="3520440"/>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azure-deploy</a:t>
            </a:r>
            <a:endParaRPr lang="en-US" sz="1200" dirty="0"/>
          </a:p>
        </p:txBody>
      </p:sp>
      <p:sp>
        <p:nvSpPr>
          <p:cNvPr id="28" name="Text 22"/>
          <p:cNvSpPr/>
          <p:nvPr/>
        </p:nvSpPr>
        <p:spPr>
          <a:xfrm>
            <a:off x="731520" y="3794760"/>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azd up — provisions infra, builds, deploys, wires up MI</a:t>
            </a:r>
            <a:endParaRPr lang="en-US" sz="1000" dirty="0"/>
          </a:p>
        </p:txBody>
      </p:sp>
      <p:sp>
        <p:nvSpPr>
          <p:cNvPr id="29" name="Shape 23"/>
          <p:cNvSpPr/>
          <p:nvPr/>
        </p:nvSpPr>
        <p:spPr>
          <a:xfrm>
            <a:off x="3319272" y="2862072"/>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0" name="Shape 24"/>
          <p:cNvSpPr/>
          <p:nvPr/>
        </p:nvSpPr>
        <p:spPr>
          <a:xfrm>
            <a:off x="3502152" y="3026664"/>
            <a:ext cx="457200" cy="457200"/>
          </a:xfrm>
          <a:prstGeom prst="ellipse">
            <a:avLst/>
          </a:prstGeom>
          <a:solidFill>
            <a:srgbClr val="F78166"/>
          </a:solidFill>
          <a:ln w="12700">
            <a:solidFill>
              <a:srgbClr val="F78166"/>
            </a:solidFill>
            <a:prstDash val="solid"/>
          </a:ln>
        </p:spPr>
        <p:txBody>
          <a:bodyPr/>
          <a:lstStyle/>
          <a:p>
            <a:endParaRPr lang="en-US"/>
          </a:p>
        </p:txBody>
      </p:sp>
      <p:sp>
        <p:nvSpPr>
          <p:cNvPr id="31" name="Text 25"/>
          <p:cNvSpPr/>
          <p:nvPr/>
        </p:nvSpPr>
        <p:spPr>
          <a:xfrm>
            <a:off x="3502152" y="3026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pic>
        <p:nvPicPr>
          <p:cNvPr id="32" name="Image 4" descr="preencoded.png"/>
          <p:cNvPicPr>
            <a:picLocks noChangeAspect="1"/>
          </p:cNvPicPr>
          <p:nvPr/>
        </p:nvPicPr>
        <p:blipFill>
          <a:blip r:embed="rId7"/>
          <a:stretch>
            <a:fillRect/>
          </a:stretch>
        </p:blipFill>
        <p:spPr>
          <a:xfrm>
            <a:off x="5376672" y="3063240"/>
            <a:ext cx="365760" cy="365760"/>
          </a:xfrm>
          <a:prstGeom prst="rect">
            <a:avLst/>
          </a:prstGeom>
        </p:spPr>
      </p:pic>
      <p:sp>
        <p:nvSpPr>
          <p:cNvPr id="33" name="Text 26"/>
          <p:cNvSpPr/>
          <p:nvPr/>
        </p:nvSpPr>
        <p:spPr>
          <a:xfrm>
            <a:off x="3502152" y="3520440"/>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Operate (@azure)</a:t>
            </a:r>
            <a:endParaRPr lang="en-US" sz="1200" dirty="0"/>
          </a:p>
        </p:txBody>
      </p:sp>
      <p:sp>
        <p:nvSpPr>
          <p:cNvPr id="34" name="Text 27"/>
          <p:cNvSpPr/>
          <p:nvPr/>
        </p:nvSpPr>
        <p:spPr>
          <a:xfrm>
            <a:off x="3502152" y="3794760"/>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Query live resources, App Insights, inspect function app</a:t>
            </a:r>
            <a:endParaRPr lang="en-US" sz="1000" dirty="0"/>
          </a:p>
        </p:txBody>
      </p:sp>
      <p:sp>
        <p:nvSpPr>
          <p:cNvPr id="35" name="Shape 28"/>
          <p:cNvSpPr/>
          <p:nvPr/>
        </p:nvSpPr>
        <p:spPr>
          <a:xfrm>
            <a:off x="6089904" y="2862072"/>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6" name="Shape 29"/>
          <p:cNvSpPr/>
          <p:nvPr/>
        </p:nvSpPr>
        <p:spPr>
          <a:xfrm>
            <a:off x="6272784" y="3026664"/>
            <a:ext cx="457200" cy="457200"/>
          </a:xfrm>
          <a:prstGeom prst="ellipse">
            <a:avLst/>
          </a:prstGeom>
          <a:solidFill>
            <a:srgbClr val="F78166"/>
          </a:solidFill>
          <a:ln w="12700">
            <a:solidFill>
              <a:srgbClr val="F78166"/>
            </a:solidFill>
            <a:prstDash val="solid"/>
          </a:ln>
        </p:spPr>
        <p:txBody>
          <a:bodyPr/>
          <a:lstStyle/>
          <a:p>
            <a:endParaRPr lang="en-US"/>
          </a:p>
        </p:txBody>
      </p:sp>
      <p:sp>
        <p:nvSpPr>
          <p:cNvPr id="37" name="Text 30"/>
          <p:cNvSpPr/>
          <p:nvPr/>
        </p:nvSpPr>
        <p:spPr>
          <a:xfrm>
            <a:off x="6272784" y="3026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pic>
        <p:nvPicPr>
          <p:cNvPr id="38" name="Image 5" descr="preencoded.png"/>
          <p:cNvPicPr>
            <a:picLocks noChangeAspect="1"/>
          </p:cNvPicPr>
          <p:nvPr/>
        </p:nvPicPr>
        <p:blipFill>
          <a:blip r:embed="rId8"/>
          <a:stretch>
            <a:fillRect/>
          </a:stretch>
        </p:blipFill>
        <p:spPr>
          <a:xfrm>
            <a:off x="8147304" y="3063240"/>
            <a:ext cx="365760" cy="365760"/>
          </a:xfrm>
          <a:prstGeom prst="rect">
            <a:avLst/>
          </a:prstGeom>
        </p:spPr>
      </p:pic>
      <p:sp>
        <p:nvSpPr>
          <p:cNvPr id="39" name="Text 31"/>
          <p:cNvSpPr/>
          <p:nvPr/>
        </p:nvSpPr>
        <p:spPr>
          <a:xfrm>
            <a:off x="6272784" y="3520440"/>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azure-diagnostics</a:t>
            </a:r>
            <a:endParaRPr lang="en-US" sz="1200" dirty="0"/>
          </a:p>
        </p:txBody>
      </p:sp>
      <p:sp>
        <p:nvSpPr>
          <p:cNvPr id="40" name="Text 32"/>
          <p:cNvSpPr/>
          <p:nvPr/>
        </p:nvSpPr>
        <p:spPr>
          <a:xfrm>
            <a:off x="6272784" y="3794760"/>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Troubleshoot with logs, metrics, and KQL</a:t>
            </a:r>
            <a:endParaRPr lang="en-US" sz="1000" dirty="0"/>
          </a:p>
        </p:txBody>
      </p:sp>
      <p:sp>
        <p:nvSpPr>
          <p:cNvPr id="41" name="Shape 33"/>
          <p:cNvSpPr/>
          <p:nvPr/>
        </p:nvSpPr>
        <p:spPr>
          <a:xfrm>
            <a:off x="548640" y="4407408"/>
            <a:ext cx="8046720" cy="365760"/>
          </a:xfrm>
          <a:prstGeom prst="rect">
            <a:avLst/>
          </a:prstGeom>
          <a:solidFill>
            <a:srgbClr val="0B1F3A"/>
          </a:solidFill>
          <a:ln w="12700">
            <a:solidFill>
              <a:srgbClr val="0B1F3A"/>
            </a:solidFill>
            <a:prstDash val="solid"/>
          </a:ln>
        </p:spPr>
        <p:txBody>
          <a:bodyPr/>
          <a:lstStyle/>
          <a:p>
            <a:endParaRPr lang="en-US"/>
          </a:p>
        </p:txBody>
      </p:sp>
      <p:sp>
        <p:nvSpPr>
          <p:cNvPr id="42" name="Text 34"/>
          <p:cNvSpPr/>
          <p:nvPr/>
        </p:nvSpPr>
        <p:spPr>
          <a:xfrm>
            <a:off x="731520" y="4407408"/>
            <a:ext cx="7680960" cy="365760"/>
          </a:xfrm>
          <a:prstGeom prst="rect">
            <a:avLst/>
          </a:prstGeom>
          <a:noFill/>
          <a:ln/>
        </p:spPr>
        <p:txBody>
          <a:bodyPr wrap="square" lIns="0" tIns="0" rIns="0" bIns="0" rtlCol="0" anchor="ctr"/>
          <a:lstStyle/>
          <a:p>
            <a:pPr marL="0" indent="0">
              <a:buNone/>
            </a:pPr>
            <a:r>
              <a:rPr lang="en-US" sz="1200" b="1" i="1" dirty="0">
                <a:solidFill>
                  <a:srgbClr val="FFFFFF"/>
                </a:solidFill>
                <a:latin typeface="Calibri" pitchFamily="34" charset="0"/>
                <a:ea typeface="Calibri" pitchFamily="34" charset="-122"/>
                <a:cs typeface="Calibri" pitchFamily="34" charset="-120"/>
              </a:rPr>
              <a:t>The skill read the codebase — you didn't have to tell it.</a:t>
            </a:r>
            <a:endParaRPr lang="en-US" sz="1200" dirty="0"/>
          </a:p>
        </p:txBody>
      </p:sp>
      <p:sp>
        <p:nvSpPr>
          <p:cNvPr id="43" name="Text 35"/>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44" name="Text 36"/>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THE CONTROL PLANE</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Governance: This isn't blind trust.</a:t>
            </a:r>
            <a:endParaRPr lang="en-US" sz="3000" dirty="0"/>
          </a:p>
        </p:txBody>
      </p:sp>
      <p:sp>
        <p:nvSpPr>
          <p:cNvPr id="5" name="Shape 3"/>
          <p:cNvSpPr/>
          <p:nvPr/>
        </p:nvSpPr>
        <p:spPr>
          <a:xfrm>
            <a:off x="548640" y="13716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548640" y="1371600"/>
            <a:ext cx="73152" cy="1417320"/>
          </a:xfrm>
          <a:prstGeom prst="rect">
            <a:avLst/>
          </a:prstGeom>
          <a:solidFill>
            <a:srgbClr val="4F9DE6"/>
          </a:solidFill>
          <a:ln w="12700">
            <a:solidFill>
              <a:srgbClr val="4F9DE6"/>
            </a:solidFill>
            <a:prstDash val="solid"/>
          </a:ln>
        </p:spPr>
        <p:txBody>
          <a:bodyPr/>
          <a:lstStyle/>
          <a:p>
            <a:endParaRPr lang="en-US"/>
          </a:p>
        </p:txBody>
      </p:sp>
      <p:sp>
        <p:nvSpPr>
          <p:cNvPr id="7" name="Shape 5"/>
          <p:cNvSpPr/>
          <p:nvPr/>
        </p:nvSpPr>
        <p:spPr>
          <a:xfrm>
            <a:off x="822960" y="16459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77824" y="1700784"/>
            <a:ext cx="384048" cy="384048"/>
          </a:xfrm>
          <a:prstGeom prst="rect">
            <a:avLst/>
          </a:prstGeom>
        </p:spPr>
      </p:pic>
      <p:sp>
        <p:nvSpPr>
          <p:cNvPr id="9" name="Text 6"/>
          <p:cNvSpPr/>
          <p:nvPr/>
        </p:nvSpPr>
        <p:spPr>
          <a:xfrm>
            <a:off x="1508760" y="16276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Plain text, version-controlled</a:t>
            </a:r>
            <a:endParaRPr lang="en-US" sz="1400" dirty="0"/>
          </a:p>
        </p:txBody>
      </p:sp>
      <p:sp>
        <p:nvSpPr>
          <p:cNvPr id="10" name="Text 7"/>
          <p:cNvSpPr/>
          <p:nvPr/>
        </p:nvSpPr>
        <p:spPr>
          <a:xfrm>
            <a:off x="1508760" y="20848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Skills are not a black box. Read them, review them, PR them.</a:t>
            </a:r>
            <a:endParaRPr lang="en-US" sz="1150" dirty="0"/>
          </a:p>
        </p:txBody>
      </p:sp>
      <p:sp>
        <p:nvSpPr>
          <p:cNvPr id="11" name="Shape 8"/>
          <p:cNvSpPr/>
          <p:nvPr/>
        </p:nvSpPr>
        <p:spPr>
          <a:xfrm>
            <a:off x="4754880" y="13716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9"/>
          <p:cNvSpPr/>
          <p:nvPr/>
        </p:nvSpPr>
        <p:spPr>
          <a:xfrm>
            <a:off x="4754880" y="1371600"/>
            <a:ext cx="73152" cy="1417320"/>
          </a:xfrm>
          <a:prstGeom prst="rect">
            <a:avLst/>
          </a:prstGeom>
          <a:solidFill>
            <a:srgbClr val="4F9DE6"/>
          </a:solidFill>
          <a:ln w="12700">
            <a:solidFill>
              <a:srgbClr val="4F9DE6"/>
            </a:solidFill>
            <a:prstDash val="solid"/>
          </a:ln>
        </p:spPr>
        <p:txBody>
          <a:bodyPr/>
          <a:lstStyle/>
          <a:p>
            <a:endParaRPr lang="en-US"/>
          </a:p>
        </p:txBody>
      </p:sp>
      <p:sp>
        <p:nvSpPr>
          <p:cNvPr id="13" name="Shape 10"/>
          <p:cNvSpPr/>
          <p:nvPr/>
        </p:nvSpPr>
        <p:spPr>
          <a:xfrm>
            <a:off x="5029200" y="16459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5084064" y="1700784"/>
            <a:ext cx="384048" cy="384048"/>
          </a:xfrm>
          <a:prstGeom prst="rect">
            <a:avLst/>
          </a:prstGeom>
        </p:spPr>
      </p:pic>
      <p:sp>
        <p:nvSpPr>
          <p:cNvPr id="15" name="Text 11"/>
          <p:cNvSpPr/>
          <p:nvPr/>
        </p:nvSpPr>
        <p:spPr>
          <a:xfrm>
            <a:off x="5715000" y="16276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Org-level policy controls</a:t>
            </a:r>
            <a:endParaRPr lang="en-US" sz="1400" dirty="0"/>
          </a:p>
        </p:txBody>
      </p:sp>
      <p:sp>
        <p:nvSpPr>
          <p:cNvPr id="16" name="Text 12"/>
          <p:cNvSpPr/>
          <p:nvPr/>
        </p:nvSpPr>
        <p:spPr>
          <a:xfrm>
            <a:off x="5715000" y="20848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Model policies · allowed agents · MCP server allow-list.</a:t>
            </a:r>
            <a:endParaRPr lang="en-US" sz="1150" dirty="0"/>
          </a:p>
        </p:txBody>
      </p:sp>
      <p:sp>
        <p:nvSpPr>
          <p:cNvPr id="17" name="Shape 13"/>
          <p:cNvSpPr/>
          <p:nvPr/>
        </p:nvSpPr>
        <p:spPr>
          <a:xfrm>
            <a:off x="548640" y="29718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4"/>
          <p:cNvSpPr/>
          <p:nvPr/>
        </p:nvSpPr>
        <p:spPr>
          <a:xfrm>
            <a:off x="548640" y="2971800"/>
            <a:ext cx="73152" cy="1417320"/>
          </a:xfrm>
          <a:prstGeom prst="rect">
            <a:avLst/>
          </a:prstGeom>
          <a:solidFill>
            <a:srgbClr val="4F9DE6"/>
          </a:solidFill>
          <a:ln w="12700">
            <a:solidFill>
              <a:srgbClr val="4F9DE6"/>
            </a:solidFill>
            <a:prstDash val="solid"/>
          </a:ln>
        </p:spPr>
        <p:txBody>
          <a:bodyPr/>
          <a:lstStyle/>
          <a:p>
            <a:endParaRPr lang="en-US"/>
          </a:p>
        </p:txBody>
      </p:sp>
      <p:sp>
        <p:nvSpPr>
          <p:cNvPr id="19" name="Shape 15"/>
          <p:cNvSpPr/>
          <p:nvPr/>
        </p:nvSpPr>
        <p:spPr>
          <a:xfrm>
            <a:off x="822960" y="32461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77824" y="3300984"/>
            <a:ext cx="384048" cy="384048"/>
          </a:xfrm>
          <a:prstGeom prst="rect">
            <a:avLst/>
          </a:prstGeom>
        </p:spPr>
      </p:pic>
      <p:sp>
        <p:nvSpPr>
          <p:cNvPr id="21" name="Text 16"/>
          <p:cNvSpPr/>
          <p:nvPr/>
        </p:nvSpPr>
        <p:spPr>
          <a:xfrm>
            <a:off x="1508760" y="32278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Audit trail of every action</a:t>
            </a:r>
            <a:endParaRPr lang="en-US" sz="1400" dirty="0"/>
          </a:p>
        </p:txBody>
      </p:sp>
      <p:sp>
        <p:nvSpPr>
          <p:cNvPr id="22" name="Text 17"/>
          <p:cNvSpPr/>
          <p:nvPr/>
        </p:nvSpPr>
        <p:spPr>
          <a:xfrm>
            <a:off x="1508760" y="36850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actor:Copilot in the GitHub audit log — every agent action.</a:t>
            </a:r>
            <a:endParaRPr lang="en-US" sz="1150" dirty="0"/>
          </a:p>
        </p:txBody>
      </p:sp>
      <p:sp>
        <p:nvSpPr>
          <p:cNvPr id="23" name="Shape 18"/>
          <p:cNvSpPr/>
          <p:nvPr/>
        </p:nvSpPr>
        <p:spPr>
          <a:xfrm>
            <a:off x="4754880" y="29718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4" name="Shape 19"/>
          <p:cNvSpPr/>
          <p:nvPr/>
        </p:nvSpPr>
        <p:spPr>
          <a:xfrm>
            <a:off x="4754880" y="2971800"/>
            <a:ext cx="73152" cy="1417320"/>
          </a:xfrm>
          <a:prstGeom prst="rect">
            <a:avLst/>
          </a:prstGeom>
          <a:solidFill>
            <a:srgbClr val="4F9DE6"/>
          </a:solidFill>
          <a:ln w="12700">
            <a:solidFill>
              <a:srgbClr val="4F9DE6"/>
            </a:solidFill>
            <a:prstDash val="solid"/>
          </a:ln>
        </p:spPr>
        <p:txBody>
          <a:bodyPr/>
          <a:lstStyle/>
          <a:p>
            <a:endParaRPr lang="en-US"/>
          </a:p>
        </p:txBody>
      </p:sp>
      <p:sp>
        <p:nvSpPr>
          <p:cNvPr id="25" name="Shape 20"/>
          <p:cNvSpPr/>
          <p:nvPr/>
        </p:nvSpPr>
        <p:spPr>
          <a:xfrm>
            <a:off x="5029200" y="32461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5084064" y="3300984"/>
            <a:ext cx="384048" cy="384048"/>
          </a:xfrm>
          <a:prstGeom prst="rect">
            <a:avLst/>
          </a:prstGeom>
        </p:spPr>
      </p:pic>
      <p:sp>
        <p:nvSpPr>
          <p:cNvPr id="27" name="Text 21"/>
          <p:cNvSpPr/>
          <p:nvPr/>
        </p:nvSpPr>
        <p:spPr>
          <a:xfrm>
            <a:off x="5715000" y="32278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Agent lifecycle</a:t>
            </a:r>
            <a:endParaRPr lang="en-US" sz="1400" dirty="0"/>
          </a:p>
        </p:txBody>
      </p:sp>
      <p:sp>
        <p:nvSpPr>
          <p:cNvPr id="28" name="Text 22"/>
          <p:cNvSpPr/>
          <p:nvPr/>
        </p:nvSpPr>
        <p:spPr>
          <a:xfrm>
            <a:off x="5715000" y="36850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Proposal → Review → Production → Deprecation.</a:t>
            </a:r>
            <a:endParaRPr lang="en-US" sz="1150" dirty="0"/>
          </a:p>
        </p:txBody>
      </p:sp>
      <p:sp>
        <p:nvSpPr>
          <p:cNvPr id="29" name="Shape 23"/>
          <p:cNvSpPr/>
          <p:nvPr/>
        </p:nvSpPr>
        <p:spPr>
          <a:xfrm>
            <a:off x="548640" y="4434840"/>
            <a:ext cx="8046720" cy="411480"/>
          </a:xfrm>
          <a:prstGeom prst="rect">
            <a:avLst/>
          </a:prstGeom>
          <a:solidFill>
            <a:srgbClr val="0F1729"/>
          </a:solidFill>
          <a:ln w="12700">
            <a:solidFill>
              <a:srgbClr val="0F1729"/>
            </a:solidFill>
            <a:prstDash val="solid"/>
          </a:ln>
        </p:spPr>
        <p:txBody>
          <a:bodyPr/>
          <a:lstStyle/>
          <a:p>
            <a:endParaRPr lang="en-US"/>
          </a:p>
        </p:txBody>
      </p:sp>
      <p:sp>
        <p:nvSpPr>
          <p:cNvPr id="30" name="Text 24"/>
          <p:cNvSpPr/>
          <p:nvPr/>
        </p:nvSpPr>
        <p:spPr>
          <a:xfrm>
            <a:off x="731520" y="4434840"/>
            <a:ext cx="7680960" cy="411480"/>
          </a:xfrm>
          <a:prstGeom prst="rect">
            <a:avLst/>
          </a:prstGeom>
          <a:noFill/>
          <a:ln/>
        </p:spPr>
        <p:txBody>
          <a:bodyPr wrap="square" lIns="0" tIns="0" rIns="0" bIns="0" rtlCol="0" anchor="ctr"/>
          <a:lstStyle/>
          <a:p>
            <a:pPr marL="0" indent="0">
              <a:buNone/>
            </a:pPr>
            <a:r>
              <a:rPr lang="en-US" sz="1200" i="1" dirty="0">
                <a:solidFill>
                  <a:srgbClr val="FFD166"/>
                </a:solidFill>
                <a:latin typeface="Calibri" pitchFamily="34" charset="0"/>
                <a:ea typeface="Calibri" pitchFamily="34" charset="-122"/>
                <a:cs typeface="Calibri" pitchFamily="34" charset="-120"/>
              </a:rPr>
              <a:t>Curated skills · trusted sources · tool approvals · least-privilege access.</a:t>
            </a:r>
            <a:endParaRPr lang="en-US" sz="1200" dirty="0"/>
          </a:p>
        </p:txBody>
      </p:sp>
      <p:sp>
        <p:nvSpPr>
          <p:cNvPr id="31" name="Text 25"/>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32" name="Text 26"/>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YOUR MOVE</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Three steps to get your team moving</a:t>
            </a:r>
            <a:endParaRPr lang="en-US" sz="3000" dirty="0"/>
          </a:p>
        </p:txBody>
      </p:sp>
      <p:sp>
        <p:nvSpPr>
          <p:cNvPr id="5" name="Shape 3"/>
          <p:cNvSpPr/>
          <p:nvPr/>
        </p:nvSpPr>
        <p:spPr>
          <a:xfrm>
            <a:off x="480060" y="1371600"/>
            <a:ext cx="2606040" cy="27432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Text 4"/>
          <p:cNvSpPr/>
          <p:nvPr/>
        </p:nvSpPr>
        <p:spPr>
          <a:xfrm>
            <a:off x="480060" y="1600200"/>
            <a:ext cx="2606040" cy="822960"/>
          </a:xfrm>
          <a:prstGeom prst="rect">
            <a:avLst/>
          </a:prstGeom>
          <a:noFill/>
          <a:ln/>
        </p:spPr>
        <p:txBody>
          <a:bodyPr wrap="square" lIns="0" tIns="0" rIns="0" bIns="0" rtlCol="0" anchor="ctr"/>
          <a:lstStyle/>
          <a:p>
            <a:pPr marL="0" indent="0" algn="ctr">
              <a:buNone/>
            </a:pPr>
            <a:r>
              <a:rPr lang="en-US" sz="6000" b="1" dirty="0">
                <a:solidFill>
                  <a:srgbClr val="F78166"/>
                </a:solidFill>
                <a:latin typeface="Calibri" pitchFamily="34" charset="0"/>
                <a:ea typeface="Calibri" pitchFamily="34" charset="-122"/>
                <a:cs typeface="Calibri" pitchFamily="34" charset="-120"/>
              </a:rPr>
              <a:t>01</a:t>
            </a:r>
            <a:endParaRPr lang="en-US" sz="6000" dirty="0"/>
          </a:p>
        </p:txBody>
      </p:sp>
      <p:pic>
        <p:nvPicPr>
          <p:cNvPr id="7" name="Image 0" descr="preencoded.png"/>
          <p:cNvPicPr>
            <a:picLocks noChangeAspect="1"/>
          </p:cNvPicPr>
          <p:nvPr/>
        </p:nvPicPr>
        <p:blipFill>
          <a:blip r:embed="rId3"/>
          <a:stretch>
            <a:fillRect/>
          </a:stretch>
        </p:blipFill>
        <p:spPr>
          <a:xfrm>
            <a:off x="1577340" y="2468880"/>
            <a:ext cx="411480" cy="411480"/>
          </a:xfrm>
          <a:prstGeom prst="rect">
            <a:avLst/>
          </a:prstGeom>
        </p:spPr>
      </p:pic>
      <p:sp>
        <p:nvSpPr>
          <p:cNvPr id="8" name="Text 5"/>
          <p:cNvSpPr/>
          <p:nvPr/>
        </p:nvSpPr>
        <p:spPr>
          <a:xfrm>
            <a:off x="662940" y="2926080"/>
            <a:ext cx="2240280" cy="36576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Add copilot-instructions.md</a:t>
            </a:r>
            <a:endParaRPr lang="en-US" sz="1500" dirty="0"/>
          </a:p>
        </p:txBody>
      </p:sp>
      <p:sp>
        <p:nvSpPr>
          <p:cNvPr id="9" name="Text 6"/>
          <p:cNvSpPr/>
          <p:nvPr/>
        </p:nvSpPr>
        <p:spPr>
          <a:xfrm>
            <a:off x="662940" y="3291840"/>
            <a:ext cx="2240280" cy="68580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Encode how your team writes, reviews, and ships code.</a:t>
            </a:r>
            <a:endParaRPr lang="en-US" sz="1050" dirty="0"/>
          </a:p>
        </p:txBody>
      </p:sp>
      <p:sp>
        <p:nvSpPr>
          <p:cNvPr id="10" name="Shape 7"/>
          <p:cNvSpPr/>
          <p:nvPr/>
        </p:nvSpPr>
        <p:spPr>
          <a:xfrm>
            <a:off x="3268980" y="1371600"/>
            <a:ext cx="2606040" cy="27432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1" name="Text 8"/>
          <p:cNvSpPr/>
          <p:nvPr/>
        </p:nvSpPr>
        <p:spPr>
          <a:xfrm>
            <a:off x="3268980" y="1600200"/>
            <a:ext cx="2606040" cy="822960"/>
          </a:xfrm>
          <a:prstGeom prst="rect">
            <a:avLst/>
          </a:prstGeom>
          <a:noFill/>
          <a:ln/>
        </p:spPr>
        <p:txBody>
          <a:bodyPr wrap="square" lIns="0" tIns="0" rIns="0" bIns="0" rtlCol="0" anchor="ctr"/>
          <a:lstStyle/>
          <a:p>
            <a:pPr marL="0" indent="0" algn="ctr">
              <a:buNone/>
            </a:pPr>
            <a:r>
              <a:rPr lang="en-US" sz="6000" b="1" dirty="0">
                <a:solidFill>
                  <a:srgbClr val="F78166"/>
                </a:solidFill>
                <a:latin typeface="Calibri" pitchFamily="34" charset="0"/>
                <a:ea typeface="Calibri" pitchFamily="34" charset="-122"/>
                <a:cs typeface="Calibri" pitchFamily="34" charset="-120"/>
              </a:rPr>
              <a:t>02</a:t>
            </a:r>
            <a:endParaRPr lang="en-US" sz="6000" dirty="0"/>
          </a:p>
        </p:txBody>
      </p:sp>
      <p:pic>
        <p:nvPicPr>
          <p:cNvPr id="12" name="Image 1" descr="preencoded.png"/>
          <p:cNvPicPr>
            <a:picLocks noChangeAspect="1"/>
          </p:cNvPicPr>
          <p:nvPr/>
        </p:nvPicPr>
        <p:blipFill>
          <a:blip r:embed="rId4"/>
          <a:stretch>
            <a:fillRect/>
          </a:stretch>
        </p:blipFill>
        <p:spPr>
          <a:xfrm>
            <a:off x="4366260" y="2468880"/>
            <a:ext cx="411480" cy="411480"/>
          </a:xfrm>
          <a:prstGeom prst="rect">
            <a:avLst/>
          </a:prstGeom>
        </p:spPr>
      </p:pic>
      <p:sp>
        <p:nvSpPr>
          <p:cNvPr id="13" name="Text 9"/>
          <p:cNvSpPr/>
          <p:nvPr/>
        </p:nvSpPr>
        <p:spPr>
          <a:xfrm>
            <a:off x="3451860" y="2926080"/>
            <a:ext cx="2240280" cy="36576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Install Azure Skills Plugin</a:t>
            </a:r>
            <a:endParaRPr lang="en-US" sz="1500" dirty="0"/>
          </a:p>
        </p:txBody>
      </p:sp>
      <p:sp>
        <p:nvSpPr>
          <p:cNvPr id="14" name="Text 10"/>
          <p:cNvSpPr/>
          <p:nvPr/>
        </p:nvSpPr>
        <p:spPr>
          <a:xfrm>
            <a:off x="3451860" y="3291840"/>
            <a:ext cx="2240280" cy="45720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One install. 20 skills + 200+ MCP tools live in your IDE.</a:t>
            </a:r>
            <a:endParaRPr lang="en-US" sz="1050" dirty="0"/>
          </a:p>
        </p:txBody>
      </p:sp>
      <p:sp>
        <p:nvSpPr>
          <p:cNvPr id="15" name="Shape 11"/>
          <p:cNvSpPr/>
          <p:nvPr/>
        </p:nvSpPr>
        <p:spPr>
          <a:xfrm>
            <a:off x="3634740" y="3749040"/>
            <a:ext cx="1874520" cy="274320"/>
          </a:xfrm>
          <a:prstGeom prst="rect">
            <a:avLst/>
          </a:prstGeom>
          <a:solidFill>
            <a:srgbClr val="0B1F3A"/>
          </a:solidFill>
          <a:ln w="12700">
            <a:solidFill>
              <a:srgbClr val="0B1F3A"/>
            </a:solidFill>
            <a:prstDash val="solid"/>
          </a:ln>
        </p:spPr>
        <p:txBody>
          <a:bodyPr/>
          <a:lstStyle/>
          <a:p>
            <a:endParaRPr lang="en-US"/>
          </a:p>
        </p:txBody>
      </p:sp>
      <p:sp>
        <p:nvSpPr>
          <p:cNvPr id="16" name="Text 12"/>
          <p:cNvSpPr/>
          <p:nvPr/>
        </p:nvSpPr>
        <p:spPr>
          <a:xfrm>
            <a:off x="3634740" y="3749040"/>
            <a:ext cx="1874520" cy="274320"/>
          </a:xfrm>
          <a:prstGeom prst="rect">
            <a:avLst/>
          </a:prstGeom>
          <a:noFill/>
          <a:ln/>
        </p:spPr>
        <p:txBody>
          <a:bodyPr wrap="square" lIns="0" tIns="0" rIns="0" bIns="0" rtlCol="0" anchor="ctr"/>
          <a:lstStyle/>
          <a:p>
            <a:pPr marL="0" indent="0" algn="ctr">
              <a:buNone/>
            </a:pPr>
            <a:r>
              <a:rPr lang="en-US" sz="1050" b="1" dirty="0">
                <a:solidFill>
                  <a:srgbClr val="FFD166"/>
                </a:solidFill>
                <a:latin typeface="Consolas" pitchFamily="34" charset="0"/>
                <a:ea typeface="Consolas" pitchFamily="34" charset="-122"/>
                <a:cs typeface="Consolas" pitchFamily="34" charset="-120"/>
              </a:rPr>
              <a:t>aka.ms/azure-plugin</a:t>
            </a:r>
            <a:endParaRPr lang="en-US" sz="1050" dirty="0"/>
          </a:p>
        </p:txBody>
      </p:sp>
      <p:sp>
        <p:nvSpPr>
          <p:cNvPr id="17" name="Shape 13"/>
          <p:cNvSpPr/>
          <p:nvPr/>
        </p:nvSpPr>
        <p:spPr>
          <a:xfrm>
            <a:off x="6057900" y="1371600"/>
            <a:ext cx="2606040" cy="27432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Text 14"/>
          <p:cNvSpPr/>
          <p:nvPr/>
        </p:nvSpPr>
        <p:spPr>
          <a:xfrm>
            <a:off x="6057900" y="1600200"/>
            <a:ext cx="2606040" cy="822960"/>
          </a:xfrm>
          <a:prstGeom prst="rect">
            <a:avLst/>
          </a:prstGeom>
          <a:noFill/>
          <a:ln/>
        </p:spPr>
        <p:txBody>
          <a:bodyPr wrap="square" lIns="0" tIns="0" rIns="0" bIns="0" rtlCol="0" anchor="ctr"/>
          <a:lstStyle/>
          <a:p>
            <a:pPr marL="0" indent="0" algn="ctr">
              <a:buNone/>
            </a:pPr>
            <a:r>
              <a:rPr lang="en-US" sz="6000" b="1" dirty="0">
                <a:solidFill>
                  <a:srgbClr val="F78166"/>
                </a:solidFill>
                <a:latin typeface="Calibri" pitchFamily="34" charset="0"/>
                <a:ea typeface="Calibri" pitchFamily="34" charset="-122"/>
                <a:cs typeface="Calibri" pitchFamily="34" charset="-120"/>
              </a:rPr>
              <a:t>03</a:t>
            </a:r>
            <a:endParaRPr lang="en-US" sz="6000" dirty="0"/>
          </a:p>
        </p:txBody>
      </p:sp>
      <p:pic>
        <p:nvPicPr>
          <p:cNvPr id="19" name="Image 2" descr="preencoded.png"/>
          <p:cNvPicPr>
            <a:picLocks noChangeAspect="1"/>
          </p:cNvPicPr>
          <p:nvPr/>
        </p:nvPicPr>
        <p:blipFill>
          <a:blip r:embed="rId5"/>
          <a:stretch>
            <a:fillRect/>
          </a:stretch>
        </p:blipFill>
        <p:spPr>
          <a:xfrm>
            <a:off x="7155180" y="2468880"/>
            <a:ext cx="411480" cy="411480"/>
          </a:xfrm>
          <a:prstGeom prst="rect">
            <a:avLst/>
          </a:prstGeom>
        </p:spPr>
      </p:pic>
      <p:sp>
        <p:nvSpPr>
          <p:cNvPr id="20" name="Text 15"/>
          <p:cNvSpPr/>
          <p:nvPr/>
        </p:nvSpPr>
        <p:spPr>
          <a:xfrm>
            <a:off x="6240780" y="2926080"/>
            <a:ext cx="2240280" cy="36576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Build one agent</a:t>
            </a:r>
            <a:endParaRPr lang="en-US" sz="1500" dirty="0"/>
          </a:p>
        </p:txBody>
      </p:sp>
      <p:sp>
        <p:nvSpPr>
          <p:cNvPr id="21" name="Text 16"/>
          <p:cNvSpPr/>
          <p:nvPr/>
        </p:nvSpPr>
        <p:spPr>
          <a:xfrm>
            <a:off x="6240780" y="3291840"/>
            <a:ext cx="2240280" cy="68580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Pick a workflow you repeat — code review, backlog, release notes.</a:t>
            </a:r>
            <a:endParaRPr lang="en-US" sz="1050" dirty="0"/>
          </a:p>
        </p:txBody>
      </p:sp>
      <p:sp>
        <p:nvSpPr>
          <p:cNvPr id="22" name="Shape 17"/>
          <p:cNvSpPr/>
          <p:nvPr/>
        </p:nvSpPr>
        <p:spPr>
          <a:xfrm>
            <a:off x="548640" y="4389120"/>
            <a:ext cx="8046720" cy="411480"/>
          </a:xfrm>
          <a:prstGeom prst="rect">
            <a:avLst/>
          </a:prstGeom>
          <a:solidFill>
            <a:srgbClr val="0B1F3A"/>
          </a:solidFill>
          <a:ln w="12700">
            <a:solidFill>
              <a:srgbClr val="0B1F3A"/>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85800" y="4462272"/>
            <a:ext cx="274320" cy="274320"/>
          </a:xfrm>
          <a:prstGeom prst="rect">
            <a:avLst/>
          </a:prstGeom>
        </p:spPr>
      </p:pic>
      <p:sp>
        <p:nvSpPr>
          <p:cNvPr id="24" name="Text 18"/>
          <p:cNvSpPr/>
          <p:nvPr/>
        </p:nvSpPr>
        <p:spPr>
          <a:xfrm>
            <a:off x="1051560" y="4389120"/>
            <a:ext cx="2560320" cy="4114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Repo with all assets: </a:t>
            </a:r>
            <a:endParaRPr lang="en-US" sz="1200" dirty="0"/>
          </a:p>
        </p:txBody>
      </p:sp>
      <p:sp>
        <p:nvSpPr>
          <p:cNvPr id="25" name="Text 19"/>
          <p:cNvSpPr/>
          <p:nvPr/>
        </p:nvSpPr>
        <p:spPr>
          <a:xfrm>
            <a:off x="3108960" y="4389120"/>
            <a:ext cx="5486400" cy="411480"/>
          </a:xfrm>
          <a:prstGeom prst="rect">
            <a:avLst/>
          </a:prstGeom>
          <a:noFill/>
          <a:ln/>
        </p:spPr>
        <p:txBody>
          <a:bodyPr wrap="square" lIns="0" tIns="0" rIns="0" bIns="0" rtlCol="0" anchor="ctr"/>
          <a:lstStyle/>
          <a:p>
            <a:pPr marL="0" indent="0">
              <a:buNone/>
            </a:pPr>
            <a:r>
              <a:rPr lang="en-US" sz="1200" b="1" dirty="0">
                <a:solidFill>
                  <a:srgbClr val="FFD166"/>
                </a:solidFill>
                <a:latin typeface="Consolas" pitchFamily="34" charset="0"/>
                <a:ea typeface="Consolas" pitchFamily="34" charset="-122"/>
                <a:cs typeface="Consolas" pitchFamily="34" charset="-120"/>
              </a:rPr>
              <a:t>github.com/shawnewallace/2026-global-azure-columbus</a:t>
            </a:r>
            <a:endParaRPr lang="en-US" sz="1200" dirty="0"/>
          </a:p>
        </p:txBody>
      </p:sp>
      <p:sp>
        <p:nvSpPr>
          <p:cNvPr id="26" name="Text 20"/>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27" name="Text 21"/>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sp>
        <p:nvSpPr>
          <p:cNvPr id="4" name="Text 2"/>
          <p:cNvSpPr/>
          <p:nvPr/>
        </p:nvSpPr>
        <p:spPr>
          <a:xfrm>
            <a:off x="548640" y="548640"/>
            <a:ext cx="8229600" cy="365760"/>
          </a:xfrm>
          <a:prstGeom prst="rect">
            <a:avLst/>
          </a:prstGeom>
          <a:noFill/>
          <a:ln/>
        </p:spPr>
        <p:txBody>
          <a:bodyPr wrap="square" lIns="0" tIns="0" rIns="0" bIns="0" rtlCol="0" anchor="ctr"/>
          <a:lstStyle/>
          <a:p>
            <a:pPr marL="0" indent="0">
              <a:buNone/>
            </a:pPr>
            <a:r>
              <a:rPr lang="en-US" sz="1300" b="1" kern="0" spc="600" dirty="0">
                <a:solidFill>
                  <a:srgbClr val="FFD166"/>
                </a:solidFill>
                <a:latin typeface="Calibri" pitchFamily="34" charset="0"/>
                <a:ea typeface="Calibri" pitchFamily="34" charset="-122"/>
                <a:cs typeface="Calibri" pitchFamily="34" charset="-120"/>
              </a:rPr>
              <a:t>THANK YOU</a:t>
            </a:r>
            <a:endParaRPr lang="en-US" sz="1300" dirty="0"/>
          </a:p>
        </p:txBody>
      </p:sp>
      <p:sp>
        <p:nvSpPr>
          <p:cNvPr id="5" name="Shape 3"/>
          <p:cNvSpPr/>
          <p:nvPr/>
        </p:nvSpPr>
        <p:spPr>
          <a:xfrm>
            <a:off x="548640" y="1280160"/>
            <a:ext cx="91440" cy="1554480"/>
          </a:xfrm>
          <a:prstGeom prst="rect">
            <a:avLst/>
          </a:prstGeom>
          <a:solidFill>
            <a:srgbClr val="F78166"/>
          </a:solidFill>
          <a:ln w="12700">
            <a:solidFill>
              <a:srgbClr val="F78166"/>
            </a:solidFill>
            <a:prstDash val="solid"/>
          </a:ln>
        </p:spPr>
        <p:txBody>
          <a:bodyPr/>
          <a:lstStyle/>
          <a:p>
            <a:endParaRPr lang="en-US"/>
          </a:p>
        </p:txBody>
      </p:sp>
      <p:sp>
        <p:nvSpPr>
          <p:cNvPr id="6" name="Text 4"/>
          <p:cNvSpPr/>
          <p:nvPr/>
        </p:nvSpPr>
        <p:spPr>
          <a:xfrm>
            <a:off x="822960" y="1280160"/>
            <a:ext cx="777240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agent isn't the point.</a:t>
            </a:r>
            <a:endParaRPr lang="en-US" sz="4000" dirty="0"/>
          </a:p>
        </p:txBody>
      </p:sp>
      <p:sp>
        <p:nvSpPr>
          <p:cNvPr id="7" name="Text 5"/>
          <p:cNvSpPr/>
          <p:nvPr/>
        </p:nvSpPr>
        <p:spPr>
          <a:xfrm>
            <a:off x="822960" y="2057400"/>
            <a:ext cx="7772400" cy="731520"/>
          </a:xfrm>
          <a:prstGeom prst="rect">
            <a:avLst/>
          </a:prstGeom>
          <a:noFill/>
          <a:ln/>
        </p:spPr>
        <p:txBody>
          <a:bodyPr wrap="square" lIns="0" tIns="0" rIns="0" bIns="0" rtlCol="0" anchor="ctr"/>
          <a:lstStyle/>
          <a:p>
            <a:pPr marL="0" indent="0">
              <a:buNone/>
            </a:pPr>
            <a:r>
              <a:rPr lang="en-US" sz="3200" b="1" i="1" dirty="0">
                <a:solidFill>
                  <a:srgbClr val="4F9DE6"/>
                </a:solidFill>
                <a:latin typeface="Calibri" pitchFamily="34" charset="0"/>
                <a:ea typeface="Calibri" pitchFamily="34" charset="-122"/>
                <a:cs typeface="Calibri" pitchFamily="34" charset="-120"/>
              </a:rPr>
              <a:t>The system your team builds around it is.</a:t>
            </a:r>
            <a:endParaRPr lang="en-US" sz="3200" dirty="0"/>
          </a:p>
        </p:txBody>
      </p:sp>
      <p:sp>
        <p:nvSpPr>
          <p:cNvPr id="8" name="Shape 6"/>
          <p:cNvSpPr/>
          <p:nvPr/>
        </p:nvSpPr>
        <p:spPr>
          <a:xfrm>
            <a:off x="548640" y="3474720"/>
            <a:ext cx="3931920" cy="1143000"/>
          </a:xfrm>
          <a:prstGeom prst="rect">
            <a:avLst/>
          </a:prstGeom>
          <a:solidFill>
            <a:srgbClr val="152A4A"/>
          </a:solidFill>
          <a:ln w="12700">
            <a:solidFill>
              <a:srgbClr val="152A4A"/>
            </a:solidFill>
            <a:prstDash val="solid"/>
          </a:ln>
        </p:spPr>
        <p:txBody>
          <a:bodyPr/>
          <a:lstStyle/>
          <a:p>
            <a:endParaRPr lang="en-US"/>
          </a:p>
        </p:txBody>
      </p:sp>
      <p:sp>
        <p:nvSpPr>
          <p:cNvPr id="9" name="Text 7"/>
          <p:cNvSpPr/>
          <p:nvPr/>
        </p:nvSpPr>
        <p:spPr>
          <a:xfrm>
            <a:off x="731520" y="3611880"/>
            <a:ext cx="3657600" cy="274320"/>
          </a:xfrm>
          <a:prstGeom prst="rect">
            <a:avLst/>
          </a:prstGeom>
          <a:noFill/>
          <a:ln/>
        </p:spPr>
        <p:txBody>
          <a:bodyPr wrap="square" lIns="0" tIns="0" rIns="0" bIns="0" rtlCol="0" anchor="ctr"/>
          <a:lstStyle/>
          <a:p>
            <a:pPr marL="0" indent="0">
              <a:buNone/>
            </a:pPr>
            <a:r>
              <a:rPr lang="en-US" sz="1100" b="1" kern="0" spc="400" dirty="0">
                <a:solidFill>
                  <a:srgbClr val="FFD166"/>
                </a:solidFill>
                <a:latin typeface="Calibri" pitchFamily="34" charset="0"/>
                <a:ea typeface="Calibri" pitchFamily="34" charset="-122"/>
                <a:cs typeface="Calibri" pitchFamily="34" charset="-120"/>
              </a:rPr>
              <a:t>SHAWN WALLACE</a:t>
            </a:r>
            <a:endParaRPr lang="en-US" sz="1100" dirty="0"/>
          </a:p>
        </p:txBody>
      </p:sp>
      <p:sp>
        <p:nvSpPr>
          <p:cNvPr id="10" name="Text 8"/>
          <p:cNvSpPr/>
          <p:nvPr/>
        </p:nvSpPr>
        <p:spPr>
          <a:xfrm>
            <a:off x="731520" y="3886200"/>
            <a:ext cx="36576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Principal Architect</a:t>
            </a:r>
            <a:endParaRPr lang="en-US" sz="1500" dirty="0"/>
          </a:p>
        </p:txBody>
      </p:sp>
      <p:sp>
        <p:nvSpPr>
          <p:cNvPr id="11" name="Text 9"/>
          <p:cNvSpPr/>
          <p:nvPr/>
        </p:nvSpPr>
        <p:spPr>
          <a:xfrm>
            <a:off x="731520" y="4160520"/>
            <a:ext cx="36576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Centric Consulting</a:t>
            </a:r>
            <a:endParaRPr lang="en-US" sz="1200" dirty="0"/>
          </a:p>
        </p:txBody>
      </p:sp>
      <p:sp>
        <p:nvSpPr>
          <p:cNvPr id="12" name="Shape 10"/>
          <p:cNvSpPr/>
          <p:nvPr/>
        </p:nvSpPr>
        <p:spPr>
          <a:xfrm>
            <a:off x="4663440" y="3474720"/>
            <a:ext cx="3931920" cy="1143000"/>
          </a:xfrm>
          <a:prstGeom prst="rect">
            <a:avLst/>
          </a:prstGeom>
          <a:solidFill>
            <a:srgbClr val="152A4A"/>
          </a:solidFill>
          <a:ln w="12700">
            <a:solidFill>
              <a:srgbClr val="152A4A"/>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4846320" y="3675888"/>
            <a:ext cx="228600" cy="228600"/>
          </a:xfrm>
          <a:prstGeom prst="rect">
            <a:avLst/>
          </a:prstGeom>
        </p:spPr>
      </p:pic>
      <p:sp>
        <p:nvSpPr>
          <p:cNvPr id="14" name="Text 11"/>
          <p:cNvSpPr/>
          <p:nvPr/>
        </p:nvSpPr>
        <p:spPr>
          <a:xfrm>
            <a:off x="5166360" y="3657600"/>
            <a:ext cx="329184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github.com/shawnewallace</a:t>
            </a:r>
            <a:endParaRPr lang="en-US" sz="1200" dirty="0"/>
          </a:p>
        </p:txBody>
      </p:sp>
      <p:pic>
        <p:nvPicPr>
          <p:cNvPr id="15" name="Image 1" descr="preencoded.png"/>
          <p:cNvPicPr>
            <a:picLocks noChangeAspect="1"/>
          </p:cNvPicPr>
          <p:nvPr/>
        </p:nvPicPr>
        <p:blipFill>
          <a:blip r:embed="rId4"/>
          <a:stretch>
            <a:fillRect/>
          </a:stretch>
        </p:blipFill>
        <p:spPr>
          <a:xfrm>
            <a:off x="4846320" y="3977640"/>
            <a:ext cx="228600" cy="228600"/>
          </a:xfrm>
          <a:prstGeom prst="rect">
            <a:avLst/>
          </a:prstGeom>
        </p:spPr>
      </p:pic>
      <p:sp>
        <p:nvSpPr>
          <p:cNvPr id="16" name="Text 12"/>
          <p:cNvSpPr/>
          <p:nvPr/>
        </p:nvSpPr>
        <p:spPr>
          <a:xfrm>
            <a:off x="5166360" y="3959352"/>
            <a:ext cx="329184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@ShawnWallace</a:t>
            </a:r>
            <a:endParaRPr lang="en-US" sz="1200" dirty="0"/>
          </a:p>
        </p:txBody>
      </p:sp>
      <p:pic>
        <p:nvPicPr>
          <p:cNvPr id="17" name="Image 2" descr="preencoded.png"/>
          <p:cNvPicPr>
            <a:picLocks noChangeAspect="1"/>
          </p:cNvPicPr>
          <p:nvPr/>
        </p:nvPicPr>
        <p:blipFill>
          <a:blip r:embed="rId5"/>
          <a:stretch>
            <a:fillRect/>
          </a:stretch>
        </p:blipFill>
        <p:spPr>
          <a:xfrm>
            <a:off x="4846320" y="4279392"/>
            <a:ext cx="228600" cy="228600"/>
          </a:xfrm>
          <a:prstGeom prst="rect">
            <a:avLst/>
          </a:prstGeom>
        </p:spPr>
      </p:pic>
      <p:sp>
        <p:nvSpPr>
          <p:cNvPr id="18" name="Text 13"/>
          <p:cNvSpPr/>
          <p:nvPr/>
        </p:nvSpPr>
        <p:spPr>
          <a:xfrm>
            <a:off x="5166360" y="4261104"/>
            <a:ext cx="3291840" cy="274320"/>
          </a:xfrm>
          <a:prstGeom prst="rect">
            <a:avLst/>
          </a:prstGeom>
          <a:noFill/>
          <a:ln/>
        </p:spPr>
        <p:txBody>
          <a:bodyPr wrap="square" lIns="0" tIns="0" rIns="0" bIns="0" rtlCol="0" anchor="ctr"/>
          <a:lstStyle/>
          <a:p>
            <a:pPr marL="0" indent="0">
              <a:buNone/>
            </a:pPr>
            <a:r>
              <a:rPr lang="en-US" sz="1200" b="1" dirty="0">
                <a:solidFill>
                  <a:srgbClr val="FFD166"/>
                </a:solidFill>
                <a:latin typeface="Consolas" pitchFamily="34" charset="0"/>
                <a:ea typeface="Consolas" pitchFamily="34" charset="-122"/>
                <a:cs typeface="Consolas" pitchFamily="34" charset="-120"/>
              </a:rPr>
              <a:t>aka.ms/azure-plugin</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3038</Words>
  <Application>Microsoft Macintosh PowerPoint</Application>
  <PresentationFormat>On-screen Show (16:9)</PresentationFormat>
  <Paragraphs>306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Centric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Agentic-First with GitHub Copilot</dc:title>
  <dc:subject>PptxGenJS Presentation</dc:subject>
  <dc:creator>Shawn Wallace</dc:creator>
  <cp:lastModifiedBy>Shawn Wallace</cp:lastModifiedBy>
  <cp:revision>6</cp:revision>
  <dcterms:created xsi:type="dcterms:W3CDTF">2026-04-17T15:16:06Z</dcterms:created>
  <dcterms:modified xsi:type="dcterms:W3CDTF">2026-04-17T19:26:30Z</dcterms:modified>
</cp:coreProperties>
</file>