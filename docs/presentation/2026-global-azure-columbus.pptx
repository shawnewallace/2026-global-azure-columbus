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1226"/>
  </p:normalViewPr>
  <p:slideViewPr>
    <p:cSldViewPr snapToGrid="0" snapToObjects="1">
      <p:cViewPr varScale="1">
        <p:scale>
          <a:sx n="250" d="100"/>
          <a:sy n="250" d="100"/>
        </p:scale>
        <p:origin x="168" y="104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5287406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Global Azure Columbus. I'm Shawn Wallace, Principal Architect at Centric Consulting. This talk is about moving your team from solo Copilot wins to agentic-first workflows. The repo with everything I'm about to show — instructions, skills, agents, demo app, the whole .github/ folder — is at github.com/shawnewallace/2026-global-azure-columbus. Grab it, follow along, fork it after. Core thesis, and we'll come back to this: the agent isn't the point. The system your team builds around it is.</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of hands: who uses Copilot for autocomplete? [pause for hands] Now keep your hand up if your WHOLE TEAM is faster because of it. [watch hands drop] That's the gap. Most teams have solo wins — one fast person, maybe two. The faster teams have reorganized HOW WORK GETS DONE around the agent. Solo wins don't compound. Team systems do. The agent isn't the point — the system your team builds around it is. That's what the next 28 minutes is about.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talk about the system, let's name where most teams are today. Five levels. L1 Autocomplete — tab complete, inline suggestions. L2 Chat — ask and get explanations. L3 AI Assist — multi-step edits with you still reviewing. L4 Agentic Augmented — background agents, PR creation. L5 Agentic Adaptive — agents as automation, self-directing. Most teams are stuck at L1-L2. A few individuals have reached L3. The coral banner between L2 and L3 is THE CAPABILITY GAP — the jump from AI helping you, to AI acting on your behalf. Watch the role chips at the bottom: Producer, Producer, Reviewer, Director, Director. The human role fundamentally shifts. At L4-L5, you're not producing, you're directing. L5 is the target — and L5 requires a SYSTEM, not just a tool. Let me show you why most teams stall at L2 and what it takes to move.</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reasons teams stall at solo wins. One: every session starts from zero. Your senior developer spent 20 minutes prompting Copilot into the right headspace yesterday — today they start over. Two: Copilot doesn't know YOUR team. Not your coding standards, not your review process, not your deploy pipeline. Three: tribal knowledge stays tribal. The architect knows the patterns. The new hire doesn't. The AI doesn't either. Four: individual velocity doesn't compound into team velocity. One person shipping fast while the rest are stuck is still a stuck team. Everything I'm about to show you exists to solve these four things.</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one: the system. This is the core of the talk. Everything I'm about to show lives in one folder: .github/. It's version-controlled. It's PR-reviewed. It's shared with the whole team. That's the move from individual to organizational capability.</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Six assets. Read them top to bottom. copilot-instructions.md raises the floor — every dev gets the same baseline. Onboarding happens automatically. star-dot-instructions.md are always-on coding standards. Clean Architecture, DDD, Object Calisthenics — whatever your team enforces, it fires on every file, every session. star-dot-prompt.md are one-click macros — PR descriptions, commit messages, release notes. SKILL.md are portable, multi-step capabilities that can carry scripts and resources. star-dot-agent.md are role-based specialists with tool restrictions and handoffs. And .mcp.json is the execution layer — it's what lets agents actually call real tools. All plain text. All version-controlled. All reviewed in PRs. This is what makes the system visible and ownable.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Here's the decision tree. Four customization assets, from lightest to heaviest. Instructions: always-on guardrails — use for standards that should apply every time. Skills: portable SOPs — use when you have a multi-step workflow worth reusing. Agents: role-based specialists with tool access — use when you need a specialist with a defined job. Prompts: lightweight macros — use for one-click recurring tasks. Rule of thumb: pick the lowest-weight tool that does the job. Don't build an agent when a prompt will do.</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full comparison. Walk the rows. Scope: Prompts are one-off; Instructions are always-on; Skills and Agents are on-demand. Invocation: Prompts and Instructions are implicit — they fire automatically; Skills you invoke with hashtag-name; Agents with at-name. The killer row is Tool Access. Prompts, Instructions, Skills — none of them call tools directly. Only Agents can call tools. That's why agents are where real work gets done. Discovery: slash-skills and slash-agents to see what's available in your workspace. Three-line recap at the bottom: Instructions = guardrails. Skills = knowledge. Agents = specialists with tools. All three compose.</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plug Azure in. Microsoft's Azure Skills plugin. One install, three layers. Twenty curated workflows — prepare, validate, deploy, diagnose, optimize, cost, compliance, RBAC. Plus the Azure MCP Server — 200+ structured tools across 40+ Azure services. Real operations against live Azure. Plus Foundry MCP — model catalog, deployments, agents, evals. The critical point: these are not a prompt pack. They're curated workflows, decision trees, and guardrails encoded as plain text. They live at .github/plugins/azure-skills/. Visible. Auditable. Team-owned. Install command is aka.ms/azure-plugin.</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prompt. 'Deploy my app to Azure.' Without the plugin: Copilot gives you a generic tutorial and some az CLI commands. Advice — not artifacts. Nothing actually runs. With the Azure Skills plugin: same prompt, completely different outcome. Dockerfile generated. azure.yaml generated. Bicep infra-as-code generated. Pre-flight validation runs. azd up deploys end-to-end. This is the key moment: you could have typed this same prompt six months ago and gotten the first column. The difference isn't the model. It's the system. The skills encode HOW YOUR TEAM DEPLOYS. The model just executes.</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 demo time. Twelve minutes. Task Library is a realistic app: .NET 10 Functions API, React frontend, Postgres, Azure OpenAI for task categorization. PRE-DEMO CHECK: verify localhost:8080 (API) and localhost:5173 (web) are up. I'm starting from a BLANK SLATE — deleted infra/, azure.yaml, and .azure/ before stepping on stage. This way the audience watches the skill generate everything from scratch. Maximum 'wow.' If something goes sideways live — fallback is pre-deployed environment with @azure queries and App Insights screenshots.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4000" dirty="0"/>
              <a:t>Six demo steps. Narrate each. 1) SET THE SCENE — open VS Code, walk the .github/ folder. Point to copilot-instructions.md, instructions/, agents/, plugins/azure-skills/. Open azure-prepare/SKILL.md and show it's plain text. 'Version-controlled. PR-reviewed. Not a black box.' 2) azure-prepare — prompt: 'Prepare this app for Azure. The app uses Azure OpenAI for AI-powered task prioritization — make sure the OpenAI resource and model deployment are included.' Watch: Dockerfile, azure.yaml, Bicep with Postgres + Key Vault + Azure OpenAI + managed identity. KEY MOMENT: the skill finds AzureOpenAILlmService.cs in the code and provisions OpenAI without being told. 'The skill read the codebase — you didn't have to tell it.' 3) azure-validate — prompt: 'Validate my Azure deployment files before I run azd up.' Pre-flight: quotas, RBAC, naming, region. Green = safe to proceed. 4) azure-deploy — prompt: 'Deploy this project to Azure.' azd up runs. Narrate: 'No secrets. DefaultAzureCredential. The skill encoded that practice.' 5) Operate — use @azure to query live resources: 'list my resource groups', 'show app insights for the function app'. 6) azure-diagnostics — prompt: 'Troubleshoot why my app is failing health probes.' Show CorrelationId, PromptTokens, CompletionTokens, LatencyMs in App Insights logs. Close with: 'The coding agent wrote this. The skill deployed it. The operations skill read it back.'</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Governance moment — for the people in the audience asking 'how do I sell this to security?' One: plain text. Version-controlled. PR-reviewed. Skills are not a black box. Your team owns them. Two: org-level policy controls. Model policies decide which models agents can use. Agent allow-lists decide which agents are enabled. MCP allow-lists decide which tools agents can reach. Three: audit log. Every action Copilot takes on GitHub is logged with actor:Copilot. Full audit trail. Four: agent lifecycle. Proposal to review to production to deprecation. Agents are first-class artifacts with owners. The right model: curated skills, trusted sources, tool approvals, and least-privilege access.</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concrete steps to get your team moving. One: add copilot-instructions.md. Even a starter version. Encode how your team writes, reviews, ships code. This alone raises the floor. Two: install the Azure Skills Plugin — aka.ms/azure-plugin. One command. You get 20 skills and 200+ MCP tools in your IDE. Three: build ONE agent for a workflow your team repeats every week. Code review, backlog generation, release notes — pick the painful one. Iterate from there. The repo has templates for all three — github.com/shawnewallace/2026-global-azure-columbus. The Centric AI Coding Workshop has more hands-on examples if you want to go deeper.</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line: the agent isn't the point. The system your team builds around it is. Thank you. Find me on GitHub at shawnewallace, on Twitter/X at ShawnWallace. Azure Skills plugin: aka.ms/azure-plugin. The demo repo: github.com/shawnewallace/2026-global-azure-columbus. Happy to take questions — and I'll be in the hallway after for anyone who wants to see specific skills or agent definitions.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7.png"/><Relationship Id="rId5" Type="http://schemas.openxmlformats.org/officeDocument/2006/relationships/image" Target="../media/image6.png"/><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18.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7.png"/><Relationship Id="rId5" Type="http://schemas.openxmlformats.org/officeDocument/2006/relationships/image" Target="../media/image16.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9.xml"/><Relationship Id="rId1"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image" Target="../media/image19.png"/></Relationships>
</file>

<file path=ppt/slides/_rels/slide10.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11.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8" Type="http://schemas.openxmlformats.org/officeDocument/2006/relationships/image" Target="../media/image29.png"/><Relationship Id="rId3" Type="http://schemas.openxmlformats.org/officeDocument/2006/relationships/image" Target="../media/image24.png"/><Relationship Id="rId7" Type="http://schemas.openxmlformats.org/officeDocument/2006/relationships/image" Target="../media/image28.png"/><Relationship Id="rId2" Type="http://schemas.openxmlformats.org/officeDocument/2006/relationships/notesSlide" Target="../notesSlides/notesSlide12.xml"/><Relationship Id="rId1" Type="http://schemas.openxmlformats.org/officeDocument/2006/relationships/slideLayout" Target="../slideLayouts/slideLayout1.xml"/><Relationship Id="rId6" Type="http://schemas.openxmlformats.org/officeDocument/2006/relationships/image" Target="../media/image27.png"/><Relationship Id="rId5" Type="http://schemas.openxmlformats.org/officeDocument/2006/relationships/image" Target="../media/image26.png"/><Relationship Id="rId4" Type="http://schemas.openxmlformats.org/officeDocument/2006/relationships/image" Target="../media/image25.png"/></Relationships>
</file>

<file path=ppt/slides/_rels/slide1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3.xml"/><Relationship Id="rId1" Type="http://schemas.openxmlformats.org/officeDocument/2006/relationships/slideLayout" Target="../slideLayouts/slideLayout1.xml"/><Relationship Id="rId6" Type="http://schemas.openxmlformats.org/officeDocument/2006/relationships/image" Target="../media/image32.png"/><Relationship Id="rId5" Type="http://schemas.openxmlformats.org/officeDocument/2006/relationships/image" Target="../media/image31.png"/><Relationship Id="rId4" Type="http://schemas.openxmlformats.org/officeDocument/2006/relationships/image" Target="../media/image14.png"/></Relationships>
</file>

<file path=ppt/slides/_rels/slide14.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4.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image" Target="../media/image35.png"/><Relationship Id="rId4" Type="http://schemas.openxmlformats.org/officeDocument/2006/relationships/image" Target="../media/image34.png"/></Relationships>
</file>

<file path=ppt/slides/_rels/slide15.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37.png"/><Relationship Id="rId4" Type="http://schemas.openxmlformats.org/officeDocument/2006/relationships/image" Target="../media/image36.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0" y="0"/>
            <a:ext cx="9144000" cy="164592"/>
          </a:xfrm>
          <a:prstGeom prst="rect">
            <a:avLst/>
          </a:prstGeom>
          <a:solidFill>
            <a:srgbClr val="F78166"/>
          </a:solidFill>
          <a:ln w="12700">
            <a:solidFill>
              <a:srgbClr val="F78166"/>
            </a:solidFill>
            <a:prstDash val="solid"/>
          </a:ln>
        </p:spPr>
        <p:txBody>
          <a:bodyPr/>
          <a:lstStyle/>
          <a:p>
            <a:endParaRPr lang="en-US"/>
          </a:p>
        </p:txBody>
      </p:sp>
      <p:sp>
        <p:nvSpPr>
          <p:cNvPr id="3" name="Shape 1"/>
          <p:cNvSpPr/>
          <p:nvPr/>
        </p:nvSpPr>
        <p:spPr>
          <a:xfrm>
            <a:off x="0" y="4978908"/>
            <a:ext cx="9144000" cy="164592"/>
          </a:xfrm>
          <a:prstGeom prst="rect">
            <a:avLst/>
          </a:prstGeom>
          <a:solidFill>
            <a:srgbClr val="4F9DE6"/>
          </a:solidFill>
          <a:ln w="12700">
            <a:solidFill>
              <a:srgbClr val="4F9DE6"/>
            </a:solidFill>
            <a:prstDash val="solid"/>
          </a:ln>
        </p:spPr>
        <p:txBody>
          <a:bodyPr/>
          <a:lstStyle/>
          <a:p>
            <a:endParaRPr lang="en-US"/>
          </a:p>
        </p:txBody>
      </p:sp>
      <p:pic>
        <p:nvPicPr>
          <p:cNvPr id="4" name="Image 0" descr="preencoded.png"/>
          <p:cNvPicPr>
            <a:picLocks noChangeAspect="1"/>
          </p:cNvPicPr>
          <p:nvPr/>
        </p:nvPicPr>
        <p:blipFill>
          <a:blip r:embed="rId3"/>
          <a:stretch>
            <a:fillRect/>
          </a:stretch>
        </p:blipFill>
        <p:spPr>
          <a:xfrm>
            <a:off x="640080" y="502920"/>
            <a:ext cx="411480" cy="411480"/>
          </a:xfrm>
          <a:prstGeom prst="rect">
            <a:avLst/>
          </a:prstGeom>
        </p:spPr>
      </p:pic>
      <p:sp>
        <p:nvSpPr>
          <p:cNvPr id="5" name="Text 2"/>
          <p:cNvSpPr/>
          <p:nvPr/>
        </p:nvSpPr>
        <p:spPr>
          <a:xfrm>
            <a:off x="1143000" y="530352"/>
            <a:ext cx="7315200" cy="365760"/>
          </a:xfrm>
          <a:prstGeom prst="rect">
            <a:avLst/>
          </a:prstGeom>
          <a:noFill/>
          <a:ln/>
        </p:spPr>
        <p:txBody>
          <a:bodyPr wrap="square" lIns="0" tIns="0" rIns="0" bIns="0" rtlCol="0" anchor="ctr"/>
          <a:lstStyle/>
          <a:p>
            <a:pPr marL="0" indent="0">
              <a:buNone/>
            </a:pPr>
            <a:r>
              <a:rPr lang="en-US" sz="1200" b="1" kern="0" spc="500" dirty="0">
                <a:solidFill>
                  <a:srgbClr val="FFD166"/>
                </a:solidFill>
                <a:latin typeface="Calibri" pitchFamily="34" charset="0"/>
                <a:ea typeface="Calibri" pitchFamily="34" charset="-122"/>
                <a:cs typeface="Calibri" pitchFamily="34" charset="-120"/>
              </a:rPr>
              <a:t>GLOBAL AZURE COLUMBUS  ·  APRIL 18, 2026</a:t>
            </a:r>
            <a:endParaRPr lang="en-US" sz="1200" dirty="0"/>
          </a:p>
        </p:txBody>
      </p:sp>
      <p:sp>
        <p:nvSpPr>
          <p:cNvPr id="6" name="Text 3"/>
          <p:cNvSpPr/>
          <p:nvPr/>
        </p:nvSpPr>
        <p:spPr>
          <a:xfrm>
            <a:off x="640080" y="1325880"/>
            <a:ext cx="8046720" cy="100584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Agentic-First with GitHub Copilot</a:t>
            </a:r>
            <a:endParaRPr lang="en-US" sz="4800" dirty="0"/>
          </a:p>
        </p:txBody>
      </p:sp>
      <p:sp>
        <p:nvSpPr>
          <p:cNvPr id="7" name="Text 4"/>
          <p:cNvSpPr/>
          <p:nvPr/>
        </p:nvSpPr>
        <p:spPr>
          <a:xfrm>
            <a:off x="640080" y="2331720"/>
            <a:ext cx="8046720" cy="548640"/>
          </a:xfrm>
          <a:prstGeom prst="rect">
            <a:avLst/>
          </a:prstGeom>
          <a:noFill/>
          <a:ln/>
        </p:spPr>
        <p:txBody>
          <a:bodyPr wrap="square" lIns="0" tIns="0" rIns="0" bIns="0" rtlCol="0" anchor="ctr"/>
          <a:lstStyle/>
          <a:p>
            <a:pPr marL="0" indent="0">
              <a:buNone/>
            </a:pPr>
            <a:r>
              <a:rPr lang="en-US" sz="2200" i="1" dirty="0">
                <a:solidFill>
                  <a:srgbClr val="4F9DE6"/>
                </a:solidFill>
                <a:latin typeface="Calibri" pitchFamily="34" charset="0"/>
                <a:ea typeface="Calibri" pitchFamily="34" charset="-122"/>
                <a:cs typeface="Calibri" pitchFamily="34" charset="-120"/>
              </a:rPr>
              <a:t>Teams That Work With AI, Not Just Next to It</a:t>
            </a:r>
            <a:endParaRPr lang="en-US" sz="2200" dirty="0"/>
          </a:p>
        </p:txBody>
      </p:sp>
      <p:sp>
        <p:nvSpPr>
          <p:cNvPr id="8" name="Shape 5"/>
          <p:cNvSpPr/>
          <p:nvPr/>
        </p:nvSpPr>
        <p:spPr>
          <a:xfrm>
            <a:off x="640080" y="3063240"/>
            <a:ext cx="54864" cy="914400"/>
          </a:xfrm>
          <a:prstGeom prst="rect">
            <a:avLst/>
          </a:prstGeom>
          <a:solidFill>
            <a:srgbClr val="F78166"/>
          </a:solidFill>
          <a:ln w="12700">
            <a:solidFill>
              <a:srgbClr val="F78166"/>
            </a:solidFill>
            <a:prstDash val="solid"/>
          </a:ln>
        </p:spPr>
        <p:txBody>
          <a:bodyPr/>
          <a:lstStyle/>
          <a:p>
            <a:endParaRPr lang="en-US"/>
          </a:p>
        </p:txBody>
      </p:sp>
      <p:sp>
        <p:nvSpPr>
          <p:cNvPr id="9" name="Text 6"/>
          <p:cNvSpPr/>
          <p:nvPr/>
        </p:nvSpPr>
        <p:spPr>
          <a:xfrm>
            <a:off x="868680" y="3063240"/>
            <a:ext cx="7132320" cy="914400"/>
          </a:xfrm>
          <a:prstGeom prst="rect">
            <a:avLst/>
          </a:prstGeom>
          <a:noFill/>
          <a:ln/>
        </p:spPr>
        <p:txBody>
          <a:bodyPr wrap="square" lIns="0" tIns="0" rIns="0" bIns="0" rtlCol="0" anchor="ctr"/>
          <a:lstStyle/>
          <a:p>
            <a:pPr marL="0" indent="0">
              <a:buNone/>
            </a:pPr>
            <a:r>
              <a:rPr lang="en-US" sz="1600" i="1" dirty="0">
                <a:solidFill>
                  <a:srgbClr val="FFFFFF"/>
                </a:solidFill>
                <a:latin typeface="Calibri" pitchFamily="34" charset="0"/>
                <a:ea typeface="Calibri" pitchFamily="34" charset="-122"/>
                <a:cs typeface="Calibri" pitchFamily="34" charset="-120"/>
              </a:rPr>
              <a:t>The agent isn't the point. The system your team builds around it is.</a:t>
            </a:r>
            <a:endParaRPr lang="en-US" sz="1600" dirty="0"/>
          </a:p>
        </p:txBody>
      </p:sp>
      <p:sp>
        <p:nvSpPr>
          <p:cNvPr id="10" name="Text 7"/>
          <p:cNvSpPr/>
          <p:nvPr/>
        </p:nvSpPr>
        <p:spPr>
          <a:xfrm>
            <a:off x="640080" y="4160520"/>
            <a:ext cx="5486400" cy="320040"/>
          </a:xfrm>
          <a:prstGeom prst="rect">
            <a:avLst/>
          </a:prstGeom>
          <a:noFill/>
          <a:ln/>
        </p:spPr>
        <p:txBody>
          <a:bodyPr wrap="square" lIns="0" tIns="0" rIns="0" bIns="0" rtlCol="0" anchor="ctr"/>
          <a:lstStyle/>
          <a:p>
            <a:pPr marL="0" indent="0">
              <a:buNone/>
            </a:pPr>
            <a:r>
              <a:rPr lang="en-US" sz="1600" b="1" dirty="0">
                <a:solidFill>
                  <a:srgbClr val="FFFFFF"/>
                </a:solidFill>
                <a:latin typeface="Calibri" pitchFamily="34" charset="0"/>
                <a:ea typeface="Calibri" pitchFamily="34" charset="-122"/>
                <a:cs typeface="Calibri" pitchFamily="34" charset="-120"/>
              </a:rPr>
              <a:t>Shawn Wallace</a:t>
            </a:r>
            <a:endParaRPr lang="en-US" sz="1600" dirty="0"/>
          </a:p>
        </p:txBody>
      </p:sp>
      <p:sp>
        <p:nvSpPr>
          <p:cNvPr id="11" name="Text 8"/>
          <p:cNvSpPr/>
          <p:nvPr/>
        </p:nvSpPr>
        <p:spPr>
          <a:xfrm>
            <a:off x="640080" y="4434840"/>
            <a:ext cx="5486400" cy="274320"/>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Principal Architect  ·  Centric Consulting</a:t>
            </a:r>
            <a:endParaRPr lang="en-US" sz="1200" dirty="0"/>
          </a:p>
        </p:txBody>
      </p:sp>
      <p:sp>
        <p:nvSpPr>
          <p:cNvPr id="12" name="Text 9"/>
          <p:cNvSpPr/>
          <p:nvPr/>
        </p:nvSpPr>
        <p:spPr>
          <a:xfrm>
            <a:off x="4572000" y="4462272"/>
            <a:ext cx="4114800" cy="274320"/>
          </a:xfrm>
          <a:prstGeom prst="rect">
            <a:avLst/>
          </a:prstGeom>
          <a:noFill/>
          <a:ln/>
        </p:spPr>
        <p:txBody>
          <a:bodyPr wrap="square" lIns="0" tIns="0" rIns="0" bIns="0" rtlCol="0" anchor="ctr"/>
          <a:lstStyle/>
          <a:p>
            <a:pPr marL="0" indent="0" algn="r">
              <a:buNone/>
            </a:pPr>
            <a:r>
              <a:rPr lang="en-US" sz="1100" dirty="0">
                <a:solidFill>
                  <a:srgbClr val="FFD166"/>
                </a:solidFill>
                <a:latin typeface="Calibri" pitchFamily="34" charset="0"/>
                <a:ea typeface="Calibri" pitchFamily="34" charset="-122"/>
                <a:cs typeface="Calibri" pitchFamily="34" charset="-120"/>
              </a:rPr>
              <a:t>github.com/shawnewallace/2026-global-azure-columbus</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F78166"/>
          </a:solidFill>
          <a:ln w="12700">
            <a:solidFill>
              <a:srgbClr val="F78166"/>
            </a:solidFill>
            <a:prstDash val="solid"/>
          </a:ln>
        </p:spPr>
        <p:txBody>
          <a:bodyPr/>
          <a:lstStyle/>
          <a:p>
            <a:endParaRPr lang="en-US"/>
          </a:p>
        </p:txBody>
      </p:sp>
      <p:sp>
        <p:nvSpPr>
          <p:cNvPr id="3" name="Text 1"/>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400" dirty="0">
                <a:solidFill>
                  <a:srgbClr val="F78166"/>
                </a:solidFill>
                <a:latin typeface="Calibri" pitchFamily="34" charset="0"/>
                <a:ea typeface="Calibri" pitchFamily="34" charset="-122"/>
                <a:cs typeface="Calibri" pitchFamily="34" charset="-120"/>
              </a:rPr>
              <a:t>THE HOOK</a:t>
            </a:r>
            <a:endParaRPr lang="en-US" sz="1100" dirty="0"/>
          </a:p>
        </p:txBody>
      </p:sp>
      <p:sp>
        <p:nvSpPr>
          <p:cNvPr id="4" name="Text 2"/>
          <p:cNvSpPr/>
          <p:nvPr/>
        </p:nvSpPr>
        <p:spPr>
          <a:xfrm>
            <a:off x="548640" y="502920"/>
            <a:ext cx="8229600" cy="685800"/>
          </a:xfrm>
          <a:prstGeom prst="rect">
            <a:avLst/>
          </a:prstGeom>
          <a:noFill/>
          <a:ln/>
        </p:spPr>
        <p:txBody>
          <a:bodyPr wrap="square" lIns="0" tIns="0" rIns="0" bIns="0" rtlCol="0" anchor="ctr"/>
          <a:lstStyle/>
          <a:p>
            <a:pPr marL="0" indent="0">
              <a:buNone/>
            </a:pPr>
            <a:r>
              <a:rPr lang="en-US" sz="3000" b="1" dirty="0">
                <a:solidFill>
                  <a:srgbClr val="1E293B"/>
                </a:solidFill>
                <a:latin typeface="Calibri" pitchFamily="34" charset="0"/>
                <a:ea typeface="Calibri" pitchFamily="34" charset="-122"/>
                <a:cs typeface="Calibri" pitchFamily="34" charset="-120"/>
              </a:rPr>
              <a:t>Most teams have solo wins.</a:t>
            </a:r>
            <a:endParaRPr lang="en-US" sz="3000" dirty="0"/>
          </a:p>
        </p:txBody>
      </p:sp>
      <p:sp>
        <p:nvSpPr>
          <p:cNvPr id="5" name="Shape 3"/>
          <p:cNvSpPr/>
          <p:nvPr/>
        </p:nvSpPr>
        <p:spPr>
          <a:xfrm>
            <a:off x="548640" y="1417320"/>
            <a:ext cx="4023360" cy="114300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pic>
        <p:nvPicPr>
          <p:cNvPr id="6" name="Image 0" descr="preencoded.png"/>
          <p:cNvPicPr>
            <a:picLocks noChangeAspect="1"/>
          </p:cNvPicPr>
          <p:nvPr/>
        </p:nvPicPr>
        <p:blipFill>
          <a:blip r:embed="rId3"/>
          <a:stretch>
            <a:fillRect/>
          </a:stretch>
        </p:blipFill>
        <p:spPr>
          <a:xfrm>
            <a:off x="731520" y="1572768"/>
            <a:ext cx="411480" cy="411480"/>
          </a:xfrm>
          <a:prstGeom prst="rect">
            <a:avLst/>
          </a:prstGeom>
        </p:spPr>
      </p:pic>
      <p:sp>
        <p:nvSpPr>
          <p:cNvPr id="7" name="Text 4"/>
          <p:cNvSpPr/>
          <p:nvPr/>
        </p:nvSpPr>
        <p:spPr>
          <a:xfrm>
            <a:off x="1280160" y="1536192"/>
            <a:ext cx="3108960" cy="256032"/>
          </a:xfrm>
          <a:prstGeom prst="rect">
            <a:avLst/>
          </a:prstGeom>
          <a:noFill/>
          <a:ln/>
        </p:spPr>
        <p:txBody>
          <a:bodyPr wrap="square" lIns="0" tIns="0" rIns="0" bIns="0" rtlCol="0" anchor="ctr"/>
          <a:lstStyle/>
          <a:p>
            <a:pPr marL="0" indent="0">
              <a:buNone/>
            </a:pPr>
            <a:r>
              <a:rPr lang="en-US" sz="1100" b="1" kern="0" spc="300" dirty="0">
                <a:solidFill>
                  <a:srgbClr val="F78166"/>
                </a:solidFill>
                <a:latin typeface="Calibri" pitchFamily="34" charset="0"/>
                <a:ea typeface="Calibri" pitchFamily="34" charset="-122"/>
                <a:cs typeface="Calibri" pitchFamily="34" charset="-120"/>
              </a:rPr>
              <a:t>Show of hands:</a:t>
            </a:r>
            <a:endParaRPr lang="en-US" sz="1100" dirty="0"/>
          </a:p>
        </p:txBody>
      </p:sp>
      <p:sp>
        <p:nvSpPr>
          <p:cNvPr id="8" name="Text 5"/>
          <p:cNvSpPr/>
          <p:nvPr/>
        </p:nvSpPr>
        <p:spPr>
          <a:xfrm>
            <a:off x="1280160" y="1783080"/>
            <a:ext cx="3108960" cy="640080"/>
          </a:xfrm>
          <a:prstGeom prst="rect">
            <a:avLst/>
          </a:prstGeom>
          <a:noFill/>
          <a:ln/>
        </p:spPr>
        <p:txBody>
          <a:bodyPr wrap="square" lIns="0" tIns="0" rIns="0" bIns="0" rtlCol="0" anchor="ctr"/>
          <a:lstStyle/>
          <a:p>
            <a:pPr marL="0" indent="0">
              <a:buNone/>
            </a:pPr>
            <a:r>
              <a:rPr lang="en-US" sz="1700" b="1" dirty="0">
                <a:solidFill>
                  <a:srgbClr val="1E293B"/>
                </a:solidFill>
                <a:latin typeface="Calibri" pitchFamily="34" charset="0"/>
                <a:ea typeface="Calibri" pitchFamily="34" charset="-122"/>
                <a:cs typeface="Calibri" pitchFamily="34" charset="-120"/>
              </a:rPr>
              <a:t>Who uses Copilot for autocomplete?</a:t>
            </a:r>
            <a:endParaRPr lang="en-US" sz="1700" dirty="0"/>
          </a:p>
        </p:txBody>
      </p:sp>
      <p:sp>
        <p:nvSpPr>
          <p:cNvPr id="9" name="Shape 6"/>
          <p:cNvSpPr/>
          <p:nvPr/>
        </p:nvSpPr>
        <p:spPr>
          <a:xfrm>
            <a:off x="548640" y="2697480"/>
            <a:ext cx="4023360" cy="118872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pic>
        <p:nvPicPr>
          <p:cNvPr id="10" name="Image 1" descr="preencoded.png"/>
          <p:cNvPicPr>
            <a:picLocks noChangeAspect="1"/>
          </p:cNvPicPr>
          <p:nvPr/>
        </p:nvPicPr>
        <p:blipFill>
          <a:blip r:embed="rId4"/>
          <a:stretch>
            <a:fillRect/>
          </a:stretch>
        </p:blipFill>
        <p:spPr>
          <a:xfrm>
            <a:off x="731520" y="2852928"/>
            <a:ext cx="411480" cy="411480"/>
          </a:xfrm>
          <a:prstGeom prst="rect">
            <a:avLst/>
          </a:prstGeom>
        </p:spPr>
      </p:pic>
      <p:sp>
        <p:nvSpPr>
          <p:cNvPr id="11" name="Text 7"/>
          <p:cNvSpPr/>
          <p:nvPr/>
        </p:nvSpPr>
        <p:spPr>
          <a:xfrm>
            <a:off x="1280160" y="2816352"/>
            <a:ext cx="3108960" cy="256032"/>
          </a:xfrm>
          <a:prstGeom prst="rect">
            <a:avLst/>
          </a:prstGeom>
          <a:noFill/>
          <a:ln/>
        </p:spPr>
        <p:txBody>
          <a:bodyPr wrap="square" lIns="0" tIns="0" rIns="0" bIns="0" rtlCol="0" anchor="ctr"/>
          <a:lstStyle/>
          <a:p>
            <a:pPr marL="0" indent="0">
              <a:buNone/>
            </a:pPr>
            <a:r>
              <a:rPr lang="en-US" sz="1100" b="1" kern="0" spc="300" dirty="0">
                <a:solidFill>
                  <a:srgbClr val="F78166"/>
                </a:solidFill>
                <a:latin typeface="Calibri" pitchFamily="34" charset="0"/>
                <a:ea typeface="Calibri" pitchFamily="34" charset="-122"/>
                <a:cs typeface="Calibri" pitchFamily="34" charset="-120"/>
              </a:rPr>
              <a:t>Now keep it up if:</a:t>
            </a:r>
            <a:endParaRPr lang="en-US" sz="1100" dirty="0"/>
          </a:p>
        </p:txBody>
      </p:sp>
      <p:sp>
        <p:nvSpPr>
          <p:cNvPr id="12" name="Text 8"/>
          <p:cNvSpPr/>
          <p:nvPr/>
        </p:nvSpPr>
        <p:spPr>
          <a:xfrm>
            <a:off x="1280160" y="3063240"/>
            <a:ext cx="3108960" cy="731520"/>
          </a:xfrm>
          <a:prstGeom prst="rect">
            <a:avLst/>
          </a:prstGeom>
          <a:noFill/>
          <a:ln/>
        </p:spPr>
        <p:txBody>
          <a:bodyPr wrap="square" lIns="0" tIns="0" rIns="0" bIns="0" rtlCol="0" anchor="ctr"/>
          <a:lstStyle/>
          <a:p>
            <a:pPr marL="0" indent="0">
              <a:buNone/>
            </a:pPr>
            <a:r>
              <a:rPr lang="en-US" sz="1700" b="1" dirty="0">
                <a:solidFill>
                  <a:srgbClr val="1E293B"/>
                </a:solidFill>
                <a:latin typeface="Calibri" pitchFamily="34" charset="0"/>
                <a:ea typeface="Calibri" pitchFamily="34" charset="-122"/>
                <a:cs typeface="Calibri" pitchFamily="34" charset="-120"/>
              </a:rPr>
              <a:t>Your whole team is faster because of it.</a:t>
            </a:r>
            <a:endParaRPr lang="en-US" sz="1700" dirty="0"/>
          </a:p>
        </p:txBody>
      </p:sp>
      <p:sp>
        <p:nvSpPr>
          <p:cNvPr id="13" name="Shape 9"/>
          <p:cNvSpPr/>
          <p:nvPr/>
        </p:nvSpPr>
        <p:spPr>
          <a:xfrm>
            <a:off x="4846320" y="1417320"/>
            <a:ext cx="3749040" cy="2468880"/>
          </a:xfrm>
          <a:prstGeom prst="rect">
            <a:avLst/>
          </a:prstGeom>
          <a:solidFill>
            <a:srgbClr val="0B1F3A"/>
          </a:solidFill>
          <a:ln w="12700">
            <a:solidFill>
              <a:srgbClr val="0B1F3A"/>
            </a:solidFill>
            <a:prstDash val="solid"/>
          </a:ln>
          <a:effectLst>
            <a:outerShdw blurRad="101600" dist="25400" dir="8100000" algn="bl" rotWithShape="0">
              <a:srgbClr val="000000">
                <a:alpha val="12000"/>
              </a:srgbClr>
            </a:outerShdw>
          </a:effectLst>
        </p:spPr>
        <p:txBody>
          <a:bodyPr/>
          <a:lstStyle/>
          <a:p>
            <a:endParaRPr lang="en-US"/>
          </a:p>
        </p:txBody>
      </p:sp>
      <p:sp>
        <p:nvSpPr>
          <p:cNvPr id="14" name="Shape 10"/>
          <p:cNvSpPr/>
          <p:nvPr/>
        </p:nvSpPr>
        <p:spPr>
          <a:xfrm>
            <a:off x="4846320" y="1417320"/>
            <a:ext cx="73152" cy="2468880"/>
          </a:xfrm>
          <a:prstGeom prst="rect">
            <a:avLst/>
          </a:prstGeom>
          <a:solidFill>
            <a:srgbClr val="F78166"/>
          </a:solidFill>
          <a:ln w="12700">
            <a:solidFill>
              <a:srgbClr val="F78166"/>
            </a:solidFill>
            <a:prstDash val="solid"/>
          </a:ln>
        </p:spPr>
        <p:txBody>
          <a:bodyPr/>
          <a:lstStyle/>
          <a:p>
            <a:endParaRPr lang="en-US"/>
          </a:p>
        </p:txBody>
      </p:sp>
      <p:sp>
        <p:nvSpPr>
          <p:cNvPr id="15" name="Text 11"/>
          <p:cNvSpPr/>
          <p:nvPr/>
        </p:nvSpPr>
        <p:spPr>
          <a:xfrm>
            <a:off x="5120640" y="1600200"/>
            <a:ext cx="3383280" cy="274320"/>
          </a:xfrm>
          <a:prstGeom prst="rect">
            <a:avLst/>
          </a:prstGeom>
          <a:noFill/>
          <a:ln/>
        </p:spPr>
        <p:txBody>
          <a:bodyPr wrap="square" lIns="0" tIns="0" rIns="0" bIns="0" rtlCol="0" anchor="ctr"/>
          <a:lstStyle/>
          <a:p>
            <a:pPr marL="0" indent="0">
              <a:buNone/>
            </a:pPr>
            <a:r>
              <a:rPr lang="en-US" sz="1100" b="1" kern="0" spc="400" dirty="0">
                <a:solidFill>
                  <a:srgbClr val="FFD166"/>
                </a:solidFill>
                <a:latin typeface="Calibri" pitchFamily="34" charset="0"/>
                <a:ea typeface="Calibri" pitchFamily="34" charset="-122"/>
                <a:cs typeface="Calibri" pitchFamily="34" charset="-120"/>
              </a:rPr>
              <a:t>THE INSIGHT</a:t>
            </a:r>
            <a:endParaRPr lang="en-US" sz="1100" dirty="0"/>
          </a:p>
        </p:txBody>
      </p:sp>
      <p:sp>
        <p:nvSpPr>
          <p:cNvPr id="16" name="Text 12"/>
          <p:cNvSpPr/>
          <p:nvPr/>
        </p:nvSpPr>
        <p:spPr>
          <a:xfrm>
            <a:off x="5120640" y="1874520"/>
            <a:ext cx="3383280" cy="1097280"/>
          </a:xfrm>
          <a:prstGeom prst="rect">
            <a:avLst/>
          </a:prstGeom>
          <a:noFill/>
          <a:ln/>
        </p:spPr>
        <p:txBody>
          <a:bodyPr wrap="square" lIns="0" tIns="0" rIns="0" bIns="0"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The faster teams have reorganized how work gets done.</a:t>
            </a:r>
            <a:endParaRPr lang="en-US" sz="1900" dirty="0"/>
          </a:p>
        </p:txBody>
      </p:sp>
      <p:sp>
        <p:nvSpPr>
          <p:cNvPr id="17" name="Text 13"/>
          <p:cNvSpPr/>
          <p:nvPr/>
        </p:nvSpPr>
        <p:spPr>
          <a:xfrm>
            <a:off x="5120640" y="3063240"/>
            <a:ext cx="3383280" cy="640080"/>
          </a:xfrm>
          <a:prstGeom prst="rect">
            <a:avLst/>
          </a:prstGeom>
          <a:noFill/>
          <a:ln/>
        </p:spPr>
        <p:txBody>
          <a:bodyPr wrap="square" lIns="0" tIns="0" rIns="0" bIns="0" rtlCol="0" anchor="ctr"/>
          <a:lstStyle/>
          <a:p>
            <a:pPr marL="0" indent="0">
              <a:buNone/>
            </a:pPr>
            <a:r>
              <a:rPr lang="en-US" sz="1300" i="1" dirty="0">
                <a:solidFill>
                  <a:srgbClr val="4F9DE6"/>
                </a:solidFill>
                <a:latin typeface="Calibri" pitchFamily="34" charset="0"/>
                <a:ea typeface="Calibri" pitchFamily="34" charset="-122"/>
                <a:cs typeface="Calibri" pitchFamily="34" charset="-120"/>
              </a:rPr>
              <a:t>Solo wins don't compound. Team systems do.</a:t>
            </a:r>
            <a:endParaRPr lang="en-US" sz="1300" dirty="0"/>
          </a:p>
        </p:txBody>
      </p:sp>
      <p:sp>
        <p:nvSpPr>
          <p:cNvPr id="18" name="Shape 14"/>
          <p:cNvSpPr/>
          <p:nvPr/>
        </p:nvSpPr>
        <p:spPr>
          <a:xfrm>
            <a:off x="548640" y="4160520"/>
            <a:ext cx="8046720" cy="502920"/>
          </a:xfrm>
          <a:prstGeom prst="rect">
            <a:avLst/>
          </a:prstGeom>
          <a:solidFill>
            <a:srgbClr val="0F1729"/>
          </a:solidFill>
          <a:ln w="12700">
            <a:solidFill>
              <a:srgbClr val="0F1729"/>
            </a:solidFill>
            <a:prstDash val="solid"/>
          </a:ln>
        </p:spPr>
        <p:txBody>
          <a:bodyPr/>
          <a:lstStyle/>
          <a:p>
            <a:endParaRPr lang="en-US"/>
          </a:p>
        </p:txBody>
      </p:sp>
      <p:sp>
        <p:nvSpPr>
          <p:cNvPr id="19" name="Text 15"/>
          <p:cNvSpPr/>
          <p:nvPr/>
        </p:nvSpPr>
        <p:spPr>
          <a:xfrm>
            <a:off x="731520" y="4160520"/>
            <a:ext cx="7863840" cy="502920"/>
          </a:xfrm>
          <a:prstGeom prst="rect">
            <a:avLst/>
          </a:prstGeom>
          <a:noFill/>
          <a:ln/>
        </p:spPr>
        <p:txBody>
          <a:bodyPr wrap="square" lIns="0" tIns="0" rIns="0" bIns="0" rtlCol="0" anchor="ctr"/>
          <a:lstStyle/>
          <a:p>
            <a:pPr marL="0" indent="0">
              <a:buNone/>
            </a:pPr>
            <a:r>
              <a:rPr lang="en-US" sz="1400" b="1" i="1" dirty="0">
                <a:solidFill>
                  <a:srgbClr val="FFFFFF"/>
                </a:solidFill>
                <a:latin typeface="Calibri" pitchFamily="34" charset="0"/>
                <a:ea typeface="Calibri" pitchFamily="34" charset="-122"/>
                <a:cs typeface="Calibri" pitchFamily="34" charset="-120"/>
              </a:rPr>
              <a:t>The agent isn't the point. The system your team builds around it is.</a:t>
            </a:r>
            <a:endParaRPr lang="en-US" sz="1400" dirty="0"/>
          </a:p>
        </p:txBody>
      </p:sp>
      <p:sp>
        <p:nvSpPr>
          <p:cNvPr id="20" name="Text 16"/>
          <p:cNvSpPr/>
          <p:nvPr/>
        </p:nvSpPr>
        <p:spPr>
          <a:xfrm>
            <a:off x="548640" y="4864608"/>
            <a:ext cx="64008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Agentic-First with GitHub Copilot  |  Global Azure Columbus 2026</a:t>
            </a:r>
            <a:endParaRPr lang="en-US" sz="900" dirty="0"/>
          </a:p>
        </p:txBody>
      </p:sp>
      <p:sp>
        <p:nvSpPr>
          <p:cNvPr id="21" name="Text 17"/>
          <p:cNvSpPr/>
          <p:nvPr/>
        </p:nvSpPr>
        <p:spPr>
          <a:xfrm>
            <a:off x="8229600" y="4864608"/>
            <a:ext cx="54864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729"/>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F78166"/>
          </a:solidFill>
          <a:ln w="12700">
            <a:solidFill>
              <a:srgbClr val="F78166"/>
            </a:solidFill>
            <a:prstDash val="solid"/>
          </a:ln>
        </p:spPr>
        <p:txBody>
          <a:bodyPr/>
          <a:lstStyle/>
          <a:p>
            <a:endParaRPr lang="en-US"/>
          </a:p>
        </p:txBody>
      </p:sp>
      <p:sp>
        <p:nvSpPr>
          <p:cNvPr id="3" name="Text 1"/>
          <p:cNvSpPr/>
          <p:nvPr/>
        </p:nvSpPr>
        <p:spPr>
          <a:xfrm>
            <a:off x="365760" y="164592"/>
            <a:ext cx="8412480" cy="228600"/>
          </a:xfrm>
          <a:prstGeom prst="rect">
            <a:avLst/>
          </a:prstGeom>
          <a:noFill/>
          <a:ln/>
        </p:spPr>
        <p:txBody>
          <a:bodyPr wrap="square" lIns="0" tIns="0" rIns="0" bIns="0" rtlCol="0" anchor="ctr"/>
          <a:lstStyle/>
          <a:p>
            <a:pPr marL="0" indent="0">
              <a:buNone/>
            </a:pPr>
            <a:r>
              <a:rPr lang="en-US" sz="1000" b="1" kern="0" spc="500" dirty="0">
                <a:solidFill>
                  <a:srgbClr val="F78166"/>
                </a:solidFill>
                <a:latin typeface="Calibri" pitchFamily="34" charset="0"/>
                <a:ea typeface="Calibri" pitchFamily="34" charset="-122"/>
                <a:cs typeface="Calibri" pitchFamily="34" charset="-120"/>
              </a:rPr>
              <a:t>FRAMEWORK</a:t>
            </a:r>
            <a:endParaRPr lang="en-US" sz="1000" dirty="0"/>
          </a:p>
        </p:txBody>
      </p:sp>
      <p:sp>
        <p:nvSpPr>
          <p:cNvPr id="4" name="Text 2"/>
          <p:cNvSpPr/>
          <p:nvPr/>
        </p:nvSpPr>
        <p:spPr>
          <a:xfrm>
            <a:off x="365760" y="365760"/>
            <a:ext cx="8412480" cy="411480"/>
          </a:xfrm>
          <a:prstGeom prst="rect">
            <a:avLst/>
          </a:prstGeom>
          <a:noFill/>
          <a:ln/>
        </p:spPr>
        <p:txBody>
          <a:bodyPr wrap="square" lIns="0" tIns="0" rIns="0" bIns="0" rtlCol="0" anchor="ctr"/>
          <a:lstStyle/>
          <a:p>
            <a:pPr marL="0" indent="0">
              <a:buNone/>
            </a:pPr>
            <a:r>
              <a:rPr lang="en-US" sz="2200" b="1" dirty="0">
                <a:solidFill>
                  <a:srgbClr val="FFFFFF"/>
                </a:solidFill>
                <a:latin typeface="Calibri" pitchFamily="34" charset="0"/>
                <a:ea typeface="Calibri" pitchFamily="34" charset="-122"/>
                <a:cs typeface="Calibri" pitchFamily="34" charset="-120"/>
              </a:rPr>
              <a:t>Agentic AI Maturity Model</a:t>
            </a:r>
            <a:endParaRPr lang="en-US" sz="2200" dirty="0"/>
          </a:p>
        </p:txBody>
      </p:sp>
      <p:sp>
        <p:nvSpPr>
          <p:cNvPr id="5" name="Text 3"/>
          <p:cNvSpPr/>
          <p:nvPr/>
        </p:nvSpPr>
        <p:spPr>
          <a:xfrm>
            <a:off x="365760" y="749808"/>
            <a:ext cx="8412480" cy="228600"/>
          </a:xfrm>
          <a:prstGeom prst="rect">
            <a:avLst/>
          </a:prstGeom>
          <a:noFill/>
          <a:ln/>
        </p:spPr>
        <p:txBody>
          <a:bodyPr wrap="square" lIns="0" tIns="0" rIns="0" bIns="0" rtlCol="0" anchor="ctr"/>
          <a:lstStyle/>
          <a:p>
            <a:pPr marL="0" indent="0">
              <a:buNone/>
            </a:pPr>
            <a:r>
              <a:rPr lang="en-US" sz="1100" i="1" dirty="0">
                <a:solidFill>
                  <a:srgbClr val="94A3B8"/>
                </a:solidFill>
                <a:latin typeface="Calibri" pitchFamily="34" charset="0"/>
                <a:ea typeface="Calibri" pitchFamily="34" charset="-122"/>
                <a:cs typeface="Calibri" pitchFamily="34" charset="-120"/>
              </a:rPr>
              <a:t>Coding &amp; Application Modernization</a:t>
            </a:r>
            <a:endParaRPr lang="en-US" sz="1100" dirty="0"/>
          </a:p>
        </p:txBody>
      </p:sp>
      <p:sp>
        <p:nvSpPr>
          <p:cNvPr id="6" name="Shape 4"/>
          <p:cNvSpPr/>
          <p:nvPr/>
        </p:nvSpPr>
        <p:spPr>
          <a:xfrm>
            <a:off x="283464" y="1097280"/>
            <a:ext cx="1627632" cy="3383280"/>
          </a:xfrm>
          <a:prstGeom prst="rect">
            <a:avLst/>
          </a:prstGeom>
          <a:solidFill>
            <a:srgbClr val="13294B"/>
          </a:solidFill>
          <a:ln w="12700">
            <a:solidFill>
              <a:srgbClr val="1F3A66"/>
            </a:solidFill>
            <a:prstDash val="solid"/>
          </a:ln>
          <a:effectLst>
            <a:outerShdw blurRad="101600" dist="25400" dir="8100000" algn="bl" rotWithShape="0">
              <a:srgbClr val="000000">
                <a:alpha val="12000"/>
              </a:srgbClr>
            </a:outerShdw>
          </a:effectLst>
        </p:spPr>
        <p:txBody>
          <a:bodyPr/>
          <a:lstStyle/>
          <a:p>
            <a:endParaRPr lang="en-US"/>
          </a:p>
        </p:txBody>
      </p:sp>
      <p:sp>
        <p:nvSpPr>
          <p:cNvPr id="7" name="Shape 5"/>
          <p:cNvSpPr/>
          <p:nvPr/>
        </p:nvSpPr>
        <p:spPr>
          <a:xfrm>
            <a:off x="283464" y="1097280"/>
            <a:ext cx="1627632" cy="73152"/>
          </a:xfrm>
          <a:prstGeom prst="rect">
            <a:avLst/>
          </a:prstGeom>
          <a:solidFill>
            <a:srgbClr val="FFD166"/>
          </a:solidFill>
          <a:ln w="12700">
            <a:solidFill>
              <a:srgbClr val="FFD166"/>
            </a:solidFill>
            <a:prstDash val="solid"/>
          </a:ln>
        </p:spPr>
        <p:txBody>
          <a:bodyPr/>
          <a:lstStyle/>
          <a:p>
            <a:endParaRPr lang="en-US"/>
          </a:p>
        </p:txBody>
      </p:sp>
      <p:sp>
        <p:nvSpPr>
          <p:cNvPr id="8" name="Text 6"/>
          <p:cNvSpPr/>
          <p:nvPr/>
        </p:nvSpPr>
        <p:spPr>
          <a:xfrm>
            <a:off x="420624" y="1261872"/>
            <a:ext cx="1353312" cy="228600"/>
          </a:xfrm>
          <a:prstGeom prst="rect">
            <a:avLst/>
          </a:prstGeom>
          <a:noFill/>
          <a:ln/>
        </p:spPr>
        <p:txBody>
          <a:bodyPr wrap="square" lIns="0" tIns="0" rIns="0" bIns="0" rtlCol="0" anchor="ctr"/>
          <a:lstStyle/>
          <a:p>
            <a:pPr marL="0" indent="0">
              <a:buNone/>
            </a:pPr>
            <a:r>
              <a:rPr lang="en-US" sz="1000" b="1" kern="0" spc="400" dirty="0">
                <a:solidFill>
                  <a:srgbClr val="FFD166"/>
                </a:solidFill>
                <a:latin typeface="Calibri" pitchFamily="34" charset="0"/>
                <a:ea typeface="Calibri" pitchFamily="34" charset="-122"/>
                <a:cs typeface="Calibri" pitchFamily="34" charset="-120"/>
              </a:rPr>
              <a:t>LEVEL 1</a:t>
            </a:r>
            <a:endParaRPr lang="en-US" sz="1000" dirty="0"/>
          </a:p>
        </p:txBody>
      </p:sp>
      <p:sp>
        <p:nvSpPr>
          <p:cNvPr id="9" name="Text 7"/>
          <p:cNvSpPr/>
          <p:nvPr/>
        </p:nvSpPr>
        <p:spPr>
          <a:xfrm>
            <a:off x="420624" y="1481328"/>
            <a:ext cx="1353312" cy="5486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AI Autocomplete</a:t>
            </a:r>
            <a:endParaRPr lang="en-US" sz="1500" dirty="0"/>
          </a:p>
        </p:txBody>
      </p:sp>
      <p:sp>
        <p:nvSpPr>
          <p:cNvPr id="10" name="Text 8"/>
          <p:cNvSpPr/>
          <p:nvPr/>
        </p:nvSpPr>
        <p:spPr>
          <a:xfrm>
            <a:off x="420624" y="2057400"/>
            <a:ext cx="1353312" cy="201168"/>
          </a:xfrm>
          <a:prstGeom prst="rect">
            <a:avLst/>
          </a:prstGeom>
          <a:noFill/>
          <a:ln/>
        </p:spPr>
        <p:txBody>
          <a:bodyPr wrap="square" lIns="0" tIns="0" rIns="0" bIns="0" rtlCol="0" anchor="ctr"/>
          <a:lstStyle/>
          <a:p>
            <a:pPr marL="0" indent="0">
              <a:buNone/>
            </a:pPr>
            <a:r>
              <a:rPr lang="en-US" sz="800" b="1" kern="0" spc="300" dirty="0">
                <a:solidFill>
                  <a:srgbClr val="F78166"/>
                </a:solidFill>
                <a:latin typeface="Calibri" pitchFamily="34" charset="0"/>
                <a:ea typeface="Calibri" pitchFamily="34" charset="-122"/>
                <a:cs typeface="Calibri" pitchFamily="34" charset="-120"/>
              </a:rPr>
              <a:t>INTEGRATION</a:t>
            </a:r>
            <a:endParaRPr lang="en-US" sz="800" dirty="0"/>
          </a:p>
        </p:txBody>
      </p:sp>
      <p:sp>
        <p:nvSpPr>
          <p:cNvPr id="11" name="Text 9"/>
          <p:cNvSpPr/>
          <p:nvPr/>
        </p:nvSpPr>
        <p:spPr>
          <a:xfrm>
            <a:off x="420624" y="2240280"/>
            <a:ext cx="1353312" cy="256032"/>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IDE Plugin</a:t>
            </a:r>
            <a:endParaRPr lang="en-US" sz="1100" dirty="0"/>
          </a:p>
        </p:txBody>
      </p:sp>
      <p:sp>
        <p:nvSpPr>
          <p:cNvPr id="12" name="Text 10"/>
          <p:cNvSpPr/>
          <p:nvPr/>
        </p:nvSpPr>
        <p:spPr>
          <a:xfrm>
            <a:off x="420624" y="2542032"/>
            <a:ext cx="1353312" cy="68580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Inline suggestions; integration beyond the editor is rare.</a:t>
            </a:r>
            <a:endParaRPr lang="en-US" sz="900" dirty="0"/>
          </a:p>
        </p:txBody>
      </p:sp>
      <p:sp>
        <p:nvSpPr>
          <p:cNvPr id="13" name="Text 11"/>
          <p:cNvSpPr/>
          <p:nvPr/>
        </p:nvSpPr>
        <p:spPr>
          <a:xfrm>
            <a:off x="420624" y="3246120"/>
            <a:ext cx="1353312" cy="182880"/>
          </a:xfrm>
          <a:prstGeom prst="rect">
            <a:avLst/>
          </a:prstGeom>
          <a:noFill/>
          <a:ln/>
        </p:spPr>
        <p:txBody>
          <a:bodyPr wrap="square" lIns="0" tIns="0" rIns="0" bIns="0" rtlCol="0" anchor="ctr"/>
          <a:lstStyle/>
          <a:p>
            <a:pPr marL="0" indent="0">
              <a:buNone/>
            </a:pPr>
            <a:r>
              <a:rPr lang="en-US" sz="800" b="1" kern="0" spc="300" dirty="0">
                <a:solidFill>
                  <a:srgbClr val="F78166"/>
                </a:solidFill>
                <a:latin typeface="Calibri" pitchFamily="34" charset="0"/>
                <a:ea typeface="Calibri" pitchFamily="34" charset="-122"/>
                <a:cs typeface="Calibri" pitchFamily="34" charset="-120"/>
              </a:rPr>
              <a:t>AI / HUMAN RATIO</a:t>
            </a:r>
            <a:endParaRPr lang="en-US" sz="800" dirty="0"/>
          </a:p>
        </p:txBody>
      </p:sp>
      <p:sp>
        <p:nvSpPr>
          <p:cNvPr id="14" name="Shape 12"/>
          <p:cNvSpPr/>
          <p:nvPr/>
        </p:nvSpPr>
        <p:spPr>
          <a:xfrm>
            <a:off x="420624" y="3438144"/>
            <a:ext cx="1353312" cy="109728"/>
          </a:xfrm>
          <a:prstGeom prst="rect">
            <a:avLst/>
          </a:prstGeom>
          <a:solidFill>
            <a:srgbClr val="0F1729"/>
          </a:solidFill>
          <a:ln w="12700">
            <a:solidFill>
              <a:srgbClr val="0F1729"/>
            </a:solidFill>
            <a:prstDash val="solid"/>
          </a:ln>
        </p:spPr>
        <p:txBody>
          <a:bodyPr/>
          <a:lstStyle/>
          <a:p>
            <a:endParaRPr lang="en-US"/>
          </a:p>
        </p:txBody>
      </p:sp>
      <p:sp>
        <p:nvSpPr>
          <p:cNvPr id="15" name="Shape 13"/>
          <p:cNvSpPr/>
          <p:nvPr/>
        </p:nvSpPr>
        <p:spPr>
          <a:xfrm>
            <a:off x="420624" y="3438144"/>
            <a:ext cx="135331" cy="109728"/>
          </a:xfrm>
          <a:prstGeom prst="rect">
            <a:avLst/>
          </a:prstGeom>
          <a:solidFill>
            <a:srgbClr val="4F9DE6"/>
          </a:solidFill>
          <a:ln w="12700">
            <a:solidFill>
              <a:srgbClr val="4F9DE6"/>
            </a:solidFill>
            <a:prstDash val="solid"/>
          </a:ln>
        </p:spPr>
        <p:txBody>
          <a:bodyPr/>
          <a:lstStyle/>
          <a:p>
            <a:endParaRPr lang="en-US"/>
          </a:p>
        </p:txBody>
      </p:sp>
      <p:sp>
        <p:nvSpPr>
          <p:cNvPr id="16" name="Text 14"/>
          <p:cNvSpPr/>
          <p:nvPr/>
        </p:nvSpPr>
        <p:spPr>
          <a:xfrm>
            <a:off x="420624" y="3566160"/>
            <a:ext cx="676656" cy="201168"/>
          </a:xfrm>
          <a:prstGeom prst="rect">
            <a:avLst/>
          </a:prstGeom>
          <a:noFill/>
          <a:ln/>
        </p:spPr>
        <p:txBody>
          <a:bodyPr wrap="square" lIns="0" tIns="0" rIns="0" bIns="0" rtlCol="0" anchor="ctr"/>
          <a:lstStyle/>
          <a:p>
            <a:pPr marL="0" indent="0">
              <a:buNone/>
            </a:pPr>
            <a:r>
              <a:rPr lang="en-US" sz="800" b="1" dirty="0">
                <a:solidFill>
                  <a:srgbClr val="4F9DE6"/>
                </a:solidFill>
                <a:latin typeface="Calibri" pitchFamily="34" charset="0"/>
                <a:ea typeface="Calibri" pitchFamily="34" charset="-122"/>
                <a:cs typeface="Calibri" pitchFamily="34" charset="-120"/>
              </a:rPr>
              <a:t>10% AI</a:t>
            </a:r>
            <a:endParaRPr lang="en-US" sz="800" dirty="0"/>
          </a:p>
        </p:txBody>
      </p:sp>
      <p:sp>
        <p:nvSpPr>
          <p:cNvPr id="17" name="Text 15"/>
          <p:cNvSpPr/>
          <p:nvPr/>
        </p:nvSpPr>
        <p:spPr>
          <a:xfrm>
            <a:off x="1097280" y="3566160"/>
            <a:ext cx="676656" cy="201168"/>
          </a:xfrm>
          <a:prstGeom prst="rect">
            <a:avLst/>
          </a:prstGeom>
          <a:noFill/>
          <a:ln/>
        </p:spPr>
        <p:txBody>
          <a:bodyPr wrap="square" lIns="0" tIns="0" rIns="0" bIns="0" rtlCol="0" anchor="ctr"/>
          <a:lstStyle/>
          <a:p>
            <a:pPr marL="0" indent="0" algn="r">
              <a:buNone/>
            </a:pPr>
            <a:r>
              <a:rPr lang="en-US" sz="800" b="1" dirty="0">
                <a:solidFill>
                  <a:srgbClr val="94A3B8"/>
                </a:solidFill>
                <a:latin typeface="Calibri" pitchFamily="34" charset="0"/>
                <a:ea typeface="Calibri" pitchFamily="34" charset="-122"/>
                <a:cs typeface="Calibri" pitchFamily="34" charset="-120"/>
              </a:rPr>
              <a:t>90% Human</a:t>
            </a:r>
            <a:endParaRPr lang="en-US" sz="800" dirty="0"/>
          </a:p>
        </p:txBody>
      </p:sp>
      <p:sp>
        <p:nvSpPr>
          <p:cNvPr id="18" name="Text 16"/>
          <p:cNvSpPr/>
          <p:nvPr/>
        </p:nvSpPr>
        <p:spPr>
          <a:xfrm>
            <a:off x="374904" y="3730752"/>
            <a:ext cx="1444752" cy="164592"/>
          </a:xfrm>
          <a:prstGeom prst="rect">
            <a:avLst/>
          </a:prstGeom>
          <a:noFill/>
          <a:ln/>
        </p:spPr>
        <p:txBody>
          <a:bodyPr wrap="square" lIns="0" tIns="0" rIns="0" bIns="0" rtlCol="0" anchor="ctr"/>
          <a:lstStyle/>
          <a:p>
            <a:pPr marL="0" indent="0" algn="ctr">
              <a:buNone/>
            </a:pPr>
            <a:r>
              <a:rPr lang="en-US" sz="700" b="1" kern="0" spc="300" dirty="0">
                <a:solidFill>
                  <a:srgbClr val="94A3B8"/>
                </a:solidFill>
                <a:latin typeface="Calibri" pitchFamily="34" charset="0"/>
                <a:ea typeface="Calibri" pitchFamily="34" charset="-122"/>
                <a:cs typeface="Calibri" pitchFamily="34" charset="-120"/>
              </a:rPr>
              <a:t>PRODUCTIVITY</a:t>
            </a:r>
            <a:endParaRPr lang="en-US" sz="700" dirty="0"/>
          </a:p>
        </p:txBody>
      </p:sp>
      <p:sp>
        <p:nvSpPr>
          <p:cNvPr id="19" name="Text 17"/>
          <p:cNvSpPr/>
          <p:nvPr/>
        </p:nvSpPr>
        <p:spPr>
          <a:xfrm>
            <a:off x="374904" y="3886200"/>
            <a:ext cx="1444752" cy="29260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~10-15%</a:t>
            </a:r>
            <a:endParaRPr lang="en-US" sz="1600" dirty="0"/>
          </a:p>
        </p:txBody>
      </p:sp>
      <p:sp>
        <p:nvSpPr>
          <p:cNvPr id="20" name="Shape 18"/>
          <p:cNvSpPr/>
          <p:nvPr/>
        </p:nvSpPr>
        <p:spPr>
          <a:xfrm>
            <a:off x="649224" y="4160520"/>
            <a:ext cx="896112" cy="228600"/>
          </a:xfrm>
          <a:prstGeom prst="rect">
            <a:avLst/>
          </a:prstGeom>
          <a:solidFill>
            <a:srgbClr val="4F9DE6"/>
          </a:solidFill>
          <a:ln w="12700">
            <a:solidFill>
              <a:srgbClr val="4F9DE6"/>
            </a:solidFill>
            <a:prstDash val="solid"/>
          </a:ln>
        </p:spPr>
        <p:txBody>
          <a:bodyPr/>
          <a:lstStyle/>
          <a:p>
            <a:endParaRPr lang="en-US"/>
          </a:p>
        </p:txBody>
      </p:sp>
      <p:sp>
        <p:nvSpPr>
          <p:cNvPr id="21" name="Text 19"/>
          <p:cNvSpPr/>
          <p:nvPr/>
        </p:nvSpPr>
        <p:spPr>
          <a:xfrm>
            <a:off x="649224" y="4160520"/>
            <a:ext cx="896112" cy="228600"/>
          </a:xfrm>
          <a:prstGeom prst="rect">
            <a:avLst/>
          </a:prstGeom>
          <a:noFill/>
          <a:ln/>
        </p:spPr>
        <p:txBody>
          <a:bodyPr wrap="square" lIns="0" tIns="0" rIns="0" bIns="0" rtlCol="0" anchor="ctr"/>
          <a:lstStyle/>
          <a:p>
            <a:pPr marL="0" indent="0" algn="ctr">
              <a:buNone/>
            </a:pPr>
            <a:r>
              <a:rPr lang="en-US" sz="900" b="1" kern="0" spc="200" dirty="0">
                <a:solidFill>
                  <a:srgbClr val="0F1729"/>
                </a:solidFill>
                <a:latin typeface="Calibri" pitchFamily="34" charset="0"/>
                <a:ea typeface="Calibri" pitchFamily="34" charset="-122"/>
                <a:cs typeface="Calibri" pitchFamily="34" charset="-120"/>
              </a:rPr>
              <a:t>Producer</a:t>
            </a:r>
            <a:endParaRPr lang="en-US" sz="900" dirty="0"/>
          </a:p>
        </p:txBody>
      </p:sp>
      <p:sp>
        <p:nvSpPr>
          <p:cNvPr id="22" name="Shape 20"/>
          <p:cNvSpPr/>
          <p:nvPr/>
        </p:nvSpPr>
        <p:spPr>
          <a:xfrm>
            <a:off x="2020824" y="1097280"/>
            <a:ext cx="1627632" cy="3383280"/>
          </a:xfrm>
          <a:prstGeom prst="rect">
            <a:avLst/>
          </a:prstGeom>
          <a:solidFill>
            <a:srgbClr val="13294B"/>
          </a:solidFill>
          <a:ln w="12700">
            <a:solidFill>
              <a:srgbClr val="1F3A66"/>
            </a:solidFill>
            <a:prstDash val="solid"/>
          </a:ln>
          <a:effectLst>
            <a:outerShdw blurRad="101600" dist="25400" dir="8100000" algn="bl" rotWithShape="0">
              <a:srgbClr val="000000">
                <a:alpha val="12000"/>
              </a:srgbClr>
            </a:outerShdw>
          </a:effectLst>
        </p:spPr>
        <p:txBody>
          <a:bodyPr/>
          <a:lstStyle/>
          <a:p>
            <a:endParaRPr lang="en-US"/>
          </a:p>
        </p:txBody>
      </p:sp>
      <p:sp>
        <p:nvSpPr>
          <p:cNvPr id="23" name="Shape 21"/>
          <p:cNvSpPr/>
          <p:nvPr/>
        </p:nvSpPr>
        <p:spPr>
          <a:xfrm>
            <a:off x="2020824" y="1097280"/>
            <a:ext cx="1627632" cy="73152"/>
          </a:xfrm>
          <a:prstGeom prst="rect">
            <a:avLst/>
          </a:prstGeom>
          <a:solidFill>
            <a:srgbClr val="FFD166"/>
          </a:solidFill>
          <a:ln w="12700">
            <a:solidFill>
              <a:srgbClr val="FFD166"/>
            </a:solidFill>
            <a:prstDash val="solid"/>
          </a:ln>
        </p:spPr>
        <p:txBody>
          <a:bodyPr/>
          <a:lstStyle/>
          <a:p>
            <a:endParaRPr lang="en-US"/>
          </a:p>
        </p:txBody>
      </p:sp>
      <p:sp>
        <p:nvSpPr>
          <p:cNvPr id="24" name="Text 22"/>
          <p:cNvSpPr/>
          <p:nvPr/>
        </p:nvSpPr>
        <p:spPr>
          <a:xfrm>
            <a:off x="2157984" y="1261872"/>
            <a:ext cx="1353312" cy="228600"/>
          </a:xfrm>
          <a:prstGeom prst="rect">
            <a:avLst/>
          </a:prstGeom>
          <a:noFill/>
          <a:ln/>
        </p:spPr>
        <p:txBody>
          <a:bodyPr wrap="square" lIns="0" tIns="0" rIns="0" bIns="0" rtlCol="0" anchor="ctr"/>
          <a:lstStyle/>
          <a:p>
            <a:pPr marL="0" indent="0">
              <a:buNone/>
            </a:pPr>
            <a:r>
              <a:rPr lang="en-US" sz="1000" b="1" kern="0" spc="400" dirty="0">
                <a:solidFill>
                  <a:srgbClr val="FFD166"/>
                </a:solidFill>
                <a:latin typeface="Calibri" pitchFamily="34" charset="0"/>
                <a:ea typeface="Calibri" pitchFamily="34" charset="-122"/>
                <a:cs typeface="Calibri" pitchFamily="34" charset="-120"/>
              </a:rPr>
              <a:t>LEVEL 2</a:t>
            </a:r>
            <a:endParaRPr lang="en-US" sz="1000" dirty="0"/>
          </a:p>
        </p:txBody>
      </p:sp>
      <p:sp>
        <p:nvSpPr>
          <p:cNvPr id="25" name="Text 23"/>
          <p:cNvSpPr/>
          <p:nvPr/>
        </p:nvSpPr>
        <p:spPr>
          <a:xfrm>
            <a:off x="2157984" y="1481328"/>
            <a:ext cx="1353312" cy="5486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AI Chat</a:t>
            </a:r>
            <a:endParaRPr lang="en-US" sz="1500" dirty="0"/>
          </a:p>
        </p:txBody>
      </p:sp>
      <p:sp>
        <p:nvSpPr>
          <p:cNvPr id="26" name="Text 24"/>
          <p:cNvSpPr/>
          <p:nvPr/>
        </p:nvSpPr>
        <p:spPr>
          <a:xfrm>
            <a:off x="2157984" y="2057400"/>
            <a:ext cx="1353312" cy="201168"/>
          </a:xfrm>
          <a:prstGeom prst="rect">
            <a:avLst/>
          </a:prstGeom>
          <a:noFill/>
          <a:ln/>
        </p:spPr>
        <p:txBody>
          <a:bodyPr wrap="square" lIns="0" tIns="0" rIns="0" bIns="0" rtlCol="0" anchor="ctr"/>
          <a:lstStyle/>
          <a:p>
            <a:pPr marL="0" indent="0">
              <a:buNone/>
            </a:pPr>
            <a:r>
              <a:rPr lang="en-US" sz="800" b="1" kern="0" spc="300" dirty="0">
                <a:solidFill>
                  <a:srgbClr val="F78166"/>
                </a:solidFill>
                <a:latin typeface="Calibri" pitchFamily="34" charset="0"/>
                <a:ea typeface="Calibri" pitchFamily="34" charset="-122"/>
                <a:cs typeface="Calibri" pitchFamily="34" charset="-120"/>
              </a:rPr>
              <a:t>INTEGRATION</a:t>
            </a:r>
            <a:endParaRPr lang="en-US" sz="800" dirty="0"/>
          </a:p>
        </p:txBody>
      </p:sp>
      <p:sp>
        <p:nvSpPr>
          <p:cNvPr id="27" name="Text 25"/>
          <p:cNvSpPr/>
          <p:nvPr/>
        </p:nvSpPr>
        <p:spPr>
          <a:xfrm>
            <a:off x="2157984" y="2240280"/>
            <a:ext cx="1353312" cy="256032"/>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Chatbot / Sidebar</a:t>
            </a:r>
            <a:endParaRPr lang="en-US" sz="1100" dirty="0"/>
          </a:p>
        </p:txBody>
      </p:sp>
      <p:sp>
        <p:nvSpPr>
          <p:cNvPr id="28" name="Text 26"/>
          <p:cNvSpPr/>
          <p:nvPr/>
        </p:nvSpPr>
        <p:spPr>
          <a:xfrm>
            <a:off x="2157984" y="2542032"/>
            <a:ext cx="1353312" cy="68580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Conversational help: explain, refactor, generate snippets.</a:t>
            </a:r>
            <a:endParaRPr lang="en-US" sz="900" dirty="0"/>
          </a:p>
        </p:txBody>
      </p:sp>
      <p:sp>
        <p:nvSpPr>
          <p:cNvPr id="29" name="Text 27"/>
          <p:cNvSpPr/>
          <p:nvPr/>
        </p:nvSpPr>
        <p:spPr>
          <a:xfrm>
            <a:off x="2157984" y="3246120"/>
            <a:ext cx="1353312" cy="182880"/>
          </a:xfrm>
          <a:prstGeom prst="rect">
            <a:avLst/>
          </a:prstGeom>
          <a:noFill/>
          <a:ln/>
        </p:spPr>
        <p:txBody>
          <a:bodyPr wrap="square" lIns="0" tIns="0" rIns="0" bIns="0" rtlCol="0" anchor="ctr"/>
          <a:lstStyle/>
          <a:p>
            <a:pPr marL="0" indent="0">
              <a:buNone/>
            </a:pPr>
            <a:r>
              <a:rPr lang="en-US" sz="800" b="1" kern="0" spc="300" dirty="0">
                <a:solidFill>
                  <a:srgbClr val="F78166"/>
                </a:solidFill>
                <a:latin typeface="Calibri" pitchFamily="34" charset="0"/>
                <a:ea typeface="Calibri" pitchFamily="34" charset="-122"/>
                <a:cs typeface="Calibri" pitchFamily="34" charset="-120"/>
              </a:rPr>
              <a:t>AI / HUMAN RATIO</a:t>
            </a:r>
            <a:endParaRPr lang="en-US" sz="800" dirty="0"/>
          </a:p>
        </p:txBody>
      </p:sp>
      <p:sp>
        <p:nvSpPr>
          <p:cNvPr id="30" name="Shape 28"/>
          <p:cNvSpPr/>
          <p:nvPr/>
        </p:nvSpPr>
        <p:spPr>
          <a:xfrm>
            <a:off x="2157984" y="3438144"/>
            <a:ext cx="1353312" cy="109728"/>
          </a:xfrm>
          <a:prstGeom prst="rect">
            <a:avLst/>
          </a:prstGeom>
          <a:solidFill>
            <a:srgbClr val="0F1729"/>
          </a:solidFill>
          <a:ln w="12700">
            <a:solidFill>
              <a:srgbClr val="0F1729"/>
            </a:solidFill>
            <a:prstDash val="solid"/>
          </a:ln>
        </p:spPr>
        <p:txBody>
          <a:bodyPr/>
          <a:lstStyle/>
          <a:p>
            <a:endParaRPr lang="en-US"/>
          </a:p>
        </p:txBody>
      </p:sp>
      <p:sp>
        <p:nvSpPr>
          <p:cNvPr id="31" name="Shape 29"/>
          <p:cNvSpPr/>
          <p:nvPr/>
        </p:nvSpPr>
        <p:spPr>
          <a:xfrm>
            <a:off x="2157984" y="3438144"/>
            <a:ext cx="270662" cy="109728"/>
          </a:xfrm>
          <a:prstGeom prst="rect">
            <a:avLst/>
          </a:prstGeom>
          <a:solidFill>
            <a:srgbClr val="4F9DE6"/>
          </a:solidFill>
          <a:ln w="12700">
            <a:solidFill>
              <a:srgbClr val="4F9DE6"/>
            </a:solidFill>
            <a:prstDash val="solid"/>
          </a:ln>
        </p:spPr>
        <p:txBody>
          <a:bodyPr/>
          <a:lstStyle/>
          <a:p>
            <a:endParaRPr lang="en-US"/>
          </a:p>
        </p:txBody>
      </p:sp>
      <p:sp>
        <p:nvSpPr>
          <p:cNvPr id="32" name="Text 30"/>
          <p:cNvSpPr/>
          <p:nvPr/>
        </p:nvSpPr>
        <p:spPr>
          <a:xfrm>
            <a:off x="2157984" y="3566160"/>
            <a:ext cx="676656" cy="201168"/>
          </a:xfrm>
          <a:prstGeom prst="rect">
            <a:avLst/>
          </a:prstGeom>
          <a:noFill/>
          <a:ln/>
        </p:spPr>
        <p:txBody>
          <a:bodyPr wrap="square" lIns="0" tIns="0" rIns="0" bIns="0" rtlCol="0" anchor="ctr"/>
          <a:lstStyle/>
          <a:p>
            <a:pPr marL="0" indent="0">
              <a:buNone/>
            </a:pPr>
            <a:r>
              <a:rPr lang="en-US" sz="800" b="1" dirty="0">
                <a:solidFill>
                  <a:srgbClr val="4F9DE6"/>
                </a:solidFill>
                <a:latin typeface="Calibri" pitchFamily="34" charset="0"/>
                <a:ea typeface="Calibri" pitchFamily="34" charset="-122"/>
                <a:cs typeface="Calibri" pitchFamily="34" charset="-120"/>
              </a:rPr>
              <a:t>20% AI</a:t>
            </a:r>
            <a:endParaRPr lang="en-US" sz="800" dirty="0"/>
          </a:p>
        </p:txBody>
      </p:sp>
      <p:sp>
        <p:nvSpPr>
          <p:cNvPr id="33" name="Text 31"/>
          <p:cNvSpPr/>
          <p:nvPr/>
        </p:nvSpPr>
        <p:spPr>
          <a:xfrm>
            <a:off x="2834640" y="3566160"/>
            <a:ext cx="676656" cy="201168"/>
          </a:xfrm>
          <a:prstGeom prst="rect">
            <a:avLst/>
          </a:prstGeom>
          <a:noFill/>
          <a:ln/>
        </p:spPr>
        <p:txBody>
          <a:bodyPr wrap="square" lIns="0" tIns="0" rIns="0" bIns="0" rtlCol="0" anchor="ctr"/>
          <a:lstStyle/>
          <a:p>
            <a:pPr marL="0" indent="0" algn="r">
              <a:buNone/>
            </a:pPr>
            <a:r>
              <a:rPr lang="en-US" sz="800" b="1" dirty="0">
                <a:solidFill>
                  <a:srgbClr val="94A3B8"/>
                </a:solidFill>
                <a:latin typeface="Calibri" pitchFamily="34" charset="0"/>
                <a:ea typeface="Calibri" pitchFamily="34" charset="-122"/>
                <a:cs typeface="Calibri" pitchFamily="34" charset="-120"/>
              </a:rPr>
              <a:t>80% Human</a:t>
            </a:r>
            <a:endParaRPr lang="en-US" sz="800" dirty="0"/>
          </a:p>
        </p:txBody>
      </p:sp>
      <p:sp>
        <p:nvSpPr>
          <p:cNvPr id="34" name="Text 32"/>
          <p:cNvSpPr/>
          <p:nvPr/>
        </p:nvSpPr>
        <p:spPr>
          <a:xfrm>
            <a:off x="2112264" y="3730752"/>
            <a:ext cx="1444752" cy="164592"/>
          </a:xfrm>
          <a:prstGeom prst="rect">
            <a:avLst/>
          </a:prstGeom>
          <a:noFill/>
          <a:ln/>
        </p:spPr>
        <p:txBody>
          <a:bodyPr wrap="square" lIns="0" tIns="0" rIns="0" bIns="0" rtlCol="0" anchor="ctr"/>
          <a:lstStyle/>
          <a:p>
            <a:pPr marL="0" indent="0" algn="ctr">
              <a:buNone/>
            </a:pPr>
            <a:r>
              <a:rPr lang="en-US" sz="700" b="1" kern="0" spc="300" dirty="0">
                <a:solidFill>
                  <a:srgbClr val="94A3B8"/>
                </a:solidFill>
                <a:latin typeface="Calibri" pitchFamily="34" charset="0"/>
                <a:ea typeface="Calibri" pitchFamily="34" charset="-122"/>
                <a:cs typeface="Calibri" pitchFamily="34" charset="-120"/>
              </a:rPr>
              <a:t>PRODUCTIVITY</a:t>
            </a:r>
            <a:endParaRPr lang="en-US" sz="700" dirty="0"/>
          </a:p>
        </p:txBody>
      </p:sp>
      <p:sp>
        <p:nvSpPr>
          <p:cNvPr id="35" name="Text 33"/>
          <p:cNvSpPr/>
          <p:nvPr/>
        </p:nvSpPr>
        <p:spPr>
          <a:xfrm>
            <a:off x="2112264" y="3886200"/>
            <a:ext cx="1444752" cy="29260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~20-25%</a:t>
            </a:r>
            <a:endParaRPr lang="en-US" sz="1600" dirty="0"/>
          </a:p>
        </p:txBody>
      </p:sp>
      <p:sp>
        <p:nvSpPr>
          <p:cNvPr id="36" name="Shape 34"/>
          <p:cNvSpPr/>
          <p:nvPr/>
        </p:nvSpPr>
        <p:spPr>
          <a:xfrm>
            <a:off x="2386584" y="4160520"/>
            <a:ext cx="896112" cy="228600"/>
          </a:xfrm>
          <a:prstGeom prst="rect">
            <a:avLst/>
          </a:prstGeom>
          <a:solidFill>
            <a:srgbClr val="4F9DE6"/>
          </a:solidFill>
          <a:ln w="12700">
            <a:solidFill>
              <a:srgbClr val="4F9DE6"/>
            </a:solidFill>
            <a:prstDash val="solid"/>
          </a:ln>
        </p:spPr>
        <p:txBody>
          <a:bodyPr/>
          <a:lstStyle/>
          <a:p>
            <a:endParaRPr lang="en-US"/>
          </a:p>
        </p:txBody>
      </p:sp>
      <p:sp>
        <p:nvSpPr>
          <p:cNvPr id="37" name="Text 35"/>
          <p:cNvSpPr/>
          <p:nvPr/>
        </p:nvSpPr>
        <p:spPr>
          <a:xfrm>
            <a:off x="2386584" y="4160520"/>
            <a:ext cx="896112" cy="228600"/>
          </a:xfrm>
          <a:prstGeom prst="rect">
            <a:avLst/>
          </a:prstGeom>
          <a:noFill/>
          <a:ln/>
        </p:spPr>
        <p:txBody>
          <a:bodyPr wrap="square" lIns="0" tIns="0" rIns="0" bIns="0" rtlCol="0" anchor="ctr"/>
          <a:lstStyle/>
          <a:p>
            <a:pPr marL="0" indent="0" algn="ctr">
              <a:buNone/>
            </a:pPr>
            <a:r>
              <a:rPr lang="en-US" sz="900" b="1" kern="0" spc="200" dirty="0">
                <a:solidFill>
                  <a:srgbClr val="0F1729"/>
                </a:solidFill>
                <a:latin typeface="Calibri" pitchFamily="34" charset="0"/>
                <a:ea typeface="Calibri" pitchFamily="34" charset="-122"/>
                <a:cs typeface="Calibri" pitchFamily="34" charset="-120"/>
              </a:rPr>
              <a:t>Producer</a:t>
            </a:r>
            <a:endParaRPr lang="en-US" sz="900" dirty="0"/>
          </a:p>
        </p:txBody>
      </p:sp>
      <p:sp>
        <p:nvSpPr>
          <p:cNvPr id="38" name="Shape 36"/>
          <p:cNvSpPr/>
          <p:nvPr/>
        </p:nvSpPr>
        <p:spPr>
          <a:xfrm>
            <a:off x="3758184" y="1097280"/>
            <a:ext cx="1627632" cy="3383280"/>
          </a:xfrm>
          <a:prstGeom prst="rect">
            <a:avLst/>
          </a:prstGeom>
          <a:solidFill>
            <a:srgbClr val="13294B"/>
          </a:solidFill>
          <a:ln w="12700">
            <a:solidFill>
              <a:srgbClr val="1F3A66"/>
            </a:solidFill>
            <a:prstDash val="solid"/>
          </a:ln>
          <a:effectLst>
            <a:outerShdw blurRad="101600" dist="25400" dir="8100000" algn="bl" rotWithShape="0">
              <a:srgbClr val="000000">
                <a:alpha val="12000"/>
              </a:srgbClr>
            </a:outerShdw>
          </a:effectLst>
        </p:spPr>
        <p:txBody>
          <a:bodyPr/>
          <a:lstStyle/>
          <a:p>
            <a:endParaRPr lang="en-US"/>
          </a:p>
        </p:txBody>
      </p:sp>
      <p:sp>
        <p:nvSpPr>
          <p:cNvPr id="39" name="Shape 37"/>
          <p:cNvSpPr/>
          <p:nvPr/>
        </p:nvSpPr>
        <p:spPr>
          <a:xfrm>
            <a:off x="3758184" y="1097280"/>
            <a:ext cx="1627632" cy="73152"/>
          </a:xfrm>
          <a:prstGeom prst="rect">
            <a:avLst/>
          </a:prstGeom>
          <a:solidFill>
            <a:srgbClr val="FFD166"/>
          </a:solidFill>
          <a:ln w="12700">
            <a:solidFill>
              <a:srgbClr val="FFD166"/>
            </a:solidFill>
            <a:prstDash val="solid"/>
          </a:ln>
        </p:spPr>
        <p:txBody>
          <a:bodyPr/>
          <a:lstStyle/>
          <a:p>
            <a:endParaRPr lang="en-US"/>
          </a:p>
        </p:txBody>
      </p:sp>
      <p:sp>
        <p:nvSpPr>
          <p:cNvPr id="40" name="Text 38"/>
          <p:cNvSpPr/>
          <p:nvPr/>
        </p:nvSpPr>
        <p:spPr>
          <a:xfrm>
            <a:off x="3895344" y="1261872"/>
            <a:ext cx="1353312" cy="228600"/>
          </a:xfrm>
          <a:prstGeom prst="rect">
            <a:avLst/>
          </a:prstGeom>
          <a:noFill/>
          <a:ln/>
        </p:spPr>
        <p:txBody>
          <a:bodyPr wrap="square" lIns="0" tIns="0" rIns="0" bIns="0" rtlCol="0" anchor="ctr"/>
          <a:lstStyle/>
          <a:p>
            <a:pPr marL="0" indent="0">
              <a:buNone/>
            </a:pPr>
            <a:r>
              <a:rPr lang="en-US" sz="1000" b="1" kern="0" spc="400" dirty="0">
                <a:solidFill>
                  <a:srgbClr val="FFD166"/>
                </a:solidFill>
                <a:latin typeface="Calibri" pitchFamily="34" charset="0"/>
                <a:ea typeface="Calibri" pitchFamily="34" charset="-122"/>
                <a:cs typeface="Calibri" pitchFamily="34" charset="-120"/>
              </a:rPr>
              <a:t>LEVEL 3</a:t>
            </a:r>
            <a:endParaRPr lang="en-US" sz="1000" dirty="0"/>
          </a:p>
        </p:txBody>
      </p:sp>
      <p:sp>
        <p:nvSpPr>
          <p:cNvPr id="41" name="Text 39"/>
          <p:cNvSpPr/>
          <p:nvPr/>
        </p:nvSpPr>
        <p:spPr>
          <a:xfrm>
            <a:off x="3895344" y="1481328"/>
            <a:ext cx="1353312" cy="5486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AI Assist</a:t>
            </a:r>
            <a:endParaRPr lang="en-US" sz="1500" dirty="0"/>
          </a:p>
        </p:txBody>
      </p:sp>
      <p:sp>
        <p:nvSpPr>
          <p:cNvPr id="42" name="Text 40"/>
          <p:cNvSpPr/>
          <p:nvPr/>
        </p:nvSpPr>
        <p:spPr>
          <a:xfrm>
            <a:off x="3895344" y="2057400"/>
            <a:ext cx="1353312" cy="201168"/>
          </a:xfrm>
          <a:prstGeom prst="rect">
            <a:avLst/>
          </a:prstGeom>
          <a:noFill/>
          <a:ln/>
        </p:spPr>
        <p:txBody>
          <a:bodyPr wrap="square" lIns="0" tIns="0" rIns="0" bIns="0" rtlCol="0" anchor="ctr"/>
          <a:lstStyle/>
          <a:p>
            <a:pPr marL="0" indent="0">
              <a:buNone/>
            </a:pPr>
            <a:r>
              <a:rPr lang="en-US" sz="800" b="1" kern="0" spc="300" dirty="0">
                <a:solidFill>
                  <a:srgbClr val="F78166"/>
                </a:solidFill>
                <a:latin typeface="Calibri" pitchFamily="34" charset="0"/>
                <a:ea typeface="Calibri" pitchFamily="34" charset="-122"/>
                <a:cs typeface="Calibri" pitchFamily="34" charset="-120"/>
              </a:rPr>
              <a:t>INTEGRATION</a:t>
            </a:r>
            <a:endParaRPr lang="en-US" sz="800" dirty="0"/>
          </a:p>
        </p:txBody>
      </p:sp>
      <p:sp>
        <p:nvSpPr>
          <p:cNvPr id="43" name="Text 41"/>
          <p:cNvSpPr/>
          <p:nvPr/>
        </p:nvSpPr>
        <p:spPr>
          <a:xfrm>
            <a:off x="3895344" y="2240280"/>
            <a:ext cx="1353312" cy="256032"/>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Copilot / IDE Agent</a:t>
            </a:r>
            <a:endParaRPr lang="en-US" sz="1100" dirty="0"/>
          </a:p>
        </p:txBody>
      </p:sp>
      <p:sp>
        <p:nvSpPr>
          <p:cNvPr id="44" name="Text 42"/>
          <p:cNvSpPr/>
          <p:nvPr/>
        </p:nvSpPr>
        <p:spPr>
          <a:xfrm>
            <a:off x="3895344" y="2542032"/>
            <a:ext cx="1353312" cy="68580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Multi-step edits across files; human reviews and ships.</a:t>
            </a:r>
            <a:endParaRPr lang="en-US" sz="900" dirty="0"/>
          </a:p>
        </p:txBody>
      </p:sp>
      <p:sp>
        <p:nvSpPr>
          <p:cNvPr id="45" name="Text 43"/>
          <p:cNvSpPr/>
          <p:nvPr/>
        </p:nvSpPr>
        <p:spPr>
          <a:xfrm>
            <a:off x="3895344" y="3246120"/>
            <a:ext cx="1353312" cy="182880"/>
          </a:xfrm>
          <a:prstGeom prst="rect">
            <a:avLst/>
          </a:prstGeom>
          <a:noFill/>
          <a:ln/>
        </p:spPr>
        <p:txBody>
          <a:bodyPr wrap="square" lIns="0" tIns="0" rIns="0" bIns="0" rtlCol="0" anchor="ctr"/>
          <a:lstStyle/>
          <a:p>
            <a:pPr marL="0" indent="0">
              <a:buNone/>
            </a:pPr>
            <a:r>
              <a:rPr lang="en-US" sz="800" b="1" kern="0" spc="300" dirty="0">
                <a:solidFill>
                  <a:srgbClr val="F78166"/>
                </a:solidFill>
                <a:latin typeface="Calibri" pitchFamily="34" charset="0"/>
                <a:ea typeface="Calibri" pitchFamily="34" charset="-122"/>
                <a:cs typeface="Calibri" pitchFamily="34" charset="-120"/>
              </a:rPr>
              <a:t>AI / HUMAN RATIO</a:t>
            </a:r>
            <a:endParaRPr lang="en-US" sz="800" dirty="0"/>
          </a:p>
        </p:txBody>
      </p:sp>
      <p:sp>
        <p:nvSpPr>
          <p:cNvPr id="46" name="Shape 44"/>
          <p:cNvSpPr/>
          <p:nvPr/>
        </p:nvSpPr>
        <p:spPr>
          <a:xfrm>
            <a:off x="3895344" y="3438144"/>
            <a:ext cx="1353312" cy="109728"/>
          </a:xfrm>
          <a:prstGeom prst="rect">
            <a:avLst/>
          </a:prstGeom>
          <a:solidFill>
            <a:srgbClr val="0F1729"/>
          </a:solidFill>
          <a:ln w="12700">
            <a:solidFill>
              <a:srgbClr val="0F1729"/>
            </a:solidFill>
            <a:prstDash val="solid"/>
          </a:ln>
        </p:spPr>
        <p:txBody>
          <a:bodyPr/>
          <a:lstStyle/>
          <a:p>
            <a:endParaRPr lang="en-US"/>
          </a:p>
        </p:txBody>
      </p:sp>
      <p:sp>
        <p:nvSpPr>
          <p:cNvPr id="47" name="Shape 45"/>
          <p:cNvSpPr/>
          <p:nvPr/>
        </p:nvSpPr>
        <p:spPr>
          <a:xfrm>
            <a:off x="3895344" y="3438144"/>
            <a:ext cx="676656" cy="109728"/>
          </a:xfrm>
          <a:prstGeom prst="rect">
            <a:avLst/>
          </a:prstGeom>
          <a:solidFill>
            <a:srgbClr val="4F9DE6"/>
          </a:solidFill>
          <a:ln w="12700">
            <a:solidFill>
              <a:srgbClr val="4F9DE6"/>
            </a:solidFill>
            <a:prstDash val="solid"/>
          </a:ln>
        </p:spPr>
        <p:txBody>
          <a:bodyPr/>
          <a:lstStyle/>
          <a:p>
            <a:endParaRPr lang="en-US"/>
          </a:p>
        </p:txBody>
      </p:sp>
      <p:sp>
        <p:nvSpPr>
          <p:cNvPr id="48" name="Text 46"/>
          <p:cNvSpPr/>
          <p:nvPr/>
        </p:nvSpPr>
        <p:spPr>
          <a:xfrm>
            <a:off x="3895344" y="3566160"/>
            <a:ext cx="676656" cy="201168"/>
          </a:xfrm>
          <a:prstGeom prst="rect">
            <a:avLst/>
          </a:prstGeom>
          <a:noFill/>
          <a:ln/>
        </p:spPr>
        <p:txBody>
          <a:bodyPr wrap="square" lIns="0" tIns="0" rIns="0" bIns="0" rtlCol="0" anchor="ctr"/>
          <a:lstStyle/>
          <a:p>
            <a:pPr marL="0" indent="0">
              <a:buNone/>
            </a:pPr>
            <a:r>
              <a:rPr lang="en-US" sz="800" b="1" dirty="0">
                <a:solidFill>
                  <a:srgbClr val="4F9DE6"/>
                </a:solidFill>
                <a:latin typeface="Calibri" pitchFamily="34" charset="0"/>
                <a:ea typeface="Calibri" pitchFamily="34" charset="-122"/>
                <a:cs typeface="Calibri" pitchFamily="34" charset="-120"/>
              </a:rPr>
              <a:t>50% AI</a:t>
            </a:r>
            <a:endParaRPr lang="en-US" sz="800" dirty="0"/>
          </a:p>
        </p:txBody>
      </p:sp>
      <p:sp>
        <p:nvSpPr>
          <p:cNvPr id="49" name="Text 47"/>
          <p:cNvSpPr/>
          <p:nvPr/>
        </p:nvSpPr>
        <p:spPr>
          <a:xfrm>
            <a:off x="4572000" y="3566160"/>
            <a:ext cx="676656" cy="201168"/>
          </a:xfrm>
          <a:prstGeom prst="rect">
            <a:avLst/>
          </a:prstGeom>
          <a:noFill/>
          <a:ln/>
        </p:spPr>
        <p:txBody>
          <a:bodyPr wrap="square" lIns="0" tIns="0" rIns="0" bIns="0" rtlCol="0" anchor="ctr"/>
          <a:lstStyle/>
          <a:p>
            <a:pPr marL="0" indent="0" algn="r">
              <a:buNone/>
            </a:pPr>
            <a:r>
              <a:rPr lang="en-US" sz="800" b="1" dirty="0">
                <a:solidFill>
                  <a:srgbClr val="94A3B8"/>
                </a:solidFill>
                <a:latin typeface="Calibri" pitchFamily="34" charset="0"/>
                <a:ea typeface="Calibri" pitchFamily="34" charset="-122"/>
                <a:cs typeface="Calibri" pitchFamily="34" charset="-120"/>
              </a:rPr>
              <a:t>50% Human</a:t>
            </a:r>
            <a:endParaRPr lang="en-US" sz="800" dirty="0"/>
          </a:p>
        </p:txBody>
      </p:sp>
      <p:sp>
        <p:nvSpPr>
          <p:cNvPr id="50" name="Text 48"/>
          <p:cNvSpPr/>
          <p:nvPr/>
        </p:nvSpPr>
        <p:spPr>
          <a:xfrm>
            <a:off x="3849624" y="3730752"/>
            <a:ext cx="1444752" cy="164592"/>
          </a:xfrm>
          <a:prstGeom prst="rect">
            <a:avLst/>
          </a:prstGeom>
          <a:noFill/>
          <a:ln/>
        </p:spPr>
        <p:txBody>
          <a:bodyPr wrap="square" lIns="0" tIns="0" rIns="0" bIns="0" rtlCol="0" anchor="ctr"/>
          <a:lstStyle/>
          <a:p>
            <a:pPr marL="0" indent="0" algn="ctr">
              <a:buNone/>
            </a:pPr>
            <a:r>
              <a:rPr lang="en-US" sz="700" b="1" kern="0" spc="300" dirty="0">
                <a:solidFill>
                  <a:srgbClr val="94A3B8"/>
                </a:solidFill>
                <a:latin typeface="Calibri" pitchFamily="34" charset="0"/>
                <a:ea typeface="Calibri" pitchFamily="34" charset="-122"/>
                <a:cs typeface="Calibri" pitchFamily="34" charset="-120"/>
              </a:rPr>
              <a:t>PRODUCTIVITY</a:t>
            </a:r>
            <a:endParaRPr lang="en-US" sz="700" dirty="0"/>
          </a:p>
        </p:txBody>
      </p:sp>
      <p:sp>
        <p:nvSpPr>
          <p:cNvPr id="51" name="Text 49"/>
          <p:cNvSpPr/>
          <p:nvPr/>
        </p:nvSpPr>
        <p:spPr>
          <a:xfrm>
            <a:off x="3849624" y="3886200"/>
            <a:ext cx="1444752" cy="29260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~25-50%</a:t>
            </a:r>
            <a:endParaRPr lang="en-US" sz="1600" dirty="0"/>
          </a:p>
        </p:txBody>
      </p:sp>
      <p:sp>
        <p:nvSpPr>
          <p:cNvPr id="52" name="Shape 50"/>
          <p:cNvSpPr/>
          <p:nvPr/>
        </p:nvSpPr>
        <p:spPr>
          <a:xfrm>
            <a:off x="4123944" y="4160520"/>
            <a:ext cx="896112" cy="228600"/>
          </a:xfrm>
          <a:prstGeom prst="rect">
            <a:avLst/>
          </a:prstGeom>
          <a:solidFill>
            <a:srgbClr val="FFD166"/>
          </a:solidFill>
          <a:ln w="12700">
            <a:solidFill>
              <a:srgbClr val="FFD166"/>
            </a:solidFill>
            <a:prstDash val="solid"/>
          </a:ln>
        </p:spPr>
        <p:txBody>
          <a:bodyPr/>
          <a:lstStyle/>
          <a:p>
            <a:endParaRPr lang="en-US"/>
          </a:p>
        </p:txBody>
      </p:sp>
      <p:sp>
        <p:nvSpPr>
          <p:cNvPr id="53" name="Text 51"/>
          <p:cNvSpPr/>
          <p:nvPr/>
        </p:nvSpPr>
        <p:spPr>
          <a:xfrm>
            <a:off x="4123944" y="4160520"/>
            <a:ext cx="896112" cy="228600"/>
          </a:xfrm>
          <a:prstGeom prst="rect">
            <a:avLst/>
          </a:prstGeom>
          <a:noFill/>
          <a:ln/>
        </p:spPr>
        <p:txBody>
          <a:bodyPr wrap="square" lIns="0" tIns="0" rIns="0" bIns="0" rtlCol="0" anchor="ctr"/>
          <a:lstStyle/>
          <a:p>
            <a:pPr marL="0" indent="0" algn="ctr">
              <a:buNone/>
            </a:pPr>
            <a:r>
              <a:rPr lang="en-US" sz="900" b="1" kern="0" spc="200" dirty="0">
                <a:solidFill>
                  <a:srgbClr val="0F1729"/>
                </a:solidFill>
                <a:latin typeface="Calibri" pitchFamily="34" charset="0"/>
                <a:ea typeface="Calibri" pitchFamily="34" charset="-122"/>
                <a:cs typeface="Calibri" pitchFamily="34" charset="-120"/>
              </a:rPr>
              <a:t>Reviewer</a:t>
            </a:r>
            <a:endParaRPr lang="en-US" sz="900" dirty="0"/>
          </a:p>
        </p:txBody>
      </p:sp>
      <p:sp>
        <p:nvSpPr>
          <p:cNvPr id="54" name="Shape 52"/>
          <p:cNvSpPr/>
          <p:nvPr/>
        </p:nvSpPr>
        <p:spPr>
          <a:xfrm>
            <a:off x="5495544" y="1097280"/>
            <a:ext cx="1627632" cy="3383280"/>
          </a:xfrm>
          <a:prstGeom prst="rect">
            <a:avLst/>
          </a:prstGeom>
          <a:solidFill>
            <a:srgbClr val="13294B"/>
          </a:solidFill>
          <a:ln w="12700">
            <a:solidFill>
              <a:srgbClr val="1F3A66"/>
            </a:solidFill>
            <a:prstDash val="solid"/>
          </a:ln>
          <a:effectLst>
            <a:outerShdw blurRad="101600" dist="25400" dir="8100000" algn="bl" rotWithShape="0">
              <a:srgbClr val="000000">
                <a:alpha val="12000"/>
              </a:srgbClr>
            </a:outerShdw>
          </a:effectLst>
        </p:spPr>
        <p:txBody>
          <a:bodyPr/>
          <a:lstStyle/>
          <a:p>
            <a:endParaRPr lang="en-US"/>
          </a:p>
        </p:txBody>
      </p:sp>
      <p:sp>
        <p:nvSpPr>
          <p:cNvPr id="55" name="Shape 53"/>
          <p:cNvSpPr/>
          <p:nvPr/>
        </p:nvSpPr>
        <p:spPr>
          <a:xfrm>
            <a:off x="5495544" y="1097280"/>
            <a:ext cx="1627632" cy="73152"/>
          </a:xfrm>
          <a:prstGeom prst="rect">
            <a:avLst/>
          </a:prstGeom>
          <a:solidFill>
            <a:srgbClr val="FFD166"/>
          </a:solidFill>
          <a:ln w="12700">
            <a:solidFill>
              <a:srgbClr val="FFD166"/>
            </a:solidFill>
            <a:prstDash val="solid"/>
          </a:ln>
        </p:spPr>
        <p:txBody>
          <a:bodyPr/>
          <a:lstStyle/>
          <a:p>
            <a:endParaRPr lang="en-US"/>
          </a:p>
        </p:txBody>
      </p:sp>
      <p:sp>
        <p:nvSpPr>
          <p:cNvPr id="56" name="Text 54"/>
          <p:cNvSpPr/>
          <p:nvPr/>
        </p:nvSpPr>
        <p:spPr>
          <a:xfrm>
            <a:off x="5632704" y="1261872"/>
            <a:ext cx="1353312" cy="228600"/>
          </a:xfrm>
          <a:prstGeom prst="rect">
            <a:avLst/>
          </a:prstGeom>
          <a:noFill/>
          <a:ln/>
        </p:spPr>
        <p:txBody>
          <a:bodyPr wrap="square" lIns="0" tIns="0" rIns="0" bIns="0" rtlCol="0" anchor="ctr"/>
          <a:lstStyle/>
          <a:p>
            <a:pPr marL="0" indent="0">
              <a:buNone/>
            </a:pPr>
            <a:r>
              <a:rPr lang="en-US" sz="1000" b="1" kern="0" spc="400" dirty="0">
                <a:solidFill>
                  <a:srgbClr val="FFD166"/>
                </a:solidFill>
                <a:latin typeface="Calibri" pitchFamily="34" charset="0"/>
                <a:ea typeface="Calibri" pitchFamily="34" charset="-122"/>
                <a:cs typeface="Calibri" pitchFamily="34" charset="-120"/>
              </a:rPr>
              <a:t>LEVEL 4</a:t>
            </a:r>
            <a:endParaRPr lang="en-US" sz="1000" dirty="0"/>
          </a:p>
        </p:txBody>
      </p:sp>
      <p:sp>
        <p:nvSpPr>
          <p:cNvPr id="57" name="Text 55"/>
          <p:cNvSpPr/>
          <p:nvPr/>
        </p:nvSpPr>
        <p:spPr>
          <a:xfrm>
            <a:off x="5632704" y="1481328"/>
            <a:ext cx="1353312" cy="5486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Agentic Augmented</a:t>
            </a:r>
            <a:endParaRPr lang="en-US" sz="1500" dirty="0"/>
          </a:p>
        </p:txBody>
      </p:sp>
      <p:sp>
        <p:nvSpPr>
          <p:cNvPr id="58" name="Text 56"/>
          <p:cNvSpPr/>
          <p:nvPr/>
        </p:nvSpPr>
        <p:spPr>
          <a:xfrm>
            <a:off x="5632704" y="2057400"/>
            <a:ext cx="1353312" cy="201168"/>
          </a:xfrm>
          <a:prstGeom prst="rect">
            <a:avLst/>
          </a:prstGeom>
          <a:noFill/>
          <a:ln/>
        </p:spPr>
        <p:txBody>
          <a:bodyPr wrap="square" lIns="0" tIns="0" rIns="0" bIns="0" rtlCol="0" anchor="ctr"/>
          <a:lstStyle/>
          <a:p>
            <a:pPr marL="0" indent="0">
              <a:buNone/>
            </a:pPr>
            <a:r>
              <a:rPr lang="en-US" sz="800" b="1" kern="0" spc="300" dirty="0">
                <a:solidFill>
                  <a:srgbClr val="F78166"/>
                </a:solidFill>
                <a:latin typeface="Calibri" pitchFamily="34" charset="0"/>
                <a:ea typeface="Calibri" pitchFamily="34" charset="-122"/>
                <a:cs typeface="Calibri" pitchFamily="34" charset="-120"/>
              </a:rPr>
              <a:t>INTEGRATION</a:t>
            </a:r>
            <a:endParaRPr lang="en-US" sz="800" dirty="0"/>
          </a:p>
        </p:txBody>
      </p:sp>
      <p:sp>
        <p:nvSpPr>
          <p:cNvPr id="59" name="Text 57"/>
          <p:cNvSpPr/>
          <p:nvPr/>
        </p:nvSpPr>
        <p:spPr>
          <a:xfrm>
            <a:off x="5632704" y="2240280"/>
            <a:ext cx="1353312" cy="256032"/>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Long-Running Agents</a:t>
            </a:r>
            <a:endParaRPr lang="en-US" sz="1100" dirty="0"/>
          </a:p>
        </p:txBody>
      </p:sp>
      <p:sp>
        <p:nvSpPr>
          <p:cNvPr id="60" name="Text 58"/>
          <p:cNvSpPr/>
          <p:nvPr/>
        </p:nvSpPr>
        <p:spPr>
          <a:xfrm>
            <a:off x="5632704" y="2542032"/>
            <a:ext cx="1353312" cy="68580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Background tasks, PR creation, narrated cloud workflows.</a:t>
            </a:r>
            <a:endParaRPr lang="en-US" sz="900" dirty="0"/>
          </a:p>
        </p:txBody>
      </p:sp>
      <p:sp>
        <p:nvSpPr>
          <p:cNvPr id="61" name="Text 59"/>
          <p:cNvSpPr/>
          <p:nvPr/>
        </p:nvSpPr>
        <p:spPr>
          <a:xfrm>
            <a:off x="5632704" y="3246120"/>
            <a:ext cx="1353312" cy="182880"/>
          </a:xfrm>
          <a:prstGeom prst="rect">
            <a:avLst/>
          </a:prstGeom>
          <a:noFill/>
          <a:ln/>
        </p:spPr>
        <p:txBody>
          <a:bodyPr wrap="square" lIns="0" tIns="0" rIns="0" bIns="0" rtlCol="0" anchor="ctr"/>
          <a:lstStyle/>
          <a:p>
            <a:pPr marL="0" indent="0">
              <a:buNone/>
            </a:pPr>
            <a:r>
              <a:rPr lang="en-US" sz="800" b="1" kern="0" spc="300" dirty="0">
                <a:solidFill>
                  <a:srgbClr val="F78166"/>
                </a:solidFill>
                <a:latin typeface="Calibri" pitchFamily="34" charset="0"/>
                <a:ea typeface="Calibri" pitchFamily="34" charset="-122"/>
                <a:cs typeface="Calibri" pitchFamily="34" charset="-120"/>
              </a:rPr>
              <a:t>AI / HUMAN RATIO</a:t>
            </a:r>
            <a:endParaRPr lang="en-US" sz="800" dirty="0"/>
          </a:p>
        </p:txBody>
      </p:sp>
      <p:sp>
        <p:nvSpPr>
          <p:cNvPr id="62" name="Shape 60"/>
          <p:cNvSpPr/>
          <p:nvPr/>
        </p:nvSpPr>
        <p:spPr>
          <a:xfrm>
            <a:off x="5632704" y="3438144"/>
            <a:ext cx="1353312" cy="109728"/>
          </a:xfrm>
          <a:prstGeom prst="rect">
            <a:avLst/>
          </a:prstGeom>
          <a:solidFill>
            <a:srgbClr val="0F1729"/>
          </a:solidFill>
          <a:ln w="12700">
            <a:solidFill>
              <a:srgbClr val="0F1729"/>
            </a:solidFill>
            <a:prstDash val="solid"/>
          </a:ln>
        </p:spPr>
        <p:txBody>
          <a:bodyPr/>
          <a:lstStyle/>
          <a:p>
            <a:endParaRPr lang="en-US"/>
          </a:p>
        </p:txBody>
      </p:sp>
      <p:sp>
        <p:nvSpPr>
          <p:cNvPr id="63" name="Shape 61"/>
          <p:cNvSpPr/>
          <p:nvPr/>
        </p:nvSpPr>
        <p:spPr>
          <a:xfrm>
            <a:off x="5632704" y="3438144"/>
            <a:ext cx="1014984" cy="109728"/>
          </a:xfrm>
          <a:prstGeom prst="rect">
            <a:avLst/>
          </a:prstGeom>
          <a:solidFill>
            <a:srgbClr val="4F9DE6"/>
          </a:solidFill>
          <a:ln w="12700">
            <a:solidFill>
              <a:srgbClr val="4F9DE6"/>
            </a:solidFill>
            <a:prstDash val="solid"/>
          </a:ln>
        </p:spPr>
        <p:txBody>
          <a:bodyPr/>
          <a:lstStyle/>
          <a:p>
            <a:endParaRPr lang="en-US"/>
          </a:p>
        </p:txBody>
      </p:sp>
      <p:sp>
        <p:nvSpPr>
          <p:cNvPr id="64" name="Text 62"/>
          <p:cNvSpPr/>
          <p:nvPr/>
        </p:nvSpPr>
        <p:spPr>
          <a:xfrm>
            <a:off x="5632704" y="3566160"/>
            <a:ext cx="676656" cy="201168"/>
          </a:xfrm>
          <a:prstGeom prst="rect">
            <a:avLst/>
          </a:prstGeom>
          <a:noFill/>
          <a:ln/>
        </p:spPr>
        <p:txBody>
          <a:bodyPr wrap="square" lIns="0" tIns="0" rIns="0" bIns="0" rtlCol="0" anchor="ctr"/>
          <a:lstStyle/>
          <a:p>
            <a:pPr marL="0" indent="0">
              <a:buNone/>
            </a:pPr>
            <a:r>
              <a:rPr lang="en-US" sz="800" b="1" dirty="0">
                <a:solidFill>
                  <a:srgbClr val="4F9DE6"/>
                </a:solidFill>
                <a:latin typeface="Calibri" pitchFamily="34" charset="0"/>
                <a:ea typeface="Calibri" pitchFamily="34" charset="-122"/>
                <a:cs typeface="Calibri" pitchFamily="34" charset="-120"/>
              </a:rPr>
              <a:t>75% AI</a:t>
            </a:r>
            <a:endParaRPr lang="en-US" sz="800" dirty="0"/>
          </a:p>
        </p:txBody>
      </p:sp>
      <p:sp>
        <p:nvSpPr>
          <p:cNvPr id="65" name="Text 63"/>
          <p:cNvSpPr/>
          <p:nvPr/>
        </p:nvSpPr>
        <p:spPr>
          <a:xfrm>
            <a:off x="6309360" y="3566160"/>
            <a:ext cx="676656" cy="201168"/>
          </a:xfrm>
          <a:prstGeom prst="rect">
            <a:avLst/>
          </a:prstGeom>
          <a:noFill/>
          <a:ln/>
        </p:spPr>
        <p:txBody>
          <a:bodyPr wrap="square" lIns="0" tIns="0" rIns="0" bIns="0" rtlCol="0" anchor="ctr"/>
          <a:lstStyle/>
          <a:p>
            <a:pPr marL="0" indent="0" algn="r">
              <a:buNone/>
            </a:pPr>
            <a:r>
              <a:rPr lang="en-US" sz="800" b="1" dirty="0">
                <a:solidFill>
                  <a:srgbClr val="94A3B8"/>
                </a:solidFill>
                <a:latin typeface="Calibri" pitchFamily="34" charset="0"/>
                <a:ea typeface="Calibri" pitchFamily="34" charset="-122"/>
                <a:cs typeface="Calibri" pitchFamily="34" charset="-120"/>
              </a:rPr>
              <a:t>25% Human</a:t>
            </a:r>
            <a:endParaRPr lang="en-US" sz="800" dirty="0"/>
          </a:p>
        </p:txBody>
      </p:sp>
      <p:sp>
        <p:nvSpPr>
          <p:cNvPr id="66" name="Text 64"/>
          <p:cNvSpPr/>
          <p:nvPr/>
        </p:nvSpPr>
        <p:spPr>
          <a:xfrm>
            <a:off x="5586984" y="3730752"/>
            <a:ext cx="1444752" cy="164592"/>
          </a:xfrm>
          <a:prstGeom prst="rect">
            <a:avLst/>
          </a:prstGeom>
          <a:noFill/>
          <a:ln/>
        </p:spPr>
        <p:txBody>
          <a:bodyPr wrap="square" lIns="0" tIns="0" rIns="0" bIns="0" rtlCol="0" anchor="ctr"/>
          <a:lstStyle/>
          <a:p>
            <a:pPr marL="0" indent="0" algn="ctr">
              <a:buNone/>
            </a:pPr>
            <a:r>
              <a:rPr lang="en-US" sz="700" b="1" kern="0" spc="300" dirty="0">
                <a:solidFill>
                  <a:srgbClr val="94A3B8"/>
                </a:solidFill>
                <a:latin typeface="Calibri" pitchFamily="34" charset="0"/>
                <a:ea typeface="Calibri" pitchFamily="34" charset="-122"/>
                <a:cs typeface="Calibri" pitchFamily="34" charset="-120"/>
              </a:rPr>
              <a:t>PRODUCTIVITY</a:t>
            </a:r>
            <a:endParaRPr lang="en-US" sz="700" dirty="0"/>
          </a:p>
        </p:txBody>
      </p:sp>
      <p:sp>
        <p:nvSpPr>
          <p:cNvPr id="67" name="Text 65"/>
          <p:cNvSpPr/>
          <p:nvPr/>
        </p:nvSpPr>
        <p:spPr>
          <a:xfrm>
            <a:off x="5586984" y="3886200"/>
            <a:ext cx="1444752" cy="29260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~1x-5x</a:t>
            </a:r>
            <a:endParaRPr lang="en-US" sz="1600" dirty="0"/>
          </a:p>
        </p:txBody>
      </p:sp>
      <p:sp>
        <p:nvSpPr>
          <p:cNvPr id="68" name="Shape 66"/>
          <p:cNvSpPr/>
          <p:nvPr/>
        </p:nvSpPr>
        <p:spPr>
          <a:xfrm>
            <a:off x="5861304" y="4160520"/>
            <a:ext cx="896112" cy="228600"/>
          </a:xfrm>
          <a:prstGeom prst="rect">
            <a:avLst/>
          </a:prstGeom>
          <a:solidFill>
            <a:srgbClr val="F78166"/>
          </a:solidFill>
          <a:ln w="12700">
            <a:solidFill>
              <a:srgbClr val="F78166"/>
            </a:solidFill>
            <a:prstDash val="solid"/>
          </a:ln>
        </p:spPr>
        <p:txBody>
          <a:bodyPr/>
          <a:lstStyle/>
          <a:p>
            <a:endParaRPr lang="en-US"/>
          </a:p>
        </p:txBody>
      </p:sp>
      <p:sp>
        <p:nvSpPr>
          <p:cNvPr id="69" name="Text 67"/>
          <p:cNvSpPr/>
          <p:nvPr/>
        </p:nvSpPr>
        <p:spPr>
          <a:xfrm>
            <a:off x="5861304" y="4160520"/>
            <a:ext cx="896112" cy="228600"/>
          </a:xfrm>
          <a:prstGeom prst="rect">
            <a:avLst/>
          </a:prstGeom>
          <a:noFill/>
          <a:ln/>
        </p:spPr>
        <p:txBody>
          <a:bodyPr wrap="square" lIns="0" tIns="0" rIns="0" bIns="0" rtlCol="0" anchor="ctr"/>
          <a:lstStyle/>
          <a:p>
            <a:pPr marL="0" indent="0" algn="ctr">
              <a:buNone/>
            </a:pPr>
            <a:r>
              <a:rPr lang="en-US" sz="900" b="1" kern="0" spc="200" dirty="0">
                <a:solidFill>
                  <a:srgbClr val="0F1729"/>
                </a:solidFill>
                <a:latin typeface="Calibri" pitchFamily="34" charset="0"/>
                <a:ea typeface="Calibri" pitchFamily="34" charset="-122"/>
                <a:cs typeface="Calibri" pitchFamily="34" charset="-120"/>
              </a:rPr>
              <a:t>Director</a:t>
            </a:r>
            <a:endParaRPr lang="en-US" sz="900" dirty="0"/>
          </a:p>
        </p:txBody>
      </p:sp>
      <p:sp>
        <p:nvSpPr>
          <p:cNvPr id="70" name="Shape 68"/>
          <p:cNvSpPr/>
          <p:nvPr/>
        </p:nvSpPr>
        <p:spPr>
          <a:xfrm>
            <a:off x="7232904" y="1097280"/>
            <a:ext cx="1627632" cy="3383280"/>
          </a:xfrm>
          <a:prstGeom prst="rect">
            <a:avLst/>
          </a:prstGeom>
          <a:solidFill>
            <a:srgbClr val="13294B"/>
          </a:solidFill>
          <a:ln w="12700">
            <a:solidFill>
              <a:srgbClr val="1F3A66"/>
            </a:solidFill>
            <a:prstDash val="solid"/>
          </a:ln>
          <a:effectLst>
            <a:outerShdw blurRad="101600" dist="25400" dir="8100000" algn="bl" rotWithShape="0">
              <a:srgbClr val="000000">
                <a:alpha val="12000"/>
              </a:srgbClr>
            </a:outerShdw>
          </a:effectLst>
        </p:spPr>
        <p:txBody>
          <a:bodyPr/>
          <a:lstStyle/>
          <a:p>
            <a:endParaRPr lang="en-US"/>
          </a:p>
        </p:txBody>
      </p:sp>
      <p:sp>
        <p:nvSpPr>
          <p:cNvPr id="71" name="Shape 69"/>
          <p:cNvSpPr/>
          <p:nvPr/>
        </p:nvSpPr>
        <p:spPr>
          <a:xfrm>
            <a:off x="7232904" y="1097280"/>
            <a:ext cx="1627632" cy="73152"/>
          </a:xfrm>
          <a:prstGeom prst="rect">
            <a:avLst/>
          </a:prstGeom>
          <a:solidFill>
            <a:srgbClr val="FFD166"/>
          </a:solidFill>
          <a:ln w="12700">
            <a:solidFill>
              <a:srgbClr val="FFD166"/>
            </a:solidFill>
            <a:prstDash val="solid"/>
          </a:ln>
        </p:spPr>
        <p:txBody>
          <a:bodyPr/>
          <a:lstStyle/>
          <a:p>
            <a:endParaRPr lang="en-US"/>
          </a:p>
        </p:txBody>
      </p:sp>
      <p:sp>
        <p:nvSpPr>
          <p:cNvPr id="72" name="Text 70"/>
          <p:cNvSpPr/>
          <p:nvPr/>
        </p:nvSpPr>
        <p:spPr>
          <a:xfrm>
            <a:off x="7370064" y="1261872"/>
            <a:ext cx="1353312" cy="228600"/>
          </a:xfrm>
          <a:prstGeom prst="rect">
            <a:avLst/>
          </a:prstGeom>
          <a:noFill/>
          <a:ln/>
        </p:spPr>
        <p:txBody>
          <a:bodyPr wrap="square" lIns="0" tIns="0" rIns="0" bIns="0" rtlCol="0" anchor="ctr"/>
          <a:lstStyle/>
          <a:p>
            <a:pPr marL="0" indent="0">
              <a:buNone/>
            </a:pPr>
            <a:r>
              <a:rPr lang="en-US" sz="1000" b="1" kern="0" spc="400" dirty="0">
                <a:solidFill>
                  <a:srgbClr val="FFD166"/>
                </a:solidFill>
                <a:latin typeface="Calibri" pitchFamily="34" charset="0"/>
                <a:ea typeface="Calibri" pitchFamily="34" charset="-122"/>
                <a:cs typeface="Calibri" pitchFamily="34" charset="-120"/>
              </a:rPr>
              <a:t>LEVEL 5</a:t>
            </a:r>
            <a:endParaRPr lang="en-US" sz="1000" dirty="0"/>
          </a:p>
        </p:txBody>
      </p:sp>
      <p:sp>
        <p:nvSpPr>
          <p:cNvPr id="73" name="Text 71"/>
          <p:cNvSpPr/>
          <p:nvPr/>
        </p:nvSpPr>
        <p:spPr>
          <a:xfrm>
            <a:off x="7370064" y="1481328"/>
            <a:ext cx="1353312" cy="54864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Agentic Adaptive</a:t>
            </a:r>
            <a:endParaRPr lang="en-US" sz="1500" dirty="0"/>
          </a:p>
        </p:txBody>
      </p:sp>
      <p:sp>
        <p:nvSpPr>
          <p:cNvPr id="74" name="Text 72"/>
          <p:cNvSpPr/>
          <p:nvPr/>
        </p:nvSpPr>
        <p:spPr>
          <a:xfrm>
            <a:off x="7370064" y="2057400"/>
            <a:ext cx="1353312" cy="201168"/>
          </a:xfrm>
          <a:prstGeom prst="rect">
            <a:avLst/>
          </a:prstGeom>
          <a:noFill/>
          <a:ln/>
        </p:spPr>
        <p:txBody>
          <a:bodyPr wrap="square" lIns="0" tIns="0" rIns="0" bIns="0" rtlCol="0" anchor="ctr"/>
          <a:lstStyle/>
          <a:p>
            <a:pPr marL="0" indent="0">
              <a:buNone/>
            </a:pPr>
            <a:r>
              <a:rPr lang="en-US" sz="800" b="1" kern="0" spc="300" dirty="0">
                <a:solidFill>
                  <a:srgbClr val="F78166"/>
                </a:solidFill>
                <a:latin typeface="Calibri" pitchFamily="34" charset="0"/>
                <a:ea typeface="Calibri" pitchFamily="34" charset="-122"/>
                <a:cs typeface="Calibri" pitchFamily="34" charset="-120"/>
              </a:rPr>
              <a:t>INTEGRATION</a:t>
            </a:r>
            <a:endParaRPr lang="en-US" sz="800" dirty="0"/>
          </a:p>
        </p:txBody>
      </p:sp>
      <p:sp>
        <p:nvSpPr>
          <p:cNvPr id="75" name="Text 73"/>
          <p:cNvSpPr/>
          <p:nvPr/>
        </p:nvSpPr>
        <p:spPr>
          <a:xfrm>
            <a:off x="7370064" y="2240280"/>
            <a:ext cx="1353312" cy="256032"/>
          </a:xfrm>
          <a:prstGeom prst="rect">
            <a:avLst/>
          </a:prstGeom>
          <a:noFill/>
          <a:ln/>
        </p:spPr>
        <p:txBody>
          <a:bodyPr wrap="square" lIns="0" tIns="0" rIns="0" bIns="0" rtlCol="0" anchor="ctr"/>
          <a:lstStyle/>
          <a:p>
            <a:pPr marL="0" indent="0">
              <a:buNone/>
            </a:pPr>
            <a:r>
              <a:rPr lang="en-US" sz="1100" b="1" dirty="0">
                <a:solidFill>
                  <a:srgbClr val="FFFFFF"/>
                </a:solidFill>
                <a:latin typeface="Calibri" pitchFamily="34" charset="0"/>
                <a:ea typeface="Calibri" pitchFamily="34" charset="-122"/>
                <a:cs typeface="Calibri" pitchFamily="34" charset="-120"/>
              </a:rPr>
              <a:t>Agents as Automation</a:t>
            </a:r>
            <a:endParaRPr lang="en-US" sz="1100" dirty="0"/>
          </a:p>
        </p:txBody>
      </p:sp>
      <p:sp>
        <p:nvSpPr>
          <p:cNvPr id="76" name="Text 74"/>
          <p:cNvSpPr/>
          <p:nvPr/>
        </p:nvSpPr>
        <p:spPr>
          <a:xfrm>
            <a:off x="7370064" y="2542032"/>
            <a:ext cx="1353312" cy="685800"/>
          </a:xfrm>
          <a:prstGeom prst="rect">
            <a:avLst/>
          </a:prstGeom>
          <a:noFill/>
          <a:ln/>
        </p:spPr>
        <p:txBody>
          <a:bodyPr wrap="square" lIns="0" tIns="0" rIns="0" bIns="0" rtlCol="0" anchor="ctr"/>
          <a:lstStyle/>
          <a:p>
            <a:pPr marL="0" indent="0">
              <a:buNone/>
            </a:pPr>
            <a:r>
              <a:rPr lang="en-US" sz="900" dirty="0">
                <a:solidFill>
                  <a:srgbClr val="94A3B8"/>
                </a:solidFill>
                <a:latin typeface="Calibri" pitchFamily="34" charset="0"/>
                <a:ea typeface="Calibri" pitchFamily="34" charset="-122"/>
                <a:cs typeface="Calibri" pitchFamily="34" charset="-120"/>
              </a:rPr>
              <a:t>Self-directing systems; humans set goals, review outcomes.</a:t>
            </a:r>
            <a:endParaRPr lang="en-US" sz="900" dirty="0"/>
          </a:p>
        </p:txBody>
      </p:sp>
      <p:sp>
        <p:nvSpPr>
          <p:cNvPr id="77" name="Text 75"/>
          <p:cNvSpPr/>
          <p:nvPr/>
        </p:nvSpPr>
        <p:spPr>
          <a:xfrm>
            <a:off x="7370064" y="3246120"/>
            <a:ext cx="1353312" cy="182880"/>
          </a:xfrm>
          <a:prstGeom prst="rect">
            <a:avLst/>
          </a:prstGeom>
          <a:noFill/>
          <a:ln/>
        </p:spPr>
        <p:txBody>
          <a:bodyPr wrap="square" lIns="0" tIns="0" rIns="0" bIns="0" rtlCol="0" anchor="ctr"/>
          <a:lstStyle/>
          <a:p>
            <a:pPr marL="0" indent="0">
              <a:buNone/>
            </a:pPr>
            <a:r>
              <a:rPr lang="en-US" sz="800" b="1" kern="0" spc="300" dirty="0">
                <a:solidFill>
                  <a:srgbClr val="F78166"/>
                </a:solidFill>
                <a:latin typeface="Calibri" pitchFamily="34" charset="0"/>
                <a:ea typeface="Calibri" pitchFamily="34" charset="-122"/>
                <a:cs typeface="Calibri" pitchFamily="34" charset="-120"/>
              </a:rPr>
              <a:t>AI / HUMAN RATIO</a:t>
            </a:r>
            <a:endParaRPr lang="en-US" sz="800" dirty="0"/>
          </a:p>
        </p:txBody>
      </p:sp>
      <p:sp>
        <p:nvSpPr>
          <p:cNvPr id="78" name="Shape 76"/>
          <p:cNvSpPr/>
          <p:nvPr/>
        </p:nvSpPr>
        <p:spPr>
          <a:xfrm>
            <a:off x="7370064" y="3438144"/>
            <a:ext cx="1353312" cy="109728"/>
          </a:xfrm>
          <a:prstGeom prst="rect">
            <a:avLst/>
          </a:prstGeom>
          <a:solidFill>
            <a:srgbClr val="0F1729"/>
          </a:solidFill>
          <a:ln w="12700">
            <a:solidFill>
              <a:srgbClr val="0F1729"/>
            </a:solidFill>
            <a:prstDash val="solid"/>
          </a:ln>
        </p:spPr>
        <p:txBody>
          <a:bodyPr/>
          <a:lstStyle/>
          <a:p>
            <a:endParaRPr lang="en-US"/>
          </a:p>
        </p:txBody>
      </p:sp>
      <p:sp>
        <p:nvSpPr>
          <p:cNvPr id="79" name="Shape 77"/>
          <p:cNvSpPr/>
          <p:nvPr/>
        </p:nvSpPr>
        <p:spPr>
          <a:xfrm>
            <a:off x="7370064" y="3438144"/>
            <a:ext cx="1217981" cy="109728"/>
          </a:xfrm>
          <a:prstGeom prst="rect">
            <a:avLst/>
          </a:prstGeom>
          <a:solidFill>
            <a:srgbClr val="4F9DE6"/>
          </a:solidFill>
          <a:ln w="12700">
            <a:solidFill>
              <a:srgbClr val="4F9DE6"/>
            </a:solidFill>
            <a:prstDash val="solid"/>
          </a:ln>
        </p:spPr>
        <p:txBody>
          <a:bodyPr/>
          <a:lstStyle/>
          <a:p>
            <a:endParaRPr lang="en-US"/>
          </a:p>
        </p:txBody>
      </p:sp>
      <p:sp>
        <p:nvSpPr>
          <p:cNvPr id="80" name="Text 78"/>
          <p:cNvSpPr/>
          <p:nvPr/>
        </p:nvSpPr>
        <p:spPr>
          <a:xfrm>
            <a:off x="7370064" y="3566160"/>
            <a:ext cx="676656" cy="201168"/>
          </a:xfrm>
          <a:prstGeom prst="rect">
            <a:avLst/>
          </a:prstGeom>
          <a:noFill/>
          <a:ln/>
        </p:spPr>
        <p:txBody>
          <a:bodyPr wrap="square" lIns="0" tIns="0" rIns="0" bIns="0" rtlCol="0" anchor="ctr"/>
          <a:lstStyle/>
          <a:p>
            <a:pPr marL="0" indent="0">
              <a:buNone/>
            </a:pPr>
            <a:r>
              <a:rPr lang="en-US" sz="800" b="1" dirty="0">
                <a:solidFill>
                  <a:srgbClr val="4F9DE6"/>
                </a:solidFill>
                <a:latin typeface="Calibri" pitchFamily="34" charset="0"/>
                <a:ea typeface="Calibri" pitchFamily="34" charset="-122"/>
                <a:cs typeface="Calibri" pitchFamily="34" charset="-120"/>
              </a:rPr>
              <a:t>90% AI</a:t>
            </a:r>
            <a:endParaRPr lang="en-US" sz="800" dirty="0"/>
          </a:p>
        </p:txBody>
      </p:sp>
      <p:sp>
        <p:nvSpPr>
          <p:cNvPr id="81" name="Text 79"/>
          <p:cNvSpPr/>
          <p:nvPr/>
        </p:nvSpPr>
        <p:spPr>
          <a:xfrm>
            <a:off x="8046720" y="3566160"/>
            <a:ext cx="676656" cy="201168"/>
          </a:xfrm>
          <a:prstGeom prst="rect">
            <a:avLst/>
          </a:prstGeom>
          <a:noFill/>
          <a:ln/>
        </p:spPr>
        <p:txBody>
          <a:bodyPr wrap="square" lIns="0" tIns="0" rIns="0" bIns="0" rtlCol="0" anchor="ctr"/>
          <a:lstStyle/>
          <a:p>
            <a:pPr marL="0" indent="0" algn="r">
              <a:buNone/>
            </a:pPr>
            <a:r>
              <a:rPr lang="en-US" sz="800" b="1" dirty="0">
                <a:solidFill>
                  <a:srgbClr val="94A3B8"/>
                </a:solidFill>
                <a:latin typeface="Calibri" pitchFamily="34" charset="0"/>
                <a:ea typeface="Calibri" pitchFamily="34" charset="-122"/>
                <a:cs typeface="Calibri" pitchFamily="34" charset="-120"/>
              </a:rPr>
              <a:t>10% Human</a:t>
            </a:r>
            <a:endParaRPr lang="en-US" sz="800" dirty="0"/>
          </a:p>
        </p:txBody>
      </p:sp>
      <p:sp>
        <p:nvSpPr>
          <p:cNvPr id="82" name="Text 80"/>
          <p:cNvSpPr/>
          <p:nvPr/>
        </p:nvSpPr>
        <p:spPr>
          <a:xfrm>
            <a:off x="7324344" y="3730752"/>
            <a:ext cx="1444752" cy="164592"/>
          </a:xfrm>
          <a:prstGeom prst="rect">
            <a:avLst/>
          </a:prstGeom>
          <a:noFill/>
          <a:ln/>
        </p:spPr>
        <p:txBody>
          <a:bodyPr wrap="square" lIns="0" tIns="0" rIns="0" bIns="0" rtlCol="0" anchor="ctr"/>
          <a:lstStyle/>
          <a:p>
            <a:pPr marL="0" indent="0" algn="ctr">
              <a:buNone/>
            </a:pPr>
            <a:r>
              <a:rPr lang="en-US" sz="700" b="1" kern="0" spc="300" dirty="0">
                <a:solidFill>
                  <a:srgbClr val="94A3B8"/>
                </a:solidFill>
                <a:latin typeface="Calibri" pitchFamily="34" charset="0"/>
                <a:ea typeface="Calibri" pitchFamily="34" charset="-122"/>
                <a:cs typeface="Calibri" pitchFamily="34" charset="-120"/>
              </a:rPr>
              <a:t>PRODUCTIVITY</a:t>
            </a:r>
            <a:endParaRPr lang="en-US" sz="700" dirty="0"/>
          </a:p>
        </p:txBody>
      </p:sp>
      <p:sp>
        <p:nvSpPr>
          <p:cNvPr id="83" name="Text 81"/>
          <p:cNvSpPr/>
          <p:nvPr/>
        </p:nvSpPr>
        <p:spPr>
          <a:xfrm>
            <a:off x="7324344" y="3886200"/>
            <a:ext cx="1444752" cy="292608"/>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~10-20x</a:t>
            </a:r>
            <a:endParaRPr lang="en-US" sz="1600" dirty="0"/>
          </a:p>
        </p:txBody>
      </p:sp>
      <p:sp>
        <p:nvSpPr>
          <p:cNvPr id="84" name="Shape 82"/>
          <p:cNvSpPr/>
          <p:nvPr/>
        </p:nvSpPr>
        <p:spPr>
          <a:xfrm>
            <a:off x="7598664" y="4160520"/>
            <a:ext cx="896112" cy="228600"/>
          </a:xfrm>
          <a:prstGeom prst="rect">
            <a:avLst/>
          </a:prstGeom>
          <a:solidFill>
            <a:srgbClr val="F78166"/>
          </a:solidFill>
          <a:ln w="12700">
            <a:solidFill>
              <a:srgbClr val="F78166"/>
            </a:solidFill>
            <a:prstDash val="solid"/>
          </a:ln>
        </p:spPr>
        <p:txBody>
          <a:bodyPr/>
          <a:lstStyle/>
          <a:p>
            <a:endParaRPr lang="en-US"/>
          </a:p>
        </p:txBody>
      </p:sp>
      <p:sp>
        <p:nvSpPr>
          <p:cNvPr id="85" name="Text 83"/>
          <p:cNvSpPr/>
          <p:nvPr/>
        </p:nvSpPr>
        <p:spPr>
          <a:xfrm>
            <a:off x="7598664" y="4160520"/>
            <a:ext cx="896112" cy="228600"/>
          </a:xfrm>
          <a:prstGeom prst="rect">
            <a:avLst/>
          </a:prstGeom>
          <a:noFill/>
          <a:ln/>
        </p:spPr>
        <p:txBody>
          <a:bodyPr wrap="square" lIns="0" tIns="0" rIns="0" bIns="0" rtlCol="0" anchor="ctr"/>
          <a:lstStyle/>
          <a:p>
            <a:pPr marL="0" indent="0" algn="ctr">
              <a:buNone/>
            </a:pPr>
            <a:r>
              <a:rPr lang="en-US" sz="900" b="1" kern="0" spc="200" dirty="0">
                <a:solidFill>
                  <a:srgbClr val="0F1729"/>
                </a:solidFill>
                <a:latin typeface="Calibri" pitchFamily="34" charset="0"/>
                <a:ea typeface="Calibri" pitchFamily="34" charset="-122"/>
                <a:cs typeface="Calibri" pitchFamily="34" charset="-120"/>
              </a:rPr>
              <a:t>Director</a:t>
            </a:r>
            <a:endParaRPr lang="en-US" sz="900" dirty="0"/>
          </a:p>
        </p:txBody>
      </p:sp>
      <p:sp>
        <p:nvSpPr>
          <p:cNvPr id="86" name="Shape 84"/>
          <p:cNvSpPr/>
          <p:nvPr/>
        </p:nvSpPr>
        <p:spPr>
          <a:xfrm>
            <a:off x="2926080" y="1024128"/>
            <a:ext cx="1554480" cy="347472"/>
          </a:xfrm>
          <a:prstGeom prst="rect">
            <a:avLst/>
          </a:prstGeom>
          <a:solidFill>
            <a:srgbClr val="F78166"/>
          </a:solidFill>
          <a:ln w="12700">
            <a:solidFill>
              <a:srgbClr val="F78166"/>
            </a:solidFill>
            <a:prstDash val="solid"/>
          </a:ln>
          <a:effectLst>
            <a:outerShdw blurRad="101600" dist="25400" dir="8100000" algn="bl" rotWithShape="0">
              <a:srgbClr val="000000">
                <a:alpha val="12000"/>
              </a:srgbClr>
            </a:outerShdw>
          </a:effectLst>
        </p:spPr>
        <p:txBody>
          <a:bodyPr/>
          <a:lstStyle/>
          <a:p>
            <a:endParaRPr lang="en-US"/>
          </a:p>
        </p:txBody>
      </p:sp>
      <p:sp>
        <p:nvSpPr>
          <p:cNvPr id="87" name="Text 85"/>
          <p:cNvSpPr/>
          <p:nvPr/>
        </p:nvSpPr>
        <p:spPr>
          <a:xfrm>
            <a:off x="2926080" y="1024128"/>
            <a:ext cx="1554480" cy="347472"/>
          </a:xfrm>
          <a:prstGeom prst="rect">
            <a:avLst/>
          </a:prstGeom>
          <a:noFill/>
          <a:ln/>
        </p:spPr>
        <p:txBody>
          <a:bodyPr wrap="square" lIns="0" tIns="0" rIns="0" bIns="0" rtlCol="0" anchor="ctr"/>
          <a:lstStyle/>
          <a:p>
            <a:pPr marL="0" indent="0" algn="ctr">
              <a:buNone/>
            </a:pPr>
            <a:r>
              <a:rPr lang="en-US" sz="1000" b="1" kern="0" spc="300" dirty="0">
                <a:solidFill>
                  <a:srgbClr val="FFFFFF"/>
                </a:solidFill>
                <a:latin typeface="Calibri" pitchFamily="34" charset="0"/>
                <a:ea typeface="Calibri" pitchFamily="34" charset="-122"/>
                <a:cs typeface="Calibri" pitchFamily="34" charset="-120"/>
              </a:rPr>
              <a:t>THE CAPABILITY GAP</a:t>
            </a:r>
            <a:endParaRPr lang="en-US" sz="1000" dirty="0"/>
          </a:p>
        </p:txBody>
      </p:sp>
      <p:sp>
        <p:nvSpPr>
          <p:cNvPr id="88" name="Shape 86"/>
          <p:cNvSpPr/>
          <p:nvPr/>
        </p:nvSpPr>
        <p:spPr>
          <a:xfrm>
            <a:off x="365760" y="4754880"/>
            <a:ext cx="146304" cy="146304"/>
          </a:xfrm>
          <a:prstGeom prst="ellipse">
            <a:avLst/>
          </a:prstGeom>
          <a:solidFill>
            <a:srgbClr val="4F9DE6"/>
          </a:solidFill>
          <a:ln w="12700">
            <a:solidFill>
              <a:srgbClr val="4F9DE6"/>
            </a:solidFill>
            <a:prstDash val="solid"/>
          </a:ln>
        </p:spPr>
        <p:txBody>
          <a:bodyPr/>
          <a:lstStyle/>
          <a:p>
            <a:endParaRPr lang="en-US"/>
          </a:p>
        </p:txBody>
      </p:sp>
      <p:sp>
        <p:nvSpPr>
          <p:cNvPr id="89" name="Text 87"/>
          <p:cNvSpPr/>
          <p:nvPr/>
        </p:nvSpPr>
        <p:spPr>
          <a:xfrm>
            <a:off x="548640" y="4709160"/>
            <a:ext cx="2103120" cy="256032"/>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Individual Productivity</a:t>
            </a:r>
            <a:endParaRPr lang="en-US" sz="1000" dirty="0"/>
          </a:p>
        </p:txBody>
      </p:sp>
      <p:sp>
        <p:nvSpPr>
          <p:cNvPr id="90" name="Text 88"/>
          <p:cNvSpPr/>
          <p:nvPr/>
        </p:nvSpPr>
        <p:spPr>
          <a:xfrm>
            <a:off x="2651760" y="4709160"/>
            <a:ext cx="4206240" cy="256032"/>
          </a:xfrm>
          <a:prstGeom prst="rect">
            <a:avLst/>
          </a:prstGeom>
          <a:noFill/>
          <a:ln/>
        </p:spPr>
        <p:txBody>
          <a:bodyPr wrap="square" lIns="0" tIns="0" rIns="0" bIns="0" rtlCol="0" anchor="ctr"/>
          <a:lstStyle/>
          <a:p>
            <a:pPr marL="0" indent="0" algn="ctr">
              <a:buNone/>
            </a:pPr>
            <a:r>
              <a:rPr lang="en-US" sz="1000" i="1" dirty="0">
                <a:solidFill>
                  <a:srgbClr val="FFFFFF"/>
                </a:solidFill>
                <a:latin typeface="Calibri" pitchFamily="34" charset="0"/>
                <a:ea typeface="Calibri" pitchFamily="34" charset="-122"/>
                <a:cs typeface="Calibri" pitchFamily="34" charset="-120"/>
              </a:rPr>
              <a:t>The human role shifts from Producer → Reviewer → Director</a:t>
            </a:r>
            <a:endParaRPr lang="en-US" sz="1000" dirty="0"/>
          </a:p>
        </p:txBody>
      </p:sp>
      <p:sp>
        <p:nvSpPr>
          <p:cNvPr id="91" name="Shape 89"/>
          <p:cNvSpPr/>
          <p:nvPr/>
        </p:nvSpPr>
        <p:spPr>
          <a:xfrm>
            <a:off x="6949440" y="4754880"/>
            <a:ext cx="146304" cy="146304"/>
          </a:xfrm>
          <a:prstGeom prst="ellipse">
            <a:avLst/>
          </a:prstGeom>
          <a:solidFill>
            <a:srgbClr val="F78166"/>
          </a:solidFill>
          <a:ln w="12700">
            <a:solidFill>
              <a:srgbClr val="F78166"/>
            </a:solidFill>
            <a:prstDash val="solid"/>
          </a:ln>
        </p:spPr>
        <p:txBody>
          <a:bodyPr/>
          <a:lstStyle/>
          <a:p>
            <a:endParaRPr lang="en-US"/>
          </a:p>
        </p:txBody>
      </p:sp>
      <p:sp>
        <p:nvSpPr>
          <p:cNvPr id="92" name="Text 90"/>
          <p:cNvSpPr/>
          <p:nvPr/>
        </p:nvSpPr>
        <p:spPr>
          <a:xfrm>
            <a:off x="7132320" y="4709160"/>
            <a:ext cx="1828800" cy="256032"/>
          </a:xfrm>
          <a:prstGeom prst="rect">
            <a:avLst/>
          </a:prstGeom>
          <a:noFill/>
          <a:ln/>
        </p:spPr>
        <p:txBody>
          <a:bodyPr wrap="square" lIns="0" tIns="0" rIns="0" bIns="0" rtlCol="0" anchor="ctr"/>
          <a:lstStyle/>
          <a:p>
            <a:pPr marL="0" indent="0">
              <a:buNone/>
            </a:pPr>
            <a:r>
              <a:rPr lang="en-US" sz="1000" dirty="0">
                <a:solidFill>
                  <a:srgbClr val="94A3B8"/>
                </a:solidFill>
                <a:latin typeface="Calibri" pitchFamily="34" charset="0"/>
                <a:ea typeface="Calibri" pitchFamily="34" charset="-122"/>
                <a:cs typeface="Calibri" pitchFamily="34" charset="-120"/>
              </a:rPr>
              <a:t>Organizational Capability</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F78166"/>
          </a:solidFill>
          <a:ln w="12700">
            <a:solidFill>
              <a:srgbClr val="F78166"/>
            </a:solidFill>
            <a:prstDash val="solid"/>
          </a:ln>
        </p:spPr>
        <p:txBody>
          <a:bodyPr/>
          <a:lstStyle/>
          <a:p>
            <a:endParaRPr lang="en-US"/>
          </a:p>
        </p:txBody>
      </p:sp>
      <p:sp>
        <p:nvSpPr>
          <p:cNvPr id="3" name="Text 1"/>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400" dirty="0">
                <a:solidFill>
                  <a:srgbClr val="F78166"/>
                </a:solidFill>
                <a:latin typeface="Calibri" pitchFamily="34" charset="0"/>
                <a:ea typeface="Calibri" pitchFamily="34" charset="-122"/>
                <a:cs typeface="Calibri" pitchFamily="34" charset="-120"/>
              </a:rPr>
              <a:t>THE PROBLEM</a:t>
            </a:r>
            <a:endParaRPr lang="en-US" sz="1100" dirty="0"/>
          </a:p>
        </p:txBody>
      </p:sp>
      <p:sp>
        <p:nvSpPr>
          <p:cNvPr id="4" name="Text 2"/>
          <p:cNvSpPr/>
          <p:nvPr/>
        </p:nvSpPr>
        <p:spPr>
          <a:xfrm>
            <a:off x="548640" y="502920"/>
            <a:ext cx="8229600" cy="685800"/>
          </a:xfrm>
          <a:prstGeom prst="rect">
            <a:avLst/>
          </a:prstGeom>
          <a:noFill/>
          <a:ln/>
        </p:spPr>
        <p:txBody>
          <a:bodyPr wrap="square" lIns="0" tIns="0" rIns="0" bIns="0" rtlCol="0" anchor="ctr"/>
          <a:lstStyle/>
          <a:p>
            <a:pPr marL="0" indent="0">
              <a:buNone/>
            </a:pPr>
            <a:r>
              <a:rPr lang="en-US" sz="3000" b="1" dirty="0">
                <a:solidFill>
                  <a:srgbClr val="1E293B"/>
                </a:solidFill>
                <a:latin typeface="Calibri" pitchFamily="34" charset="0"/>
                <a:ea typeface="Calibri" pitchFamily="34" charset="-122"/>
                <a:cs typeface="Calibri" pitchFamily="34" charset="-120"/>
              </a:rPr>
              <a:t>Solo wins don't scale.</a:t>
            </a:r>
            <a:endParaRPr lang="en-US" sz="3000" dirty="0"/>
          </a:p>
        </p:txBody>
      </p:sp>
      <p:sp>
        <p:nvSpPr>
          <p:cNvPr id="5" name="Shape 3"/>
          <p:cNvSpPr/>
          <p:nvPr/>
        </p:nvSpPr>
        <p:spPr>
          <a:xfrm>
            <a:off x="548640" y="1417320"/>
            <a:ext cx="4023360" cy="150876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6" name="Shape 4"/>
          <p:cNvSpPr/>
          <p:nvPr/>
        </p:nvSpPr>
        <p:spPr>
          <a:xfrm>
            <a:off x="548640" y="1417320"/>
            <a:ext cx="4023360" cy="73152"/>
          </a:xfrm>
          <a:prstGeom prst="rect">
            <a:avLst/>
          </a:prstGeom>
          <a:solidFill>
            <a:srgbClr val="F78166"/>
          </a:solidFill>
          <a:ln w="12700">
            <a:solidFill>
              <a:srgbClr val="F78166"/>
            </a:solidFill>
            <a:prstDash val="solid"/>
          </a:ln>
        </p:spPr>
        <p:txBody>
          <a:bodyPr/>
          <a:lstStyle/>
          <a:p>
            <a:endParaRPr lang="en-US"/>
          </a:p>
        </p:txBody>
      </p:sp>
      <p:sp>
        <p:nvSpPr>
          <p:cNvPr id="7" name="Shape 5"/>
          <p:cNvSpPr/>
          <p:nvPr/>
        </p:nvSpPr>
        <p:spPr>
          <a:xfrm>
            <a:off x="777240" y="1691640"/>
            <a:ext cx="548640" cy="548640"/>
          </a:xfrm>
          <a:prstGeom prst="ellipse">
            <a:avLst/>
          </a:prstGeom>
          <a:solidFill>
            <a:srgbClr val="0B1F3A"/>
          </a:solidFill>
          <a:ln w="12700">
            <a:solidFill>
              <a:srgbClr val="0B1F3A"/>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868680" y="1783080"/>
            <a:ext cx="365760" cy="365760"/>
          </a:xfrm>
          <a:prstGeom prst="rect">
            <a:avLst/>
          </a:prstGeom>
        </p:spPr>
      </p:pic>
      <p:sp>
        <p:nvSpPr>
          <p:cNvPr id="9" name="Text 6"/>
          <p:cNvSpPr/>
          <p:nvPr/>
        </p:nvSpPr>
        <p:spPr>
          <a:xfrm>
            <a:off x="1463040" y="1673352"/>
            <a:ext cx="2971800" cy="502920"/>
          </a:xfrm>
          <a:prstGeom prst="rect">
            <a:avLst/>
          </a:prstGeom>
          <a:noFill/>
          <a:ln/>
        </p:spPr>
        <p:txBody>
          <a:bodyPr wrap="square" lIns="0" tIns="0" rIns="0" bIns="0" rtlCol="0" anchor="ctr"/>
          <a:lstStyle/>
          <a:p>
            <a:pPr marL="0" indent="0">
              <a:buNone/>
            </a:pPr>
            <a:r>
              <a:rPr lang="en-US" sz="1500" b="1" dirty="0">
                <a:solidFill>
                  <a:srgbClr val="1E293B"/>
                </a:solidFill>
                <a:latin typeface="Calibri" pitchFamily="34" charset="0"/>
                <a:ea typeface="Calibri" pitchFamily="34" charset="-122"/>
                <a:cs typeface="Calibri" pitchFamily="34" charset="-120"/>
              </a:rPr>
              <a:t>Every session starts from zero</a:t>
            </a:r>
            <a:endParaRPr lang="en-US" sz="1500" dirty="0"/>
          </a:p>
        </p:txBody>
      </p:sp>
      <p:sp>
        <p:nvSpPr>
          <p:cNvPr id="10" name="Text 7"/>
          <p:cNvSpPr/>
          <p:nvPr/>
        </p:nvSpPr>
        <p:spPr>
          <a:xfrm>
            <a:off x="1463040" y="2194560"/>
            <a:ext cx="2971800" cy="68580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No shared context carries between developers or days.</a:t>
            </a:r>
            <a:endParaRPr lang="en-US" sz="1200" dirty="0"/>
          </a:p>
        </p:txBody>
      </p:sp>
      <p:sp>
        <p:nvSpPr>
          <p:cNvPr id="11" name="Shape 8"/>
          <p:cNvSpPr/>
          <p:nvPr/>
        </p:nvSpPr>
        <p:spPr>
          <a:xfrm>
            <a:off x="4754880" y="1417320"/>
            <a:ext cx="4023360" cy="150876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12" name="Shape 9"/>
          <p:cNvSpPr/>
          <p:nvPr/>
        </p:nvSpPr>
        <p:spPr>
          <a:xfrm>
            <a:off x="4754880" y="1417320"/>
            <a:ext cx="4023360" cy="73152"/>
          </a:xfrm>
          <a:prstGeom prst="rect">
            <a:avLst/>
          </a:prstGeom>
          <a:solidFill>
            <a:srgbClr val="F78166"/>
          </a:solidFill>
          <a:ln w="12700">
            <a:solidFill>
              <a:srgbClr val="F78166"/>
            </a:solidFill>
            <a:prstDash val="solid"/>
          </a:ln>
        </p:spPr>
        <p:txBody>
          <a:bodyPr/>
          <a:lstStyle/>
          <a:p>
            <a:endParaRPr lang="en-US"/>
          </a:p>
        </p:txBody>
      </p:sp>
      <p:sp>
        <p:nvSpPr>
          <p:cNvPr id="13" name="Shape 10"/>
          <p:cNvSpPr/>
          <p:nvPr/>
        </p:nvSpPr>
        <p:spPr>
          <a:xfrm>
            <a:off x="4983480" y="1691640"/>
            <a:ext cx="548640" cy="548640"/>
          </a:xfrm>
          <a:prstGeom prst="ellipse">
            <a:avLst/>
          </a:prstGeom>
          <a:solidFill>
            <a:srgbClr val="0B1F3A"/>
          </a:solidFill>
          <a:ln w="12700">
            <a:solidFill>
              <a:srgbClr val="0B1F3A"/>
            </a:solidFill>
            <a:prstDash val="solid"/>
          </a:ln>
        </p:spPr>
        <p:txBody>
          <a:bodyPr/>
          <a:lstStyle/>
          <a:p>
            <a:endParaRPr lang="en-US"/>
          </a:p>
        </p:txBody>
      </p:sp>
      <p:pic>
        <p:nvPicPr>
          <p:cNvPr id="14" name="Image 1" descr="preencoded.png"/>
          <p:cNvPicPr>
            <a:picLocks noChangeAspect="1"/>
          </p:cNvPicPr>
          <p:nvPr/>
        </p:nvPicPr>
        <p:blipFill>
          <a:blip r:embed="rId4"/>
          <a:stretch>
            <a:fillRect/>
          </a:stretch>
        </p:blipFill>
        <p:spPr>
          <a:xfrm>
            <a:off x="5074920" y="1783080"/>
            <a:ext cx="365760" cy="365760"/>
          </a:xfrm>
          <a:prstGeom prst="rect">
            <a:avLst/>
          </a:prstGeom>
        </p:spPr>
      </p:pic>
      <p:sp>
        <p:nvSpPr>
          <p:cNvPr id="15" name="Text 11"/>
          <p:cNvSpPr/>
          <p:nvPr/>
        </p:nvSpPr>
        <p:spPr>
          <a:xfrm>
            <a:off x="5669280" y="1673352"/>
            <a:ext cx="2971800" cy="502920"/>
          </a:xfrm>
          <a:prstGeom prst="rect">
            <a:avLst/>
          </a:prstGeom>
          <a:noFill/>
          <a:ln/>
        </p:spPr>
        <p:txBody>
          <a:bodyPr wrap="square" lIns="0" tIns="0" rIns="0" bIns="0" rtlCol="0" anchor="ctr"/>
          <a:lstStyle/>
          <a:p>
            <a:pPr marL="0" indent="0">
              <a:buNone/>
            </a:pPr>
            <a:r>
              <a:rPr lang="en-US" sz="1500" b="1" dirty="0">
                <a:solidFill>
                  <a:srgbClr val="1E293B"/>
                </a:solidFill>
                <a:latin typeface="Calibri" pitchFamily="34" charset="0"/>
                <a:ea typeface="Calibri" pitchFamily="34" charset="-122"/>
                <a:cs typeface="Calibri" pitchFamily="34" charset="-120"/>
              </a:rPr>
              <a:t>Copilot doesn't know your team</a:t>
            </a:r>
            <a:endParaRPr lang="en-US" sz="1500" dirty="0"/>
          </a:p>
        </p:txBody>
      </p:sp>
      <p:sp>
        <p:nvSpPr>
          <p:cNvPr id="16" name="Text 12"/>
          <p:cNvSpPr/>
          <p:nvPr/>
        </p:nvSpPr>
        <p:spPr>
          <a:xfrm>
            <a:off x="5669280" y="2194560"/>
            <a:ext cx="2971800" cy="68580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It hasn't learned how you write code, review PRs, or deploy.</a:t>
            </a:r>
            <a:endParaRPr lang="en-US" sz="1200" dirty="0"/>
          </a:p>
        </p:txBody>
      </p:sp>
      <p:sp>
        <p:nvSpPr>
          <p:cNvPr id="17" name="Shape 13"/>
          <p:cNvSpPr/>
          <p:nvPr/>
        </p:nvSpPr>
        <p:spPr>
          <a:xfrm>
            <a:off x="548640" y="3108960"/>
            <a:ext cx="4023360" cy="150876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18" name="Shape 14"/>
          <p:cNvSpPr/>
          <p:nvPr/>
        </p:nvSpPr>
        <p:spPr>
          <a:xfrm>
            <a:off x="548640" y="3108960"/>
            <a:ext cx="4023360" cy="73152"/>
          </a:xfrm>
          <a:prstGeom prst="rect">
            <a:avLst/>
          </a:prstGeom>
          <a:solidFill>
            <a:srgbClr val="F78166"/>
          </a:solidFill>
          <a:ln w="12700">
            <a:solidFill>
              <a:srgbClr val="F78166"/>
            </a:solidFill>
            <a:prstDash val="solid"/>
          </a:ln>
        </p:spPr>
        <p:txBody>
          <a:bodyPr/>
          <a:lstStyle/>
          <a:p>
            <a:endParaRPr lang="en-US"/>
          </a:p>
        </p:txBody>
      </p:sp>
      <p:sp>
        <p:nvSpPr>
          <p:cNvPr id="19" name="Shape 15"/>
          <p:cNvSpPr/>
          <p:nvPr/>
        </p:nvSpPr>
        <p:spPr>
          <a:xfrm>
            <a:off x="777240" y="3383280"/>
            <a:ext cx="548640" cy="548640"/>
          </a:xfrm>
          <a:prstGeom prst="ellipse">
            <a:avLst/>
          </a:prstGeom>
          <a:solidFill>
            <a:srgbClr val="0B1F3A"/>
          </a:solidFill>
          <a:ln w="12700">
            <a:solidFill>
              <a:srgbClr val="0B1F3A"/>
            </a:solidFill>
            <a:prstDash val="solid"/>
          </a:ln>
        </p:spPr>
        <p:txBody>
          <a:bodyPr/>
          <a:lstStyle/>
          <a:p>
            <a:endParaRPr lang="en-US"/>
          </a:p>
        </p:txBody>
      </p:sp>
      <p:pic>
        <p:nvPicPr>
          <p:cNvPr id="20" name="Image 2" descr="preencoded.png"/>
          <p:cNvPicPr>
            <a:picLocks noChangeAspect="1"/>
          </p:cNvPicPr>
          <p:nvPr/>
        </p:nvPicPr>
        <p:blipFill>
          <a:blip r:embed="rId5"/>
          <a:stretch>
            <a:fillRect/>
          </a:stretch>
        </p:blipFill>
        <p:spPr>
          <a:xfrm>
            <a:off x="868680" y="3474720"/>
            <a:ext cx="365760" cy="365760"/>
          </a:xfrm>
          <a:prstGeom prst="rect">
            <a:avLst/>
          </a:prstGeom>
        </p:spPr>
      </p:pic>
      <p:sp>
        <p:nvSpPr>
          <p:cNvPr id="21" name="Text 16"/>
          <p:cNvSpPr/>
          <p:nvPr/>
        </p:nvSpPr>
        <p:spPr>
          <a:xfrm>
            <a:off x="1463040" y="3364992"/>
            <a:ext cx="2971800" cy="502920"/>
          </a:xfrm>
          <a:prstGeom prst="rect">
            <a:avLst/>
          </a:prstGeom>
          <a:noFill/>
          <a:ln/>
        </p:spPr>
        <p:txBody>
          <a:bodyPr wrap="square" lIns="0" tIns="0" rIns="0" bIns="0" rtlCol="0" anchor="ctr"/>
          <a:lstStyle/>
          <a:p>
            <a:pPr marL="0" indent="0">
              <a:buNone/>
            </a:pPr>
            <a:r>
              <a:rPr lang="en-US" sz="1500" b="1" dirty="0">
                <a:solidFill>
                  <a:srgbClr val="1E293B"/>
                </a:solidFill>
                <a:latin typeface="Calibri" pitchFamily="34" charset="0"/>
                <a:ea typeface="Calibri" pitchFamily="34" charset="-122"/>
                <a:cs typeface="Calibri" pitchFamily="34" charset="-120"/>
              </a:rPr>
              <a:t>Tribal knowledge stays tribal</a:t>
            </a:r>
            <a:endParaRPr lang="en-US" sz="1500" dirty="0"/>
          </a:p>
        </p:txBody>
      </p:sp>
      <p:sp>
        <p:nvSpPr>
          <p:cNvPr id="22" name="Text 17"/>
          <p:cNvSpPr/>
          <p:nvPr/>
        </p:nvSpPr>
        <p:spPr>
          <a:xfrm>
            <a:off x="1463040" y="3886200"/>
            <a:ext cx="2971800" cy="68580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Conventions live in people's heads — not in the tools.</a:t>
            </a:r>
            <a:endParaRPr lang="en-US" sz="1200" dirty="0"/>
          </a:p>
        </p:txBody>
      </p:sp>
      <p:sp>
        <p:nvSpPr>
          <p:cNvPr id="23" name="Shape 18"/>
          <p:cNvSpPr/>
          <p:nvPr/>
        </p:nvSpPr>
        <p:spPr>
          <a:xfrm>
            <a:off x="4754880" y="3108960"/>
            <a:ext cx="4023360" cy="150876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24" name="Shape 19"/>
          <p:cNvSpPr/>
          <p:nvPr/>
        </p:nvSpPr>
        <p:spPr>
          <a:xfrm>
            <a:off x="4754880" y="3108960"/>
            <a:ext cx="4023360" cy="73152"/>
          </a:xfrm>
          <a:prstGeom prst="rect">
            <a:avLst/>
          </a:prstGeom>
          <a:solidFill>
            <a:srgbClr val="F78166"/>
          </a:solidFill>
          <a:ln w="12700">
            <a:solidFill>
              <a:srgbClr val="F78166"/>
            </a:solidFill>
            <a:prstDash val="solid"/>
          </a:ln>
        </p:spPr>
        <p:txBody>
          <a:bodyPr/>
          <a:lstStyle/>
          <a:p>
            <a:endParaRPr lang="en-US"/>
          </a:p>
        </p:txBody>
      </p:sp>
      <p:sp>
        <p:nvSpPr>
          <p:cNvPr id="25" name="Shape 20"/>
          <p:cNvSpPr/>
          <p:nvPr/>
        </p:nvSpPr>
        <p:spPr>
          <a:xfrm>
            <a:off x="4983480" y="3383280"/>
            <a:ext cx="548640" cy="548640"/>
          </a:xfrm>
          <a:prstGeom prst="ellipse">
            <a:avLst/>
          </a:prstGeom>
          <a:solidFill>
            <a:srgbClr val="0B1F3A"/>
          </a:solidFill>
          <a:ln w="12700">
            <a:solidFill>
              <a:srgbClr val="0B1F3A"/>
            </a:solidFill>
            <a:prstDash val="solid"/>
          </a:ln>
        </p:spPr>
        <p:txBody>
          <a:bodyPr/>
          <a:lstStyle/>
          <a:p>
            <a:endParaRPr lang="en-US"/>
          </a:p>
        </p:txBody>
      </p:sp>
      <p:pic>
        <p:nvPicPr>
          <p:cNvPr id="26" name="Image 3" descr="preencoded.png"/>
          <p:cNvPicPr>
            <a:picLocks noChangeAspect="1"/>
          </p:cNvPicPr>
          <p:nvPr/>
        </p:nvPicPr>
        <p:blipFill>
          <a:blip r:embed="rId6"/>
          <a:stretch>
            <a:fillRect/>
          </a:stretch>
        </p:blipFill>
        <p:spPr>
          <a:xfrm>
            <a:off x="5074920" y="3474720"/>
            <a:ext cx="365760" cy="365760"/>
          </a:xfrm>
          <a:prstGeom prst="rect">
            <a:avLst/>
          </a:prstGeom>
        </p:spPr>
      </p:pic>
      <p:sp>
        <p:nvSpPr>
          <p:cNvPr id="27" name="Text 21"/>
          <p:cNvSpPr/>
          <p:nvPr/>
        </p:nvSpPr>
        <p:spPr>
          <a:xfrm>
            <a:off x="5669280" y="3364992"/>
            <a:ext cx="2971800" cy="502920"/>
          </a:xfrm>
          <a:prstGeom prst="rect">
            <a:avLst/>
          </a:prstGeom>
          <a:noFill/>
          <a:ln/>
        </p:spPr>
        <p:txBody>
          <a:bodyPr wrap="square" lIns="0" tIns="0" rIns="0" bIns="0" rtlCol="0" anchor="ctr"/>
          <a:lstStyle/>
          <a:p>
            <a:pPr marL="0" indent="0">
              <a:buNone/>
            </a:pPr>
            <a:r>
              <a:rPr lang="en-US" sz="1500" b="1" dirty="0">
                <a:solidFill>
                  <a:srgbClr val="1E293B"/>
                </a:solidFill>
                <a:latin typeface="Calibri" pitchFamily="34" charset="0"/>
                <a:ea typeface="Calibri" pitchFamily="34" charset="-122"/>
                <a:cs typeface="Calibri" pitchFamily="34" charset="-120"/>
              </a:rPr>
              <a:t>Gap: one fast person ≠ fast team</a:t>
            </a:r>
            <a:endParaRPr lang="en-US" sz="1500" dirty="0"/>
          </a:p>
        </p:txBody>
      </p:sp>
      <p:sp>
        <p:nvSpPr>
          <p:cNvPr id="28" name="Text 22"/>
          <p:cNvSpPr/>
          <p:nvPr/>
        </p:nvSpPr>
        <p:spPr>
          <a:xfrm>
            <a:off x="5669280" y="3886200"/>
            <a:ext cx="2971800" cy="685800"/>
          </a:xfrm>
          <a:prstGeom prst="rect">
            <a:avLst/>
          </a:prstGeom>
          <a:noFill/>
          <a:ln/>
        </p:spPr>
        <p:txBody>
          <a:bodyPr wrap="square" lIns="0" tIns="0" rIns="0" bIns="0" rtlCol="0" anchor="ctr"/>
          <a:lstStyle/>
          <a:p>
            <a:pPr marL="0" indent="0">
              <a:buNone/>
            </a:pPr>
            <a:r>
              <a:rPr lang="en-US" sz="1200" dirty="0">
                <a:solidFill>
                  <a:srgbClr val="64748B"/>
                </a:solidFill>
                <a:latin typeface="Calibri" pitchFamily="34" charset="0"/>
                <a:ea typeface="Calibri" pitchFamily="34" charset="-122"/>
                <a:cs typeface="Calibri" pitchFamily="34" charset="-120"/>
              </a:rPr>
              <a:t>Individual velocity doesn't compound into shipping velocity.</a:t>
            </a:r>
            <a:endParaRPr lang="en-US" sz="1200" dirty="0"/>
          </a:p>
        </p:txBody>
      </p:sp>
      <p:sp>
        <p:nvSpPr>
          <p:cNvPr id="29" name="Text 23"/>
          <p:cNvSpPr/>
          <p:nvPr/>
        </p:nvSpPr>
        <p:spPr>
          <a:xfrm>
            <a:off x="548640" y="4864608"/>
            <a:ext cx="64008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Agentic-First with GitHub Copilot  |  Global Azure Columbus 2026</a:t>
            </a:r>
            <a:endParaRPr lang="en-US" sz="900" dirty="0"/>
          </a:p>
        </p:txBody>
      </p:sp>
      <p:sp>
        <p:nvSpPr>
          <p:cNvPr id="30" name="Text 24"/>
          <p:cNvSpPr/>
          <p:nvPr/>
        </p:nvSpPr>
        <p:spPr>
          <a:xfrm>
            <a:off x="8229600" y="4864608"/>
            <a:ext cx="54864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0" y="0"/>
            <a:ext cx="9144000" cy="164592"/>
          </a:xfrm>
          <a:prstGeom prst="rect">
            <a:avLst/>
          </a:prstGeom>
          <a:solidFill>
            <a:srgbClr val="F78166"/>
          </a:solidFill>
          <a:ln w="12700">
            <a:solidFill>
              <a:srgbClr val="F78166"/>
            </a:solidFill>
            <a:prstDash val="solid"/>
          </a:ln>
        </p:spPr>
        <p:txBody>
          <a:bodyPr/>
          <a:lstStyle/>
          <a:p>
            <a:endParaRPr lang="en-US"/>
          </a:p>
        </p:txBody>
      </p:sp>
      <p:sp>
        <p:nvSpPr>
          <p:cNvPr id="3" name="Shape 1"/>
          <p:cNvSpPr/>
          <p:nvPr/>
        </p:nvSpPr>
        <p:spPr>
          <a:xfrm>
            <a:off x="0" y="4978908"/>
            <a:ext cx="9144000" cy="164592"/>
          </a:xfrm>
          <a:prstGeom prst="rect">
            <a:avLst/>
          </a:prstGeom>
          <a:solidFill>
            <a:srgbClr val="4F9DE6"/>
          </a:solidFill>
          <a:ln w="12700">
            <a:solidFill>
              <a:srgbClr val="4F9DE6"/>
            </a:solidFill>
            <a:prstDash val="solid"/>
          </a:ln>
        </p:spPr>
        <p:txBody>
          <a:bodyPr/>
          <a:lstStyle/>
          <a:p>
            <a:endParaRPr lang="en-US"/>
          </a:p>
        </p:txBody>
      </p:sp>
      <p:sp>
        <p:nvSpPr>
          <p:cNvPr id="4" name="Text 2"/>
          <p:cNvSpPr/>
          <p:nvPr/>
        </p:nvSpPr>
        <p:spPr>
          <a:xfrm>
            <a:off x="548640" y="1463040"/>
            <a:ext cx="8229600" cy="365760"/>
          </a:xfrm>
          <a:prstGeom prst="rect">
            <a:avLst/>
          </a:prstGeom>
          <a:noFill/>
          <a:ln/>
        </p:spPr>
        <p:txBody>
          <a:bodyPr wrap="square" lIns="0" tIns="0" rIns="0" bIns="0" rtlCol="0" anchor="ctr"/>
          <a:lstStyle/>
          <a:p>
            <a:pPr marL="0" indent="0">
              <a:buNone/>
            </a:pPr>
            <a:r>
              <a:rPr lang="en-US" sz="1300" b="1" kern="0" spc="600" dirty="0">
                <a:solidFill>
                  <a:srgbClr val="FFD166"/>
                </a:solidFill>
                <a:latin typeface="Calibri" pitchFamily="34" charset="0"/>
                <a:ea typeface="Calibri" pitchFamily="34" charset="-122"/>
                <a:cs typeface="Calibri" pitchFamily="34" charset="-120"/>
              </a:rPr>
              <a:t>PART ONE</a:t>
            </a:r>
            <a:endParaRPr lang="en-US" sz="1300" dirty="0"/>
          </a:p>
        </p:txBody>
      </p:sp>
      <p:sp>
        <p:nvSpPr>
          <p:cNvPr id="5" name="Text 3"/>
          <p:cNvSpPr/>
          <p:nvPr/>
        </p:nvSpPr>
        <p:spPr>
          <a:xfrm>
            <a:off x="548640" y="1828800"/>
            <a:ext cx="8229600" cy="1005840"/>
          </a:xfrm>
          <a:prstGeom prst="rect">
            <a:avLst/>
          </a:prstGeom>
          <a:noFill/>
          <a:ln/>
        </p:spPr>
        <p:txBody>
          <a:bodyPr wrap="square" lIns="0" tIns="0" rIns="0" bIns="0" rtlCol="0" anchor="ctr"/>
          <a:lstStyle/>
          <a:p>
            <a:pPr marL="0" indent="0">
              <a:buNone/>
            </a:pPr>
            <a:r>
              <a:rPr lang="en-US" sz="5600" b="1" dirty="0">
                <a:solidFill>
                  <a:srgbClr val="FFFFFF"/>
                </a:solidFill>
                <a:latin typeface="Calibri" pitchFamily="34" charset="0"/>
                <a:ea typeface="Calibri" pitchFamily="34" charset="-122"/>
                <a:cs typeface="Calibri" pitchFamily="34" charset="-120"/>
              </a:rPr>
              <a:t>The System</a:t>
            </a:r>
            <a:endParaRPr lang="en-US" sz="5600" dirty="0"/>
          </a:p>
        </p:txBody>
      </p:sp>
      <p:sp>
        <p:nvSpPr>
          <p:cNvPr id="6" name="Text 4"/>
          <p:cNvSpPr/>
          <p:nvPr/>
        </p:nvSpPr>
        <p:spPr>
          <a:xfrm>
            <a:off x="548640" y="2834640"/>
            <a:ext cx="8229600" cy="640080"/>
          </a:xfrm>
          <a:prstGeom prst="rect">
            <a:avLst/>
          </a:prstGeom>
          <a:noFill/>
          <a:ln/>
        </p:spPr>
        <p:txBody>
          <a:bodyPr wrap="square" lIns="0" tIns="0" rIns="0" bIns="0" rtlCol="0" anchor="ctr"/>
          <a:lstStyle/>
          <a:p>
            <a:pPr marL="0" indent="0">
              <a:buNone/>
            </a:pPr>
            <a:r>
              <a:rPr lang="en-US" sz="2400" i="1" dirty="0">
                <a:solidFill>
                  <a:srgbClr val="4F9DE6"/>
                </a:solidFill>
                <a:latin typeface="Calibri" pitchFamily="34" charset="0"/>
                <a:ea typeface="Calibri" pitchFamily="34" charset="-122"/>
                <a:cs typeface="Calibri" pitchFamily="34" charset="-120"/>
              </a:rPr>
              <a:t>What goes in .github/</a:t>
            </a:r>
            <a:endParaRPr lang="en-US" sz="2400" dirty="0"/>
          </a:p>
        </p:txBody>
      </p:sp>
      <p:sp>
        <p:nvSpPr>
          <p:cNvPr id="7" name="Text 5"/>
          <p:cNvSpPr/>
          <p:nvPr/>
        </p:nvSpPr>
        <p:spPr>
          <a:xfrm>
            <a:off x="548640" y="3657600"/>
            <a:ext cx="8229600" cy="457200"/>
          </a:xfrm>
          <a:prstGeom prst="rect">
            <a:avLst/>
          </a:prstGeom>
          <a:noFill/>
          <a:ln/>
        </p:spPr>
        <p:txBody>
          <a:bodyPr wrap="square" lIns="0" tIns="0" rIns="0" bIns="0" rtlCol="0" anchor="ctr"/>
          <a:lstStyle/>
          <a:p>
            <a:pPr marL="0" indent="0">
              <a:buNone/>
            </a:pPr>
            <a:r>
              <a:rPr lang="en-US" sz="1400" kern="0" spc="200" dirty="0">
                <a:solidFill>
                  <a:srgbClr val="94A3B8"/>
                </a:solidFill>
                <a:latin typeface="Calibri" pitchFamily="34" charset="0"/>
                <a:ea typeface="Calibri" pitchFamily="34" charset="-122"/>
                <a:cs typeface="Calibri" pitchFamily="34" charset="-120"/>
              </a:rPr>
              <a:t>Instructions · Prompts · Skills · Agents · MCP</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F78166"/>
          </a:solidFill>
          <a:ln w="12700">
            <a:solidFill>
              <a:srgbClr val="F78166"/>
            </a:solidFill>
            <a:prstDash val="solid"/>
          </a:ln>
        </p:spPr>
        <p:txBody>
          <a:bodyPr/>
          <a:lstStyle/>
          <a:p>
            <a:endParaRPr lang="en-US"/>
          </a:p>
        </p:txBody>
      </p:sp>
      <p:sp>
        <p:nvSpPr>
          <p:cNvPr id="3" name="Text 1"/>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400" dirty="0">
                <a:solidFill>
                  <a:srgbClr val="F78166"/>
                </a:solidFill>
                <a:latin typeface="Calibri" pitchFamily="34" charset="0"/>
                <a:ea typeface="Calibri" pitchFamily="34" charset="-122"/>
                <a:cs typeface="Calibri" pitchFamily="34" charset="-120"/>
              </a:rPr>
              <a:t>COMPOSITION MODEL</a:t>
            </a:r>
            <a:endParaRPr lang="en-US" sz="1100" dirty="0"/>
          </a:p>
        </p:txBody>
      </p:sp>
      <p:sp>
        <p:nvSpPr>
          <p:cNvPr id="4" name="Text 2"/>
          <p:cNvSpPr/>
          <p:nvPr/>
        </p:nvSpPr>
        <p:spPr>
          <a:xfrm>
            <a:off x="548640" y="502920"/>
            <a:ext cx="8229600" cy="685800"/>
          </a:xfrm>
          <a:prstGeom prst="rect">
            <a:avLst/>
          </a:prstGeom>
          <a:noFill/>
          <a:ln/>
        </p:spPr>
        <p:txBody>
          <a:bodyPr wrap="square" lIns="0" tIns="0" rIns="0" bIns="0" rtlCol="0" anchor="ctr"/>
          <a:lstStyle/>
          <a:p>
            <a:pPr marL="0" indent="0">
              <a:buNone/>
            </a:pPr>
            <a:r>
              <a:rPr lang="en-US" sz="3000" b="1" dirty="0">
                <a:solidFill>
                  <a:srgbClr val="1E293B"/>
                </a:solidFill>
                <a:latin typeface="Calibri" pitchFamily="34" charset="0"/>
                <a:ea typeface="Calibri" pitchFamily="34" charset="-122"/>
                <a:cs typeface="Calibri" pitchFamily="34" charset="-120"/>
              </a:rPr>
              <a:t>What goes in .github/</a:t>
            </a:r>
            <a:endParaRPr lang="en-US" sz="3000" dirty="0"/>
          </a:p>
        </p:txBody>
      </p:sp>
      <p:sp>
        <p:nvSpPr>
          <p:cNvPr id="5" name="Shape 3"/>
          <p:cNvSpPr/>
          <p:nvPr/>
        </p:nvSpPr>
        <p:spPr>
          <a:xfrm>
            <a:off x="548640" y="1371600"/>
            <a:ext cx="8046720" cy="320040"/>
          </a:xfrm>
          <a:prstGeom prst="rect">
            <a:avLst/>
          </a:prstGeom>
          <a:solidFill>
            <a:srgbClr val="0B1F3A"/>
          </a:solidFill>
          <a:ln w="12700">
            <a:solidFill>
              <a:srgbClr val="0B1F3A"/>
            </a:solidFill>
            <a:prstDash val="solid"/>
          </a:ln>
        </p:spPr>
        <p:txBody>
          <a:bodyPr/>
          <a:lstStyle/>
          <a:p>
            <a:endParaRPr lang="en-US"/>
          </a:p>
        </p:txBody>
      </p:sp>
      <p:sp>
        <p:nvSpPr>
          <p:cNvPr id="6" name="Text 4"/>
          <p:cNvSpPr/>
          <p:nvPr/>
        </p:nvSpPr>
        <p:spPr>
          <a:xfrm>
            <a:off x="1097280" y="1371600"/>
            <a:ext cx="3017520" cy="320040"/>
          </a:xfrm>
          <a:prstGeom prst="rect">
            <a:avLst/>
          </a:prstGeom>
          <a:noFill/>
          <a:ln/>
        </p:spPr>
        <p:txBody>
          <a:bodyPr wrap="square" lIns="0" tIns="0" rIns="0" bIns="0" rtlCol="0" anchor="ctr"/>
          <a:lstStyle/>
          <a:p>
            <a:pPr marL="0" indent="0">
              <a:buNone/>
            </a:pPr>
            <a:r>
              <a:rPr lang="en-US" sz="1100" b="1" kern="0" spc="400" dirty="0">
                <a:solidFill>
                  <a:srgbClr val="FFFFFF"/>
                </a:solidFill>
                <a:latin typeface="Calibri" pitchFamily="34" charset="0"/>
                <a:ea typeface="Calibri" pitchFamily="34" charset="-122"/>
                <a:cs typeface="Calibri" pitchFamily="34" charset="-120"/>
              </a:rPr>
              <a:t>ASSET</a:t>
            </a:r>
            <a:endParaRPr lang="en-US" sz="1100" dirty="0"/>
          </a:p>
        </p:txBody>
      </p:sp>
      <p:sp>
        <p:nvSpPr>
          <p:cNvPr id="7" name="Text 5"/>
          <p:cNvSpPr/>
          <p:nvPr/>
        </p:nvSpPr>
        <p:spPr>
          <a:xfrm>
            <a:off x="4114800" y="1371600"/>
            <a:ext cx="4297680" cy="320040"/>
          </a:xfrm>
          <a:prstGeom prst="rect">
            <a:avLst/>
          </a:prstGeom>
          <a:noFill/>
          <a:ln/>
        </p:spPr>
        <p:txBody>
          <a:bodyPr wrap="square" lIns="0" tIns="0" rIns="0" bIns="0" rtlCol="0" anchor="ctr"/>
          <a:lstStyle/>
          <a:p>
            <a:pPr marL="0" indent="0">
              <a:buNone/>
            </a:pPr>
            <a:r>
              <a:rPr lang="en-US" sz="1100" b="1" kern="0" spc="400" dirty="0">
                <a:solidFill>
                  <a:srgbClr val="FFFFFF"/>
                </a:solidFill>
                <a:latin typeface="Calibri" pitchFamily="34" charset="0"/>
                <a:ea typeface="Calibri" pitchFamily="34" charset="-122"/>
                <a:cs typeface="Calibri" pitchFamily="34" charset="-120"/>
              </a:rPr>
              <a:t>WHAT IT DOES</a:t>
            </a:r>
            <a:endParaRPr lang="en-US" sz="1100" dirty="0"/>
          </a:p>
        </p:txBody>
      </p:sp>
      <p:sp>
        <p:nvSpPr>
          <p:cNvPr id="8" name="Shape 6"/>
          <p:cNvSpPr/>
          <p:nvPr/>
        </p:nvSpPr>
        <p:spPr>
          <a:xfrm>
            <a:off x="548640" y="1691640"/>
            <a:ext cx="8046720" cy="438912"/>
          </a:xfrm>
          <a:prstGeom prst="rect">
            <a:avLst/>
          </a:prstGeom>
          <a:solidFill>
            <a:srgbClr val="FFFFFF"/>
          </a:solidFill>
          <a:ln w="12700">
            <a:solidFill>
              <a:srgbClr val="E2E8F0"/>
            </a:solidFill>
            <a:prstDash val="solid"/>
          </a:ln>
        </p:spPr>
        <p:txBody>
          <a:bodyPr/>
          <a:lstStyle/>
          <a:p>
            <a:endParaRPr lang="en-US"/>
          </a:p>
        </p:txBody>
      </p:sp>
      <p:pic>
        <p:nvPicPr>
          <p:cNvPr id="9" name="Image 0" descr="preencoded.png"/>
          <p:cNvPicPr>
            <a:picLocks noChangeAspect="1"/>
          </p:cNvPicPr>
          <p:nvPr/>
        </p:nvPicPr>
        <p:blipFill>
          <a:blip r:embed="rId3"/>
          <a:stretch>
            <a:fillRect/>
          </a:stretch>
        </p:blipFill>
        <p:spPr>
          <a:xfrm>
            <a:off x="685800" y="1783080"/>
            <a:ext cx="274320" cy="274320"/>
          </a:xfrm>
          <a:prstGeom prst="rect">
            <a:avLst/>
          </a:prstGeom>
        </p:spPr>
      </p:pic>
      <p:sp>
        <p:nvSpPr>
          <p:cNvPr id="10" name="Text 7"/>
          <p:cNvSpPr/>
          <p:nvPr/>
        </p:nvSpPr>
        <p:spPr>
          <a:xfrm>
            <a:off x="1097280" y="1691640"/>
            <a:ext cx="3017520" cy="438912"/>
          </a:xfrm>
          <a:prstGeom prst="rect">
            <a:avLst/>
          </a:prstGeom>
          <a:noFill/>
          <a:ln/>
        </p:spPr>
        <p:txBody>
          <a:bodyPr wrap="square" lIns="0" tIns="0" rIns="0" bIns="0" rtlCol="0" anchor="ctr"/>
          <a:lstStyle/>
          <a:p>
            <a:pPr marL="0" indent="0">
              <a:buNone/>
            </a:pPr>
            <a:r>
              <a:rPr lang="en-US" sz="1200" b="1" dirty="0">
                <a:solidFill>
                  <a:srgbClr val="0B1F3A"/>
                </a:solidFill>
                <a:latin typeface="Consolas" pitchFamily="34" charset="0"/>
                <a:ea typeface="Consolas" pitchFamily="34" charset="-122"/>
                <a:cs typeface="Consolas" pitchFamily="34" charset="-120"/>
              </a:rPr>
              <a:t>copilot-instructions.md</a:t>
            </a:r>
            <a:endParaRPr lang="en-US" sz="1200" dirty="0"/>
          </a:p>
        </p:txBody>
      </p:sp>
      <p:sp>
        <p:nvSpPr>
          <p:cNvPr id="11" name="Text 8"/>
          <p:cNvSpPr/>
          <p:nvPr/>
        </p:nvSpPr>
        <p:spPr>
          <a:xfrm>
            <a:off x="4114800" y="1691640"/>
            <a:ext cx="4297680" cy="438912"/>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Raises the floor — every dev gets the same baseline</a:t>
            </a:r>
            <a:endParaRPr lang="en-US" sz="1200" dirty="0"/>
          </a:p>
        </p:txBody>
      </p:sp>
      <p:sp>
        <p:nvSpPr>
          <p:cNvPr id="12" name="Shape 9"/>
          <p:cNvSpPr/>
          <p:nvPr/>
        </p:nvSpPr>
        <p:spPr>
          <a:xfrm>
            <a:off x="548640" y="2130552"/>
            <a:ext cx="8046720" cy="438912"/>
          </a:xfrm>
          <a:prstGeom prst="rect">
            <a:avLst/>
          </a:prstGeom>
          <a:solidFill>
            <a:srgbClr val="F5F7FA"/>
          </a:solidFill>
          <a:ln w="12700">
            <a:solidFill>
              <a:srgbClr val="E2E8F0"/>
            </a:solidFill>
            <a:prstDash val="solid"/>
          </a:ln>
        </p:spPr>
        <p:txBody>
          <a:bodyPr/>
          <a:lstStyle/>
          <a:p>
            <a:endParaRPr lang="en-US"/>
          </a:p>
        </p:txBody>
      </p:sp>
      <p:pic>
        <p:nvPicPr>
          <p:cNvPr id="13" name="Image 1" descr="preencoded.png"/>
          <p:cNvPicPr>
            <a:picLocks noChangeAspect="1"/>
          </p:cNvPicPr>
          <p:nvPr/>
        </p:nvPicPr>
        <p:blipFill>
          <a:blip r:embed="rId4"/>
          <a:stretch>
            <a:fillRect/>
          </a:stretch>
        </p:blipFill>
        <p:spPr>
          <a:xfrm>
            <a:off x="685800" y="2221992"/>
            <a:ext cx="274320" cy="274320"/>
          </a:xfrm>
          <a:prstGeom prst="rect">
            <a:avLst/>
          </a:prstGeom>
        </p:spPr>
      </p:pic>
      <p:sp>
        <p:nvSpPr>
          <p:cNvPr id="14" name="Text 10"/>
          <p:cNvSpPr/>
          <p:nvPr/>
        </p:nvSpPr>
        <p:spPr>
          <a:xfrm>
            <a:off x="1097280" y="2130552"/>
            <a:ext cx="3017520" cy="438912"/>
          </a:xfrm>
          <a:prstGeom prst="rect">
            <a:avLst/>
          </a:prstGeom>
          <a:noFill/>
          <a:ln/>
        </p:spPr>
        <p:txBody>
          <a:bodyPr wrap="square" lIns="0" tIns="0" rIns="0" bIns="0" rtlCol="0" anchor="ctr"/>
          <a:lstStyle/>
          <a:p>
            <a:pPr marL="0" indent="0">
              <a:buNone/>
            </a:pPr>
            <a:r>
              <a:rPr lang="en-US" sz="1200" b="1" dirty="0">
                <a:solidFill>
                  <a:srgbClr val="0B1F3A"/>
                </a:solidFill>
                <a:latin typeface="Consolas" pitchFamily="34" charset="0"/>
                <a:ea typeface="Consolas" pitchFamily="34" charset="-122"/>
                <a:cs typeface="Consolas" pitchFamily="34" charset="-120"/>
              </a:rPr>
              <a:t>*.instructions.md</a:t>
            </a:r>
            <a:endParaRPr lang="en-US" sz="1200" dirty="0"/>
          </a:p>
        </p:txBody>
      </p:sp>
      <p:sp>
        <p:nvSpPr>
          <p:cNvPr id="15" name="Text 11"/>
          <p:cNvSpPr/>
          <p:nvPr/>
        </p:nvSpPr>
        <p:spPr>
          <a:xfrm>
            <a:off x="4114800" y="2130552"/>
            <a:ext cx="4297680" cy="438912"/>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Always-on coding standards (Clean Architecture, DDD)</a:t>
            </a:r>
            <a:endParaRPr lang="en-US" sz="1200" dirty="0"/>
          </a:p>
        </p:txBody>
      </p:sp>
      <p:sp>
        <p:nvSpPr>
          <p:cNvPr id="16" name="Shape 12"/>
          <p:cNvSpPr/>
          <p:nvPr/>
        </p:nvSpPr>
        <p:spPr>
          <a:xfrm>
            <a:off x="548640" y="2569464"/>
            <a:ext cx="8046720" cy="438912"/>
          </a:xfrm>
          <a:prstGeom prst="rect">
            <a:avLst/>
          </a:prstGeom>
          <a:solidFill>
            <a:srgbClr val="FFFFFF"/>
          </a:solidFill>
          <a:ln w="12700">
            <a:solidFill>
              <a:srgbClr val="E2E8F0"/>
            </a:solidFill>
            <a:prstDash val="solid"/>
          </a:ln>
        </p:spPr>
        <p:txBody>
          <a:bodyPr/>
          <a:lstStyle/>
          <a:p>
            <a:endParaRPr lang="en-US"/>
          </a:p>
        </p:txBody>
      </p:sp>
      <p:pic>
        <p:nvPicPr>
          <p:cNvPr id="17" name="Image 2" descr="preencoded.png"/>
          <p:cNvPicPr>
            <a:picLocks noChangeAspect="1"/>
          </p:cNvPicPr>
          <p:nvPr/>
        </p:nvPicPr>
        <p:blipFill>
          <a:blip r:embed="rId5"/>
          <a:stretch>
            <a:fillRect/>
          </a:stretch>
        </p:blipFill>
        <p:spPr>
          <a:xfrm>
            <a:off x="685800" y="2660904"/>
            <a:ext cx="274320" cy="274320"/>
          </a:xfrm>
          <a:prstGeom prst="rect">
            <a:avLst/>
          </a:prstGeom>
        </p:spPr>
      </p:pic>
      <p:sp>
        <p:nvSpPr>
          <p:cNvPr id="18" name="Text 13"/>
          <p:cNvSpPr/>
          <p:nvPr/>
        </p:nvSpPr>
        <p:spPr>
          <a:xfrm>
            <a:off x="1097280" y="2569464"/>
            <a:ext cx="3017520" cy="438912"/>
          </a:xfrm>
          <a:prstGeom prst="rect">
            <a:avLst/>
          </a:prstGeom>
          <a:noFill/>
          <a:ln/>
        </p:spPr>
        <p:txBody>
          <a:bodyPr wrap="square" lIns="0" tIns="0" rIns="0" bIns="0" rtlCol="0" anchor="ctr"/>
          <a:lstStyle/>
          <a:p>
            <a:pPr marL="0" indent="0">
              <a:buNone/>
            </a:pPr>
            <a:r>
              <a:rPr lang="en-US" sz="1200" b="1" dirty="0">
                <a:solidFill>
                  <a:srgbClr val="0B1F3A"/>
                </a:solidFill>
                <a:latin typeface="Consolas" pitchFamily="34" charset="0"/>
                <a:ea typeface="Consolas" pitchFamily="34" charset="-122"/>
                <a:cs typeface="Consolas" pitchFamily="34" charset="-120"/>
              </a:rPr>
              <a:t>*.prompt.md</a:t>
            </a:r>
            <a:endParaRPr lang="en-US" sz="1200" dirty="0"/>
          </a:p>
        </p:txBody>
      </p:sp>
      <p:sp>
        <p:nvSpPr>
          <p:cNvPr id="19" name="Text 14"/>
          <p:cNvSpPr/>
          <p:nvPr/>
        </p:nvSpPr>
        <p:spPr>
          <a:xfrm>
            <a:off x="4114800" y="2569464"/>
            <a:ext cx="4297680" cy="438912"/>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One-click automation — PR descriptions, commits</a:t>
            </a:r>
            <a:endParaRPr lang="en-US" sz="1200" dirty="0"/>
          </a:p>
        </p:txBody>
      </p:sp>
      <p:sp>
        <p:nvSpPr>
          <p:cNvPr id="20" name="Shape 15"/>
          <p:cNvSpPr/>
          <p:nvPr/>
        </p:nvSpPr>
        <p:spPr>
          <a:xfrm>
            <a:off x="548640" y="3008376"/>
            <a:ext cx="8046720" cy="438912"/>
          </a:xfrm>
          <a:prstGeom prst="rect">
            <a:avLst/>
          </a:prstGeom>
          <a:solidFill>
            <a:srgbClr val="F5F7FA"/>
          </a:solidFill>
          <a:ln w="12700">
            <a:solidFill>
              <a:srgbClr val="E2E8F0"/>
            </a:solidFill>
            <a:prstDash val="solid"/>
          </a:ln>
        </p:spPr>
        <p:txBody>
          <a:bodyPr/>
          <a:lstStyle/>
          <a:p>
            <a:endParaRPr lang="en-US"/>
          </a:p>
        </p:txBody>
      </p:sp>
      <p:pic>
        <p:nvPicPr>
          <p:cNvPr id="21" name="Image 3" descr="preencoded.png"/>
          <p:cNvPicPr>
            <a:picLocks noChangeAspect="1"/>
          </p:cNvPicPr>
          <p:nvPr/>
        </p:nvPicPr>
        <p:blipFill>
          <a:blip r:embed="rId6"/>
          <a:stretch>
            <a:fillRect/>
          </a:stretch>
        </p:blipFill>
        <p:spPr>
          <a:xfrm>
            <a:off x="685800" y="3099816"/>
            <a:ext cx="274320" cy="274320"/>
          </a:xfrm>
          <a:prstGeom prst="rect">
            <a:avLst/>
          </a:prstGeom>
        </p:spPr>
      </p:pic>
      <p:sp>
        <p:nvSpPr>
          <p:cNvPr id="22" name="Text 16"/>
          <p:cNvSpPr/>
          <p:nvPr/>
        </p:nvSpPr>
        <p:spPr>
          <a:xfrm>
            <a:off x="1097280" y="3008376"/>
            <a:ext cx="3017520" cy="438912"/>
          </a:xfrm>
          <a:prstGeom prst="rect">
            <a:avLst/>
          </a:prstGeom>
          <a:noFill/>
          <a:ln/>
        </p:spPr>
        <p:txBody>
          <a:bodyPr wrap="square" lIns="0" tIns="0" rIns="0" bIns="0" rtlCol="0" anchor="ctr"/>
          <a:lstStyle/>
          <a:p>
            <a:pPr marL="0" indent="0">
              <a:buNone/>
            </a:pPr>
            <a:r>
              <a:rPr lang="en-US" sz="1200" b="1" dirty="0">
                <a:solidFill>
                  <a:srgbClr val="0B1F3A"/>
                </a:solidFill>
                <a:latin typeface="Consolas" pitchFamily="34" charset="0"/>
                <a:ea typeface="Consolas" pitchFamily="34" charset="-122"/>
                <a:cs typeface="Consolas" pitchFamily="34" charset="-120"/>
              </a:rPr>
              <a:t>SKILL.md</a:t>
            </a:r>
            <a:endParaRPr lang="en-US" sz="1200" dirty="0"/>
          </a:p>
        </p:txBody>
      </p:sp>
      <p:sp>
        <p:nvSpPr>
          <p:cNvPr id="23" name="Text 17"/>
          <p:cNvSpPr/>
          <p:nvPr/>
        </p:nvSpPr>
        <p:spPr>
          <a:xfrm>
            <a:off x="4114800" y="3008376"/>
            <a:ext cx="4297680" cy="438912"/>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Portable multi-step capabilities — scripts + resources</a:t>
            </a:r>
            <a:endParaRPr lang="en-US" sz="1200" dirty="0"/>
          </a:p>
        </p:txBody>
      </p:sp>
      <p:sp>
        <p:nvSpPr>
          <p:cNvPr id="24" name="Shape 18"/>
          <p:cNvSpPr/>
          <p:nvPr/>
        </p:nvSpPr>
        <p:spPr>
          <a:xfrm>
            <a:off x="548640" y="3447288"/>
            <a:ext cx="8046720" cy="438912"/>
          </a:xfrm>
          <a:prstGeom prst="rect">
            <a:avLst/>
          </a:prstGeom>
          <a:solidFill>
            <a:srgbClr val="FFFFFF"/>
          </a:solidFill>
          <a:ln w="12700">
            <a:solidFill>
              <a:srgbClr val="E2E8F0"/>
            </a:solidFill>
            <a:prstDash val="solid"/>
          </a:ln>
        </p:spPr>
        <p:txBody>
          <a:bodyPr/>
          <a:lstStyle/>
          <a:p>
            <a:endParaRPr lang="en-US"/>
          </a:p>
        </p:txBody>
      </p:sp>
      <p:pic>
        <p:nvPicPr>
          <p:cNvPr id="25" name="Image 4" descr="preencoded.png"/>
          <p:cNvPicPr>
            <a:picLocks noChangeAspect="1"/>
          </p:cNvPicPr>
          <p:nvPr/>
        </p:nvPicPr>
        <p:blipFill>
          <a:blip r:embed="rId7"/>
          <a:stretch>
            <a:fillRect/>
          </a:stretch>
        </p:blipFill>
        <p:spPr>
          <a:xfrm>
            <a:off x="685800" y="3538728"/>
            <a:ext cx="274320" cy="274320"/>
          </a:xfrm>
          <a:prstGeom prst="rect">
            <a:avLst/>
          </a:prstGeom>
        </p:spPr>
      </p:pic>
      <p:sp>
        <p:nvSpPr>
          <p:cNvPr id="26" name="Text 19"/>
          <p:cNvSpPr/>
          <p:nvPr/>
        </p:nvSpPr>
        <p:spPr>
          <a:xfrm>
            <a:off x="1097280" y="3447288"/>
            <a:ext cx="3017520" cy="438912"/>
          </a:xfrm>
          <a:prstGeom prst="rect">
            <a:avLst/>
          </a:prstGeom>
          <a:noFill/>
          <a:ln/>
        </p:spPr>
        <p:txBody>
          <a:bodyPr wrap="square" lIns="0" tIns="0" rIns="0" bIns="0" rtlCol="0" anchor="ctr"/>
          <a:lstStyle/>
          <a:p>
            <a:pPr marL="0" indent="0">
              <a:buNone/>
            </a:pPr>
            <a:r>
              <a:rPr lang="en-US" sz="1200" b="1" dirty="0">
                <a:solidFill>
                  <a:srgbClr val="0B1F3A"/>
                </a:solidFill>
                <a:latin typeface="Consolas" pitchFamily="34" charset="0"/>
                <a:ea typeface="Consolas" pitchFamily="34" charset="-122"/>
                <a:cs typeface="Consolas" pitchFamily="34" charset="-120"/>
              </a:rPr>
              <a:t>*.agent.md</a:t>
            </a:r>
            <a:endParaRPr lang="en-US" sz="1200" dirty="0"/>
          </a:p>
        </p:txBody>
      </p:sp>
      <p:sp>
        <p:nvSpPr>
          <p:cNvPr id="27" name="Text 20"/>
          <p:cNvSpPr/>
          <p:nvPr/>
        </p:nvSpPr>
        <p:spPr>
          <a:xfrm>
            <a:off x="4114800" y="3447288"/>
            <a:ext cx="4297680" cy="438912"/>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Role-based specialists with tool restrictions</a:t>
            </a:r>
            <a:endParaRPr lang="en-US" sz="1200" dirty="0"/>
          </a:p>
        </p:txBody>
      </p:sp>
      <p:sp>
        <p:nvSpPr>
          <p:cNvPr id="28" name="Shape 21"/>
          <p:cNvSpPr/>
          <p:nvPr/>
        </p:nvSpPr>
        <p:spPr>
          <a:xfrm>
            <a:off x="548640" y="3886200"/>
            <a:ext cx="8046720" cy="438912"/>
          </a:xfrm>
          <a:prstGeom prst="rect">
            <a:avLst/>
          </a:prstGeom>
          <a:solidFill>
            <a:srgbClr val="F5F7FA"/>
          </a:solidFill>
          <a:ln w="12700">
            <a:solidFill>
              <a:srgbClr val="E2E8F0"/>
            </a:solidFill>
            <a:prstDash val="solid"/>
          </a:ln>
        </p:spPr>
        <p:txBody>
          <a:bodyPr/>
          <a:lstStyle/>
          <a:p>
            <a:endParaRPr lang="en-US"/>
          </a:p>
        </p:txBody>
      </p:sp>
      <p:pic>
        <p:nvPicPr>
          <p:cNvPr id="29" name="Image 5" descr="preencoded.png"/>
          <p:cNvPicPr>
            <a:picLocks noChangeAspect="1"/>
          </p:cNvPicPr>
          <p:nvPr/>
        </p:nvPicPr>
        <p:blipFill>
          <a:blip r:embed="rId8"/>
          <a:stretch>
            <a:fillRect/>
          </a:stretch>
        </p:blipFill>
        <p:spPr>
          <a:xfrm>
            <a:off x="685800" y="3977640"/>
            <a:ext cx="274320" cy="274320"/>
          </a:xfrm>
          <a:prstGeom prst="rect">
            <a:avLst/>
          </a:prstGeom>
        </p:spPr>
      </p:pic>
      <p:sp>
        <p:nvSpPr>
          <p:cNvPr id="30" name="Text 22"/>
          <p:cNvSpPr/>
          <p:nvPr/>
        </p:nvSpPr>
        <p:spPr>
          <a:xfrm>
            <a:off x="1097280" y="3886200"/>
            <a:ext cx="3017520" cy="438912"/>
          </a:xfrm>
          <a:prstGeom prst="rect">
            <a:avLst/>
          </a:prstGeom>
          <a:noFill/>
          <a:ln/>
        </p:spPr>
        <p:txBody>
          <a:bodyPr wrap="square" lIns="0" tIns="0" rIns="0" bIns="0" rtlCol="0" anchor="ctr"/>
          <a:lstStyle/>
          <a:p>
            <a:pPr marL="0" indent="0">
              <a:buNone/>
            </a:pPr>
            <a:r>
              <a:rPr lang="en-US" sz="1200" b="1" dirty="0">
                <a:solidFill>
                  <a:srgbClr val="0B1F3A"/>
                </a:solidFill>
                <a:latin typeface="Consolas" pitchFamily="34" charset="0"/>
                <a:ea typeface="Consolas" pitchFamily="34" charset="-122"/>
                <a:cs typeface="Consolas" pitchFamily="34" charset="-120"/>
              </a:rPr>
              <a:t>.mcp.json</a:t>
            </a:r>
            <a:endParaRPr lang="en-US" sz="1200" dirty="0"/>
          </a:p>
        </p:txBody>
      </p:sp>
      <p:sp>
        <p:nvSpPr>
          <p:cNvPr id="31" name="Text 23"/>
          <p:cNvSpPr/>
          <p:nvPr/>
        </p:nvSpPr>
        <p:spPr>
          <a:xfrm>
            <a:off x="4114800" y="3886200"/>
            <a:ext cx="4297680" cy="438912"/>
          </a:xfrm>
          <a:prstGeom prst="rect">
            <a:avLst/>
          </a:prstGeom>
          <a:noFill/>
          <a:ln/>
        </p:spPr>
        <p:txBody>
          <a:bodyPr wrap="square" lIns="0" tIns="0" rIns="0" bIns="0" rtlCol="0" anchor="ctr"/>
          <a:lstStyle/>
          <a:p>
            <a:pPr marL="0" indent="0">
              <a:buNone/>
            </a:pPr>
            <a:r>
              <a:rPr lang="en-US" sz="1200" dirty="0">
                <a:solidFill>
                  <a:srgbClr val="1E293B"/>
                </a:solidFill>
                <a:latin typeface="Calibri" pitchFamily="34" charset="0"/>
                <a:ea typeface="Calibri" pitchFamily="34" charset="-122"/>
                <a:cs typeface="Calibri" pitchFamily="34" charset="-120"/>
              </a:rPr>
              <a:t>The execution layer — connects agents to real tools</a:t>
            </a:r>
            <a:endParaRPr lang="en-US" sz="1200" dirty="0"/>
          </a:p>
        </p:txBody>
      </p:sp>
      <p:sp>
        <p:nvSpPr>
          <p:cNvPr id="32" name="Shape 24"/>
          <p:cNvSpPr/>
          <p:nvPr/>
        </p:nvSpPr>
        <p:spPr>
          <a:xfrm>
            <a:off x="548640" y="4462272"/>
            <a:ext cx="8046720" cy="411480"/>
          </a:xfrm>
          <a:prstGeom prst="rect">
            <a:avLst/>
          </a:prstGeom>
          <a:solidFill>
            <a:srgbClr val="0F1729"/>
          </a:solidFill>
          <a:ln w="12700">
            <a:solidFill>
              <a:srgbClr val="0F1729"/>
            </a:solidFill>
            <a:prstDash val="solid"/>
          </a:ln>
        </p:spPr>
        <p:txBody>
          <a:bodyPr/>
          <a:lstStyle/>
          <a:p>
            <a:endParaRPr lang="en-US"/>
          </a:p>
        </p:txBody>
      </p:sp>
      <p:sp>
        <p:nvSpPr>
          <p:cNvPr id="33" name="Text 25"/>
          <p:cNvSpPr/>
          <p:nvPr/>
        </p:nvSpPr>
        <p:spPr>
          <a:xfrm>
            <a:off x="731520" y="4462272"/>
            <a:ext cx="7680960" cy="411480"/>
          </a:xfrm>
          <a:prstGeom prst="rect">
            <a:avLst/>
          </a:prstGeom>
          <a:noFill/>
          <a:ln/>
        </p:spPr>
        <p:txBody>
          <a:bodyPr wrap="square" lIns="0" tIns="0" rIns="0" bIns="0" rtlCol="0" anchor="ctr"/>
          <a:lstStyle/>
          <a:p>
            <a:pPr marL="0" indent="0">
              <a:buNone/>
            </a:pPr>
            <a:r>
              <a:rPr lang="en-US" sz="1300" b="1" i="1" dirty="0">
                <a:solidFill>
                  <a:srgbClr val="FFFFFF"/>
                </a:solidFill>
                <a:latin typeface="Calibri" pitchFamily="34" charset="0"/>
                <a:ea typeface="Calibri" pitchFamily="34" charset="-122"/>
                <a:cs typeface="Calibri" pitchFamily="34" charset="-120"/>
              </a:rPr>
              <a:t>Version-controlled · PR-reviewed · Shared with the whole team</a:t>
            </a:r>
            <a:endParaRPr lang="en-US" sz="1300" dirty="0"/>
          </a:p>
        </p:txBody>
      </p:sp>
      <p:sp>
        <p:nvSpPr>
          <p:cNvPr id="34" name="Text 26"/>
          <p:cNvSpPr/>
          <p:nvPr/>
        </p:nvSpPr>
        <p:spPr>
          <a:xfrm>
            <a:off x="548640" y="4864608"/>
            <a:ext cx="64008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Agentic-First with GitHub Copilot  |  Global Azure Columbus 2026</a:t>
            </a:r>
            <a:endParaRPr lang="en-US" sz="900" dirty="0"/>
          </a:p>
        </p:txBody>
      </p:sp>
      <p:sp>
        <p:nvSpPr>
          <p:cNvPr id="35" name="Text 27"/>
          <p:cNvSpPr/>
          <p:nvPr/>
        </p:nvSpPr>
        <p:spPr>
          <a:xfrm>
            <a:off x="8229600" y="4864608"/>
            <a:ext cx="54864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F78166"/>
          </a:solidFill>
          <a:ln w="12700">
            <a:solidFill>
              <a:srgbClr val="F78166"/>
            </a:solidFill>
            <a:prstDash val="solid"/>
          </a:ln>
        </p:spPr>
        <p:txBody>
          <a:bodyPr/>
          <a:lstStyle/>
          <a:p>
            <a:endParaRPr lang="en-US"/>
          </a:p>
        </p:txBody>
      </p:sp>
      <p:sp>
        <p:nvSpPr>
          <p:cNvPr id="3" name="Text 1"/>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400" dirty="0">
                <a:solidFill>
                  <a:srgbClr val="F78166"/>
                </a:solidFill>
                <a:latin typeface="Calibri" pitchFamily="34" charset="0"/>
                <a:ea typeface="Calibri" pitchFamily="34" charset="-122"/>
                <a:cs typeface="Calibri" pitchFamily="34" charset="-120"/>
              </a:rPr>
              <a:t>WHEN TO USE WHAT</a:t>
            </a:r>
            <a:endParaRPr lang="en-US" sz="1100" dirty="0"/>
          </a:p>
        </p:txBody>
      </p:sp>
      <p:sp>
        <p:nvSpPr>
          <p:cNvPr id="4" name="Text 2"/>
          <p:cNvSpPr/>
          <p:nvPr/>
        </p:nvSpPr>
        <p:spPr>
          <a:xfrm>
            <a:off x="548640" y="502920"/>
            <a:ext cx="8229600" cy="685800"/>
          </a:xfrm>
          <a:prstGeom prst="rect">
            <a:avLst/>
          </a:prstGeom>
          <a:noFill/>
          <a:ln/>
        </p:spPr>
        <p:txBody>
          <a:bodyPr wrap="square" lIns="0" tIns="0" rIns="0" bIns="0" rtlCol="0" anchor="ctr"/>
          <a:lstStyle/>
          <a:p>
            <a:pPr marL="0" indent="0">
              <a:buNone/>
            </a:pPr>
            <a:r>
              <a:rPr lang="en-US" sz="3000" b="1" dirty="0">
                <a:solidFill>
                  <a:srgbClr val="1E293B"/>
                </a:solidFill>
                <a:latin typeface="Calibri" pitchFamily="34" charset="0"/>
                <a:ea typeface="Calibri" pitchFamily="34" charset="-122"/>
                <a:cs typeface="Calibri" pitchFamily="34" charset="-120"/>
              </a:rPr>
              <a:t>Instructions · Skills · Agents · Prompts</a:t>
            </a:r>
            <a:endParaRPr lang="en-US" sz="3000" dirty="0"/>
          </a:p>
        </p:txBody>
      </p:sp>
      <p:sp>
        <p:nvSpPr>
          <p:cNvPr id="5" name="Shape 3"/>
          <p:cNvSpPr/>
          <p:nvPr/>
        </p:nvSpPr>
        <p:spPr>
          <a:xfrm>
            <a:off x="662940" y="1554480"/>
            <a:ext cx="1783080" cy="192024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6" name="Shape 4"/>
          <p:cNvSpPr/>
          <p:nvPr/>
        </p:nvSpPr>
        <p:spPr>
          <a:xfrm>
            <a:off x="662940" y="1554480"/>
            <a:ext cx="1783080" cy="91440"/>
          </a:xfrm>
          <a:prstGeom prst="rect">
            <a:avLst/>
          </a:prstGeom>
          <a:solidFill>
            <a:srgbClr val="0B1F3A"/>
          </a:solidFill>
          <a:ln w="12700">
            <a:solidFill>
              <a:srgbClr val="0B1F3A"/>
            </a:solidFill>
            <a:prstDash val="solid"/>
          </a:ln>
        </p:spPr>
        <p:txBody>
          <a:bodyPr/>
          <a:lstStyle/>
          <a:p>
            <a:endParaRPr lang="en-US"/>
          </a:p>
        </p:txBody>
      </p:sp>
      <p:sp>
        <p:nvSpPr>
          <p:cNvPr id="7" name="Shape 5"/>
          <p:cNvSpPr/>
          <p:nvPr/>
        </p:nvSpPr>
        <p:spPr>
          <a:xfrm>
            <a:off x="1188720" y="1828800"/>
            <a:ext cx="731520" cy="731520"/>
          </a:xfrm>
          <a:prstGeom prst="ellipse">
            <a:avLst/>
          </a:prstGeom>
          <a:solidFill>
            <a:srgbClr val="0B1F3A"/>
          </a:solidFill>
          <a:ln w="12700">
            <a:solidFill>
              <a:srgbClr val="0B1F3A"/>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1325880" y="1965960"/>
            <a:ext cx="457200" cy="457200"/>
          </a:xfrm>
          <a:prstGeom prst="rect">
            <a:avLst/>
          </a:prstGeom>
        </p:spPr>
      </p:pic>
      <p:sp>
        <p:nvSpPr>
          <p:cNvPr id="9" name="Text 6"/>
          <p:cNvSpPr/>
          <p:nvPr/>
        </p:nvSpPr>
        <p:spPr>
          <a:xfrm>
            <a:off x="662940" y="2651760"/>
            <a:ext cx="1783080" cy="365760"/>
          </a:xfrm>
          <a:prstGeom prst="rect">
            <a:avLst/>
          </a:prstGeom>
          <a:noFill/>
          <a:ln/>
        </p:spPr>
        <p:txBody>
          <a:bodyPr wrap="square" lIns="0" tIns="0" rIns="0" bIns="0" rtlCol="0" anchor="ctr"/>
          <a:lstStyle/>
          <a:p>
            <a:pPr marL="0" indent="0" algn="ctr">
              <a:buNone/>
            </a:pPr>
            <a:r>
              <a:rPr lang="en-US" sz="1300" b="1" kern="0" spc="300" dirty="0">
                <a:solidFill>
                  <a:srgbClr val="1E293B"/>
                </a:solidFill>
                <a:latin typeface="Calibri" pitchFamily="34" charset="0"/>
                <a:ea typeface="Calibri" pitchFamily="34" charset="-122"/>
                <a:cs typeface="Calibri" pitchFamily="34" charset="-120"/>
              </a:rPr>
              <a:t>INSTRUCTIONS</a:t>
            </a:r>
            <a:endParaRPr lang="en-US" sz="1300" dirty="0"/>
          </a:p>
        </p:txBody>
      </p:sp>
      <p:sp>
        <p:nvSpPr>
          <p:cNvPr id="10" name="Text 7"/>
          <p:cNvSpPr/>
          <p:nvPr/>
        </p:nvSpPr>
        <p:spPr>
          <a:xfrm>
            <a:off x="662940" y="3017520"/>
            <a:ext cx="1783080" cy="36576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Always-on guardrails</a:t>
            </a:r>
            <a:endParaRPr lang="en-US" sz="1100" dirty="0"/>
          </a:p>
        </p:txBody>
      </p:sp>
      <p:pic>
        <p:nvPicPr>
          <p:cNvPr id="11" name="Image 1" descr="preencoded.png"/>
          <p:cNvPicPr>
            <a:picLocks noChangeAspect="1"/>
          </p:cNvPicPr>
          <p:nvPr/>
        </p:nvPicPr>
        <p:blipFill>
          <a:blip r:embed="rId4"/>
          <a:stretch>
            <a:fillRect/>
          </a:stretch>
        </p:blipFill>
        <p:spPr>
          <a:xfrm>
            <a:off x="2500884" y="2423160"/>
            <a:ext cx="164592" cy="164592"/>
          </a:xfrm>
          <a:prstGeom prst="rect">
            <a:avLst/>
          </a:prstGeom>
        </p:spPr>
      </p:pic>
      <p:sp>
        <p:nvSpPr>
          <p:cNvPr id="12" name="Shape 8"/>
          <p:cNvSpPr/>
          <p:nvPr/>
        </p:nvSpPr>
        <p:spPr>
          <a:xfrm>
            <a:off x="2674620" y="1554480"/>
            <a:ext cx="1783080" cy="192024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13" name="Shape 9"/>
          <p:cNvSpPr/>
          <p:nvPr/>
        </p:nvSpPr>
        <p:spPr>
          <a:xfrm>
            <a:off x="2674620" y="1554480"/>
            <a:ext cx="1783080" cy="91440"/>
          </a:xfrm>
          <a:prstGeom prst="rect">
            <a:avLst/>
          </a:prstGeom>
          <a:solidFill>
            <a:srgbClr val="4F9DE6"/>
          </a:solidFill>
          <a:ln w="12700">
            <a:solidFill>
              <a:srgbClr val="4F9DE6"/>
            </a:solidFill>
            <a:prstDash val="solid"/>
          </a:ln>
        </p:spPr>
        <p:txBody>
          <a:bodyPr/>
          <a:lstStyle/>
          <a:p>
            <a:endParaRPr lang="en-US"/>
          </a:p>
        </p:txBody>
      </p:sp>
      <p:sp>
        <p:nvSpPr>
          <p:cNvPr id="14" name="Shape 10"/>
          <p:cNvSpPr/>
          <p:nvPr/>
        </p:nvSpPr>
        <p:spPr>
          <a:xfrm>
            <a:off x="3200400" y="1828800"/>
            <a:ext cx="731520" cy="731520"/>
          </a:xfrm>
          <a:prstGeom prst="ellipse">
            <a:avLst/>
          </a:prstGeom>
          <a:solidFill>
            <a:srgbClr val="4F9DE6"/>
          </a:solidFill>
          <a:ln w="12700">
            <a:solidFill>
              <a:srgbClr val="4F9DE6"/>
            </a:solidFill>
            <a:prstDash val="solid"/>
          </a:ln>
        </p:spPr>
        <p:txBody>
          <a:bodyPr/>
          <a:lstStyle/>
          <a:p>
            <a:endParaRPr lang="en-US"/>
          </a:p>
        </p:txBody>
      </p:sp>
      <p:pic>
        <p:nvPicPr>
          <p:cNvPr id="15" name="Image 2" descr="preencoded.png"/>
          <p:cNvPicPr>
            <a:picLocks noChangeAspect="1"/>
          </p:cNvPicPr>
          <p:nvPr/>
        </p:nvPicPr>
        <p:blipFill>
          <a:blip r:embed="rId5"/>
          <a:stretch>
            <a:fillRect/>
          </a:stretch>
        </p:blipFill>
        <p:spPr>
          <a:xfrm>
            <a:off x="3337560" y="1965960"/>
            <a:ext cx="457200" cy="457200"/>
          </a:xfrm>
          <a:prstGeom prst="rect">
            <a:avLst/>
          </a:prstGeom>
        </p:spPr>
      </p:pic>
      <p:sp>
        <p:nvSpPr>
          <p:cNvPr id="16" name="Text 11"/>
          <p:cNvSpPr/>
          <p:nvPr/>
        </p:nvSpPr>
        <p:spPr>
          <a:xfrm>
            <a:off x="2674620" y="2651760"/>
            <a:ext cx="1783080" cy="365760"/>
          </a:xfrm>
          <a:prstGeom prst="rect">
            <a:avLst/>
          </a:prstGeom>
          <a:noFill/>
          <a:ln/>
        </p:spPr>
        <p:txBody>
          <a:bodyPr wrap="square" lIns="0" tIns="0" rIns="0" bIns="0" rtlCol="0" anchor="ctr"/>
          <a:lstStyle/>
          <a:p>
            <a:pPr marL="0" indent="0" algn="ctr">
              <a:buNone/>
            </a:pPr>
            <a:r>
              <a:rPr lang="en-US" sz="1300" b="1" kern="0" spc="300" dirty="0">
                <a:solidFill>
                  <a:srgbClr val="1E293B"/>
                </a:solidFill>
                <a:latin typeface="Calibri" pitchFamily="34" charset="0"/>
                <a:ea typeface="Calibri" pitchFamily="34" charset="-122"/>
                <a:cs typeface="Calibri" pitchFamily="34" charset="-120"/>
              </a:rPr>
              <a:t>SKILLS</a:t>
            </a:r>
            <a:endParaRPr lang="en-US" sz="1300" dirty="0"/>
          </a:p>
        </p:txBody>
      </p:sp>
      <p:sp>
        <p:nvSpPr>
          <p:cNvPr id="17" name="Text 12"/>
          <p:cNvSpPr/>
          <p:nvPr/>
        </p:nvSpPr>
        <p:spPr>
          <a:xfrm>
            <a:off x="2674620" y="3017520"/>
            <a:ext cx="1783080" cy="36576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Portable SOPs</a:t>
            </a:r>
            <a:endParaRPr lang="en-US" sz="1100" dirty="0"/>
          </a:p>
        </p:txBody>
      </p:sp>
      <p:pic>
        <p:nvPicPr>
          <p:cNvPr id="18" name="Image 3" descr="preencoded.png"/>
          <p:cNvPicPr>
            <a:picLocks noChangeAspect="1"/>
          </p:cNvPicPr>
          <p:nvPr/>
        </p:nvPicPr>
        <p:blipFill>
          <a:blip r:embed="rId4"/>
          <a:stretch>
            <a:fillRect/>
          </a:stretch>
        </p:blipFill>
        <p:spPr>
          <a:xfrm>
            <a:off x="4512564" y="2423160"/>
            <a:ext cx="164592" cy="164592"/>
          </a:xfrm>
          <a:prstGeom prst="rect">
            <a:avLst/>
          </a:prstGeom>
        </p:spPr>
      </p:pic>
      <p:sp>
        <p:nvSpPr>
          <p:cNvPr id="19" name="Shape 13"/>
          <p:cNvSpPr/>
          <p:nvPr/>
        </p:nvSpPr>
        <p:spPr>
          <a:xfrm>
            <a:off x="4686300" y="1554480"/>
            <a:ext cx="1783080" cy="192024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20" name="Shape 14"/>
          <p:cNvSpPr/>
          <p:nvPr/>
        </p:nvSpPr>
        <p:spPr>
          <a:xfrm>
            <a:off x="4686300" y="1554480"/>
            <a:ext cx="1783080" cy="91440"/>
          </a:xfrm>
          <a:prstGeom prst="rect">
            <a:avLst/>
          </a:prstGeom>
          <a:solidFill>
            <a:srgbClr val="F78166"/>
          </a:solidFill>
          <a:ln w="12700">
            <a:solidFill>
              <a:srgbClr val="F78166"/>
            </a:solidFill>
            <a:prstDash val="solid"/>
          </a:ln>
        </p:spPr>
        <p:txBody>
          <a:bodyPr/>
          <a:lstStyle/>
          <a:p>
            <a:endParaRPr lang="en-US"/>
          </a:p>
        </p:txBody>
      </p:sp>
      <p:sp>
        <p:nvSpPr>
          <p:cNvPr id="21" name="Shape 15"/>
          <p:cNvSpPr/>
          <p:nvPr/>
        </p:nvSpPr>
        <p:spPr>
          <a:xfrm>
            <a:off x="5212080" y="1828800"/>
            <a:ext cx="731520" cy="731520"/>
          </a:xfrm>
          <a:prstGeom prst="ellipse">
            <a:avLst/>
          </a:prstGeom>
          <a:solidFill>
            <a:srgbClr val="F78166"/>
          </a:solidFill>
          <a:ln w="12700">
            <a:solidFill>
              <a:srgbClr val="F78166"/>
            </a:solidFill>
            <a:prstDash val="solid"/>
          </a:ln>
        </p:spPr>
        <p:txBody>
          <a:bodyPr/>
          <a:lstStyle/>
          <a:p>
            <a:endParaRPr lang="en-US"/>
          </a:p>
        </p:txBody>
      </p:sp>
      <p:pic>
        <p:nvPicPr>
          <p:cNvPr id="22" name="Image 4" descr="preencoded.png"/>
          <p:cNvPicPr>
            <a:picLocks noChangeAspect="1"/>
          </p:cNvPicPr>
          <p:nvPr/>
        </p:nvPicPr>
        <p:blipFill>
          <a:blip r:embed="rId6"/>
          <a:stretch>
            <a:fillRect/>
          </a:stretch>
        </p:blipFill>
        <p:spPr>
          <a:xfrm>
            <a:off x="5349240" y="1965960"/>
            <a:ext cx="457200" cy="457200"/>
          </a:xfrm>
          <a:prstGeom prst="rect">
            <a:avLst/>
          </a:prstGeom>
        </p:spPr>
      </p:pic>
      <p:sp>
        <p:nvSpPr>
          <p:cNvPr id="23" name="Text 16"/>
          <p:cNvSpPr/>
          <p:nvPr/>
        </p:nvSpPr>
        <p:spPr>
          <a:xfrm>
            <a:off x="4686300" y="2651760"/>
            <a:ext cx="1783080" cy="365760"/>
          </a:xfrm>
          <a:prstGeom prst="rect">
            <a:avLst/>
          </a:prstGeom>
          <a:noFill/>
          <a:ln/>
        </p:spPr>
        <p:txBody>
          <a:bodyPr wrap="square" lIns="0" tIns="0" rIns="0" bIns="0" rtlCol="0" anchor="ctr"/>
          <a:lstStyle/>
          <a:p>
            <a:pPr marL="0" indent="0" algn="ctr">
              <a:buNone/>
            </a:pPr>
            <a:r>
              <a:rPr lang="en-US" sz="1300" b="1" kern="0" spc="300" dirty="0">
                <a:solidFill>
                  <a:srgbClr val="1E293B"/>
                </a:solidFill>
                <a:latin typeface="Calibri" pitchFamily="34" charset="0"/>
                <a:ea typeface="Calibri" pitchFamily="34" charset="-122"/>
                <a:cs typeface="Calibri" pitchFamily="34" charset="-120"/>
              </a:rPr>
              <a:t>AGENTS</a:t>
            </a:r>
            <a:endParaRPr lang="en-US" sz="1300" dirty="0"/>
          </a:p>
        </p:txBody>
      </p:sp>
      <p:sp>
        <p:nvSpPr>
          <p:cNvPr id="24" name="Text 17"/>
          <p:cNvSpPr/>
          <p:nvPr/>
        </p:nvSpPr>
        <p:spPr>
          <a:xfrm>
            <a:off x="4686300" y="3017520"/>
            <a:ext cx="1783080" cy="36576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Role-based specialists</a:t>
            </a:r>
            <a:endParaRPr lang="en-US" sz="1100" dirty="0"/>
          </a:p>
        </p:txBody>
      </p:sp>
      <p:pic>
        <p:nvPicPr>
          <p:cNvPr id="25" name="Image 5" descr="preencoded.png"/>
          <p:cNvPicPr>
            <a:picLocks noChangeAspect="1"/>
          </p:cNvPicPr>
          <p:nvPr/>
        </p:nvPicPr>
        <p:blipFill>
          <a:blip r:embed="rId4"/>
          <a:stretch>
            <a:fillRect/>
          </a:stretch>
        </p:blipFill>
        <p:spPr>
          <a:xfrm>
            <a:off x="6524244" y="2423160"/>
            <a:ext cx="164592" cy="164592"/>
          </a:xfrm>
          <a:prstGeom prst="rect">
            <a:avLst/>
          </a:prstGeom>
        </p:spPr>
      </p:pic>
      <p:sp>
        <p:nvSpPr>
          <p:cNvPr id="26" name="Shape 18"/>
          <p:cNvSpPr/>
          <p:nvPr/>
        </p:nvSpPr>
        <p:spPr>
          <a:xfrm>
            <a:off x="6697980" y="1554480"/>
            <a:ext cx="1783080" cy="192024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27" name="Shape 19"/>
          <p:cNvSpPr/>
          <p:nvPr/>
        </p:nvSpPr>
        <p:spPr>
          <a:xfrm>
            <a:off x="6697980" y="1554480"/>
            <a:ext cx="1783080" cy="91440"/>
          </a:xfrm>
          <a:prstGeom prst="rect">
            <a:avLst/>
          </a:prstGeom>
          <a:solidFill>
            <a:srgbClr val="FFD166"/>
          </a:solidFill>
          <a:ln w="12700">
            <a:solidFill>
              <a:srgbClr val="FFD166"/>
            </a:solidFill>
            <a:prstDash val="solid"/>
          </a:ln>
        </p:spPr>
        <p:txBody>
          <a:bodyPr/>
          <a:lstStyle/>
          <a:p>
            <a:endParaRPr lang="en-US"/>
          </a:p>
        </p:txBody>
      </p:sp>
      <p:sp>
        <p:nvSpPr>
          <p:cNvPr id="28" name="Shape 20"/>
          <p:cNvSpPr/>
          <p:nvPr/>
        </p:nvSpPr>
        <p:spPr>
          <a:xfrm>
            <a:off x="7223760" y="1828800"/>
            <a:ext cx="731520" cy="731520"/>
          </a:xfrm>
          <a:prstGeom prst="ellipse">
            <a:avLst/>
          </a:prstGeom>
          <a:solidFill>
            <a:srgbClr val="FFD166"/>
          </a:solidFill>
          <a:ln w="12700">
            <a:solidFill>
              <a:srgbClr val="FFD166"/>
            </a:solidFill>
            <a:prstDash val="solid"/>
          </a:ln>
        </p:spPr>
        <p:txBody>
          <a:bodyPr/>
          <a:lstStyle/>
          <a:p>
            <a:endParaRPr lang="en-US"/>
          </a:p>
        </p:txBody>
      </p:sp>
      <p:pic>
        <p:nvPicPr>
          <p:cNvPr id="29" name="Image 6" descr="preencoded.png"/>
          <p:cNvPicPr>
            <a:picLocks noChangeAspect="1"/>
          </p:cNvPicPr>
          <p:nvPr/>
        </p:nvPicPr>
        <p:blipFill>
          <a:blip r:embed="rId7"/>
          <a:stretch>
            <a:fillRect/>
          </a:stretch>
        </p:blipFill>
        <p:spPr>
          <a:xfrm>
            <a:off x="7360920" y="1965960"/>
            <a:ext cx="457200" cy="457200"/>
          </a:xfrm>
          <a:prstGeom prst="rect">
            <a:avLst/>
          </a:prstGeom>
        </p:spPr>
      </p:pic>
      <p:sp>
        <p:nvSpPr>
          <p:cNvPr id="30" name="Text 21"/>
          <p:cNvSpPr/>
          <p:nvPr/>
        </p:nvSpPr>
        <p:spPr>
          <a:xfrm>
            <a:off x="6697980" y="2651760"/>
            <a:ext cx="1783080" cy="365760"/>
          </a:xfrm>
          <a:prstGeom prst="rect">
            <a:avLst/>
          </a:prstGeom>
          <a:noFill/>
          <a:ln/>
        </p:spPr>
        <p:txBody>
          <a:bodyPr wrap="square" lIns="0" tIns="0" rIns="0" bIns="0" rtlCol="0" anchor="ctr"/>
          <a:lstStyle/>
          <a:p>
            <a:pPr marL="0" indent="0" algn="ctr">
              <a:buNone/>
            </a:pPr>
            <a:r>
              <a:rPr lang="en-US" sz="1300" b="1" kern="0" spc="300" dirty="0">
                <a:solidFill>
                  <a:srgbClr val="1E293B"/>
                </a:solidFill>
                <a:latin typeface="Calibri" pitchFamily="34" charset="0"/>
                <a:ea typeface="Calibri" pitchFamily="34" charset="-122"/>
                <a:cs typeface="Calibri" pitchFamily="34" charset="-120"/>
              </a:rPr>
              <a:t>PROMPTS</a:t>
            </a:r>
            <a:endParaRPr lang="en-US" sz="1300" dirty="0"/>
          </a:p>
        </p:txBody>
      </p:sp>
      <p:sp>
        <p:nvSpPr>
          <p:cNvPr id="31" name="Text 22"/>
          <p:cNvSpPr/>
          <p:nvPr/>
        </p:nvSpPr>
        <p:spPr>
          <a:xfrm>
            <a:off x="6697980" y="3017520"/>
            <a:ext cx="1783080" cy="365760"/>
          </a:xfrm>
          <a:prstGeom prst="rect">
            <a:avLst/>
          </a:prstGeom>
          <a:noFill/>
          <a:ln/>
        </p:spPr>
        <p:txBody>
          <a:bodyPr wrap="square" lIns="0" tIns="0" rIns="0" bIns="0" rtlCol="0" anchor="ctr"/>
          <a:lstStyle/>
          <a:p>
            <a:pPr marL="0" indent="0" algn="ctr">
              <a:buNone/>
            </a:pPr>
            <a:r>
              <a:rPr lang="en-US" sz="1100" dirty="0">
                <a:solidFill>
                  <a:srgbClr val="64748B"/>
                </a:solidFill>
                <a:latin typeface="Calibri" pitchFamily="34" charset="0"/>
                <a:ea typeface="Calibri" pitchFamily="34" charset="-122"/>
                <a:cs typeface="Calibri" pitchFamily="34" charset="-120"/>
              </a:rPr>
              <a:t>Lightweight macros</a:t>
            </a:r>
            <a:endParaRPr lang="en-US" sz="1100" dirty="0"/>
          </a:p>
        </p:txBody>
      </p:sp>
      <p:sp>
        <p:nvSpPr>
          <p:cNvPr id="32" name="Shape 23"/>
          <p:cNvSpPr/>
          <p:nvPr/>
        </p:nvSpPr>
        <p:spPr>
          <a:xfrm>
            <a:off x="548640" y="3931920"/>
            <a:ext cx="8046720" cy="685800"/>
          </a:xfrm>
          <a:prstGeom prst="rect">
            <a:avLst/>
          </a:prstGeom>
          <a:solidFill>
            <a:srgbClr val="0B1F3A"/>
          </a:solidFill>
          <a:ln w="12700">
            <a:solidFill>
              <a:srgbClr val="0B1F3A"/>
            </a:solidFill>
            <a:prstDash val="solid"/>
          </a:ln>
        </p:spPr>
        <p:txBody>
          <a:bodyPr/>
          <a:lstStyle/>
          <a:p>
            <a:endParaRPr lang="en-US"/>
          </a:p>
        </p:txBody>
      </p:sp>
      <p:sp>
        <p:nvSpPr>
          <p:cNvPr id="33" name="Shape 24"/>
          <p:cNvSpPr/>
          <p:nvPr/>
        </p:nvSpPr>
        <p:spPr>
          <a:xfrm>
            <a:off x="548640" y="3931920"/>
            <a:ext cx="91440" cy="685800"/>
          </a:xfrm>
          <a:prstGeom prst="rect">
            <a:avLst/>
          </a:prstGeom>
          <a:solidFill>
            <a:srgbClr val="F78166"/>
          </a:solidFill>
          <a:ln w="12700">
            <a:solidFill>
              <a:srgbClr val="F78166"/>
            </a:solidFill>
            <a:prstDash val="solid"/>
          </a:ln>
        </p:spPr>
        <p:txBody>
          <a:bodyPr/>
          <a:lstStyle/>
          <a:p>
            <a:endParaRPr lang="en-US"/>
          </a:p>
        </p:txBody>
      </p:sp>
      <p:sp>
        <p:nvSpPr>
          <p:cNvPr id="34" name="Text 25"/>
          <p:cNvSpPr/>
          <p:nvPr/>
        </p:nvSpPr>
        <p:spPr>
          <a:xfrm>
            <a:off x="822960" y="3931920"/>
            <a:ext cx="7680960" cy="685800"/>
          </a:xfrm>
          <a:prstGeom prst="rect">
            <a:avLst/>
          </a:prstGeom>
          <a:noFill/>
          <a:ln/>
        </p:spPr>
        <p:txBody>
          <a:bodyPr wrap="square" lIns="0" tIns="0" rIns="0" bIns="0" rtlCol="0" anchor="ctr"/>
          <a:lstStyle/>
          <a:p>
            <a:pPr marL="0" indent="0">
              <a:buNone/>
            </a:pPr>
            <a:r>
              <a:rPr lang="en-US" sz="1600" i="1" dirty="0">
                <a:solidFill>
                  <a:srgbClr val="FFFFFF"/>
                </a:solidFill>
                <a:latin typeface="Calibri" pitchFamily="34" charset="0"/>
                <a:ea typeface="Calibri" pitchFamily="34" charset="-122"/>
                <a:cs typeface="Calibri" pitchFamily="34" charset="-120"/>
              </a:rPr>
              <a:t>Pick the lowest-weight tool that does the job. </a:t>
            </a:r>
            <a:r>
              <a:rPr lang="en-US" sz="1600" b="1" i="1" dirty="0">
                <a:solidFill>
                  <a:srgbClr val="FFD166"/>
                </a:solidFill>
                <a:latin typeface="Calibri" pitchFamily="34" charset="0"/>
                <a:ea typeface="Calibri" pitchFamily="34" charset="-122"/>
                <a:cs typeface="Calibri" pitchFamily="34" charset="-120"/>
              </a:rPr>
              <a:t>Compose them. Version them. Ship them.</a:t>
            </a:r>
            <a:endParaRPr lang="en-US" sz="1600" dirty="0"/>
          </a:p>
        </p:txBody>
      </p:sp>
      <p:sp>
        <p:nvSpPr>
          <p:cNvPr id="35" name="Text 26"/>
          <p:cNvSpPr/>
          <p:nvPr/>
        </p:nvSpPr>
        <p:spPr>
          <a:xfrm>
            <a:off x="548640" y="4864608"/>
            <a:ext cx="64008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Agentic-First with GitHub Copilot  |  Global Azure Columbus 2026</a:t>
            </a:r>
            <a:endParaRPr lang="en-US" sz="900" dirty="0"/>
          </a:p>
        </p:txBody>
      </p:sp>
      <p:sp>
        <p:nvSpPr>
          <p:cNvPr id="36" name="Text 27"/>
          <p:cNvSpPr/>
          <p:nvPr/>
        </p:nvSpPr>
        <p:spPr>
          <a:xfrm>
            <a:off x="8229600" y="4864608"/>
            <a:ext cx="54864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F78166"/>
          </a:solidFill>
          <a:ln w="12700">
            <a:solidFill>
              <a:srgbClr val="F78166"/>
            </a:solidFill>
            <a:prstDash val="solid"/>
          </a:ln>
        </p:spPr>
        <p:txBody>
          <a:bodyPr/>
          <a:lstStyle/>
          <a:p>
            <a:endParaRPr lang="en-US"/>
          </a:p>
        </p:txBody>
      </p:sp>
      <p:sp>
        <p:nvSpPr>
          <p:cNvPr id="3" name="Text 1"/>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400" dirty="0">
                <a:solidFill>
                  <a:srgbClr val="F78166"/>
                </a:solidFill>
                <a:latin typeface="Calibri" pitchFamily="34" charset="0"/>
                <a:ea typeface="Calibri" pitchFamily="34" charset="-122"/>
                <a:cs typeface="Calibri" pitchFamily="34" charset="-120"/>
              </a:rPr>
              <a:t>PICK THE RIGHT TOOL</a:t>
            </a:r>
            <a:endParaRPr lang="en-US" sz="1100" dirty="0"/>
          </a:p>
        </p:txBody>
      </p:sp>
      <p:sp>
        <p:nvSpPr>
          <p:cNvPr id="4" name="Text 2"/>
          <p:cNvSpPr/>
          <p:nvPr/>
        </p:nvSpPr>
        <p:spPr>
          <a:xfrm>
            <a:off x="548640" y="502920"/>
            <a:ext cx="8229600" cy="685800"/>
          </a:xfrm>
          <a:prstGeom prst="rect">
            <a:avLst/>
          </a:prstGeom>
          <a:noFill/>
          <a:ln/>
        </p:spPr>
        <p:txBody>
          <a:bodyPr wrap="square" lIns="0" tIns="0" rIns="0" bIns="0" rtlCol="0" anchor="ctr"/>
          <a:lstStyle/>
          <a:p>
            <a:pPr marL="0" indent="0">
              <a:buNone/>
            </a:pPr>
            <a:r>
              <a:rPr lang="en-US" sz="3000" b="1" dirty="0">
                <a:solidFill>
                  <a:srgbClr val="1E293B"/>
                </a:solidFill>
                <a:latin typeface="Calibri" pitchFamily="34" charset="0"/>
                <a:ea typeface="Calibri" pitchFamily="34" charset="-122"/>
                <a:cs typeface="Calibri" pitchFamily="34" charset="-120"/>
              </a:rPr>
              <a:t>When to use each .github/ component</a:t>
            </a:r>
            <a:endParaRPr lang="en-US" sz="3000" dirty="0"/>
          </a:p>
        </p:txBody>
      </p:sp>
      <p:sp>
        <p:nvSpPr>
          <p:cNvPr id="5" name="Shape 3"/>
          <p:cNvSpPr/>
          <p:nvPr/>
        </p:nvSpPr>
        <p:spPr>
          <a:xfrm>
            <a:off x="502920" y="1280160"/>
            <a:ext cx="1645920" cy="594360"/>
          </a:xfrm>
          <a:prstGeom prst="rect">
            <a:avLst/>
          </a:prstGeom>
          <a:solidFill>
            <a:srgbClr val="0F1729"/>
          </a:solidFill>
          <a:ln w="12700">
            <a:solidFill>
              <a:srgbClr val="0F1729"/>
            </a:solidFill>
            <a:prstDash val="solid"/>
          </a:ln>
        </p:spPr>
        <p:txBody>
          <a:bodyPr/>
          <a:lstStyle/>
          <a:p>
            <a:endParaRPr lang="en-US"/>
          </a:p>
        </p:txBody>
      </p:sp>
      <p:sp>
        <p:nvSpPr>
          <p:cNvPr id="6" name="Text 4"/>
          <p:cNvSpPr/>
          <p:nvPr/>
        </p:nvSpPr>
        <p:spPr>
          <a:xfrm>
            <a:off x="502920" y="1325880"/>
            <a:ext cx="1645920" cy="256032"/>
          </a:xfrm>
          <a:prstGeom prst="rect">
            <a:avLst/>
          </a:prstGeom>
          <a:noFill/>
          <a:ln/>
        </p:spPr>
        <p:txBody>
          <a:bodyPr wrap="square" lIns="0" tIns="0" rIns="0" bIns="0" rtlCol="0" anchor="ctr"/>
          <a:lstStyle/>
          <a:p>
            <a:pPr marL="0" indent="0" algn="ctr">
              <a:buNone/>
            </a:pPr>
            <a:r>
              <a:rPr lang="en-US" sz="1200" b="1" kern="0" spc="300" dirty="0">
                <a:solidFill>
                  <a:srgbClr val="FFFFFF"/>
                </a:solidFill>
                <a:latin typeface="Calibri" pitchFamily="34" charset="0"/>
                <a:ea typeface="Calibri" pitchFamily="34" charset="-122"/>
                <a:cs typeface="Calibri" pitchFamily="34" charset="-120"/>
              </a:rPr>
              <a:t>FEATURE</a:t>
            </a:r>
            <a:endParaRPr lang="en-US" sz="1200" dirty="0"/>
          </a:p>
        </p:txBody>
      </p:sp>
      <p:sp>
        <p:nvSpPr>
          <p:cNvPr id="7" name="Shape 5"/>
          <p:cNvSpPr/>
          <p:nvPr/>
        </p:nvSpPr>
        <p:spPr>
          <a:xfrm>
            <a:off x="2148840" y="1280160"/>
            <a:ext cx="1691640" cy="594360"/>
          </a:xfrm>
          <a:prstGeom prst="rect">
            <a:avLst/>
          </a:prstGeom>
          <a:solidFill>
            <a:srgbClr val="FFD166"/>
          </a:solidFill>
          <a:ln w="12700">
            <a:solidFill>
              <a:srgbClr val="FFD166"/>
            </a:solidFill>
            <a:prstDash val="solid"/>
          </a:ln>
        </p:spPr>
        <p:txBody>
          <a:bodyPr/>
          <a:lstStyle/>
          <a:p>
            <a:endParaRPr lang="en-US"/>
          </a:p>
        </p:txBody>
      </p:sp>
      <p:sp>
        <p:nvSpPr>
          <p:cNvPr id="8" name="Text 6"/>
          <p:cNvSpPr/>
          <p:nvPr/>
        </p:nvSpPr>
        <p:spPr>
          <a:xfrm>
            <a:off x="2148840" y="1325880"/>
            <a:ext cx="1691640" cy="256032"/>
          </a:xfrm>
          <a:prstGeom prst="rect">
            <a:avLst/>
          </a:prstGeom>
          <a:noFill/>
          <a:ln/>
        </p:spPr>
        <p:txBody>
          <a:bodyPr wrap="square" lIns="0" tIns="0" rIns="0" bIns="0" rtlCol="0" anchor="ctr"/>
          <a:lstStyle/>
          <a:p>
            <a:pPr marL="0" indent="0" algn="ctr">
              <a:buNone/>
            </a:pPr>
            <a:r>
              <a:rPr lang="en-US" sz="1200" b="1" kern="0" spc="300" dirty="0">
                <a:solidFill>
                  <a:srgbClr val="FFFFFF"/>
                </a:solidFill>
                <a:latin typeface="Calibri" pitchFamily="34" charset="0"/>
                <a:ea typeface="Calibri" pitchFamily="34" charset="-122"/>
                <a:cs typeface="Calibri" pitchFamily="34" charset="-120"/>
              </a:rPr>
              <a:t>PROMPTS</a:t>
            </a:r>
            <a:endParaRPr lang="en-US" sz="1200" dirty="0"/>
          </a:p>
        </p:txBody>
      </p:sp>
      <p:sp>
        <p:nvSpPr>
          <p:cNvPr id="9" name="Text 7"/>
          <p:cNvSpPr/>
          <p:nvPr/>
        </p:nvSpPr>
        <p:spPr>
          <a:xfrm>
            <a:off x="2148840" y="1591056"/>
            <a:ext cx="1691640" cy="256032"/>
          </a:xfrm>
          <a:prstGeom prst="rect">
            <a:avLst/>
          </a:prstGeom>
          <a:noFill/>
          <a:ln/>
        </p:spPr>
        <p:txBody>
          <a:bodyPr wrap="square" lIns="0" tIns="0" rIns="0" bIns="0" rtlCol="0" anchor="ctr"/>
          <a:lstStyle/>
          <a:p>
            <a:pPr marL="0" indent="0" algn="ctr">
              <a:buNone/>
            </a:pPr>
            <a:r>
              <a:rPr lang="en-US" sz="1000" dirty="0">
                <a:solidFill>
                  <a:srgbClr val="FFFFFF"/>
                </a:solidFill>
                <a:latin typeface="Consolas" pitchFamily="34" charset="0"/>
                <a:ea typeface="Consolas" pitchFamily="34" charset="-122"/>
                <a:cs typeface="Consolas" pitchFamily="34" charset="-120"/>
              </a:rPr>
              <a:t>*.prompt.md</a:t>
            </a:r>
            <a:endParaRPr lang="en-US" sz="1000" dirty="0"/>
          </a:p>
        </p:txBody>
      </p:sp>
      <p:sp>
        <p:nvSpPr>
          <p:cNvPr id="10" name="Shape 8"/>
          <p:cNvSpPr/>
          <p:nvPr/>
        </p:nvSpPr>
        <p:spPr>
          <a:xfrm>
            <a:off x="3840480" y="1280160"/>
            <a:ext cx="1691640" cy="594360"/>
          </a:xfrm>
          <a:prstGeom prst="rect">
            <a:avLst/>
          </a:prstGeom>
          <a:solidFill>
            <a:srgbClr val="4F9DE6"/>
          </a:solidFill>
          <a:ln w="12700">
            <a:solidFill>
              <a:srgbClr val="4F9DE6"/>
            </a:solidFill>
            <a:prstDash val="solid"/>
          </a:ln>
        </p:spPr>
        <p:txBody>
          <a:bodyPr/>
          <a:lstStyle/>
          <a:p>
            <a:endParaRPr lang="en-US"/>
          </a:p>
        </p:txBody>
      </p:sp>
      <p:sp>
        <p:nvSpPr>
          <p:cNvPr id="11" name="Text 9"/>
          <p:cNvSpPr/>
          <p:nvPr/>
        </p:nvSpPr>
        <p:spPr>
          <a:xfrm>
            <a:off x="3840480" y="1325880"/>
            <a:ext cx="1691640" cy="256032"/>
          </a:xfrm>
          <a:prstGeom prst="rect">
            <a:avLst/>
          </a:prstGeom>
          <a:noFill/>
          <a:ln/>
        </p:spPr>
        <p:txBody>
          <a:bodyPr wrap="square" lIns="0" tIns="0" rIns="0" bIns="0" rtlCol="0" anchor="ctr"/>
          <a:lstStyle/>
          <a:p>
            <a:pPr marL="0" indent="0" algn="ctr">
              <a:buNone/>
            </a:pPr>
            <a:r>
              <a:rPr lang="en-US" sz="1200" b="1" kern="0" spc="300" dirty="0">
                <a:solidFill>
                  <a:srgbClr val="FFFFFF"/>
                </a:solidFill>
                <a:latin typeface="Calibri" pitchFamily="34" charset="0"/>
                <a:ea typeface="Calibri" pitchFamily="34" charset="-122"/>
                <a:cs typeface="Calibri" pitchFamily="34" charset="-120"/>
              </a:rPr>
              <a:t>INSTRUCTIONS</a:t>
            </a:r>
            <a:endParaRPr lang="en-US" sz="1200" dirty="0"/>
          </a:p>
        </p:txBody>
      </p:sp>
      <p:sp>
        <p:nvSpPr>
          <p:cNvPr id="12" name="Text 10"/>
          <p:cNvSpPr/>
          <p:nvPr/>
        </p:nvSpPr>
        <p:spPr>
          <a:xfrm>
            <a:off x="3840480" y="1591056"/>
            <a:ext cx="1691640" cy="256032"/>
          </a:xfrm>
          <a:prstGeom prst="rect">
            <a:avLst/>
          </a:prstGeom>
          <a:noFill/>
          <a:ln/>
        </p:spPr>
        <p:txBody>
          <a:bodyPr wrap="square" lIns="0" tIns="0" rIns="0" bIns="0" rtlCol="0" anchor="ctr"/>
          <a:lstStyle/>
          <a:p>
            <a:pPr marL="0" indent="0" algn="ctr">
              <a:buNone/>
            </a:pPr>
            <a:r>
              <a:rPr lang="en-US" sz="1000" dirty="0">
                <a:solidFill>
                  <a:srgbClr val="FFFFFF"/>
                </a:solidFill>
                <a:latin typeface="Consolas" pitchFamily="34" charset="0"/>
                <a:ea typeface="Consolas" pitchFamily="34" charset="-122"/>
                <a:cs typeface="Consolas" pitchFamily="34" charset="-120"/>
              </a:rPr>
              <a:t>*.instructions.md</a:t>
            </a:r>
            <a:endParaRPr lang="en-US" sz="1000" dirty="0"/>
          </a:p>
        </p:txBody>
      </p:sp>
      <p:sp>
        <p:nvSpPr>
          <p:cNvPr id="13" name="Shape 11"/>
          <p:cNvSpPr/>
          <p:nvPr/>
        </p:nvSpPr>
        <p:spPr>
          <a:xfrm>
            <a:off x="5532120" y="1280160"/>
            <a:ext cx="1691640" cy="594360"/>
          </a:xfrm>
          <a:prstGeom prst="rect">
            <a:avLst/>
          </a:prstGeom>
          <a:solidFill>
            <a:srgbClr val="0B1F3A"/>
          </a:solidFill>
          <a:ln w="12700">
            <a:solidFill>
              <a:srgbClr val="0B1F3A"/>
            </a:solidFill>
            <a:prstDash val="solid"/>
          </a:ln>
        </p:spPr>
        <p:txBody>
          <a:bodyPr/>
          <a:lstStyle/>
          <a:p>
            <a:endParaRPr lang="en-US"/>
          </a:p>
        </p:txBody>
      </p:sp>
      <p:sp>
        <p:nvSpPr>
          <p:cNvPr id="14" name="Text 12"/>
          <p:cNvSpPr/>
          <p:nvPr/>
        </p:nvSpPr>
        <p:spPr>
          <a:xfrm>
            <a:off x="5532120" y="1325880"/>
            <a:ext cx="1691640" cy="256032"/>
          </a:xfrm>
          <a:prstGeom prst="rect">
            <a:avLst/>
          </a:prstGeom>
          <a:noFill/>
          <a:ln/>
        </p:spPr>
        <p:txBody>
          <a:bodyPr wrap="square" lIns="0" tIns="0" rIns="0" bIns="0" rtlCol="0" anchor="ctr"/>
          <a:lstStyle/>
          <a:p>
            <a:pPr marL="0" indent="0" algn="ctr">
              <a:buNone/>
            </a:pPr>
            <a:r>
              <a:rPr lang="en-US" sz="1200" b="1" kern="0" spc="300" dirty="0">
                <a:solidFill>
                  <a:srgbClr val="FFFFFF"/>
                </a:solidFill>
                <a:latin typeface="Calibri" pitchFamily="34" charset="0"/>
                <a:ea typeface="Calibri" pitchFamily="34" charset="-122"/>
                <a:cs typeface="Calibri" pitchFamily="34" charset="-120"/>
              </a:rPr>
              <a:t>SKILLS</a:t>
            </a:r>
            <a:endParaRPr lang="en-US" sz="1200" dirty="0"/>
          </a:p>
        </p:txBody>
      </p:sp>
      <p:sp>
        <p:nvSpPr>
          <p:cNvPr id="15" name="Text 13"/>
          <p:cNvSpPr/>
          <p:nvPr/>
        </p:nvSpPr>
        <p:spPr>
          <a:xfrm>
            <a:off x="5532120" y="1591056"/>
            <a:ext cx="1691640" cy="256032"/>
          </a:xfrm>
          <a:prstGeom prst="rect">
            <a:avLst/>
          </a:prstGeom>
          <a:noFill/>
          <a:ln/>
        </p:spPr>
        <p:txBody>
          <a:bodyPr wrap="square" lIns="0" tIns="0" rIns="0" bIns="0" rtlCol="0" anchor="ctr"/>
          <a:lstStyle/>
          <a:p>
            <a:pPr marL="0" indent="0" algn="ctr">
              <a:buNone/>
            </a:pPr>
            <a:r>
              <a:rPr lang="en-US" sz="1000" dirty="0">
                <a:solidFill>
                  <a:srgbClr val="FFFFFF"/>
                </a:solidFill>
                <a:latin typeface="Consolas" pitchFamily="34" charset="0"/>
                <a:ea typeface="Consolas" pitchFamily="34" charset="-122"/>
                <a:cs typeface="Consolas" pitchFamily="34" charset="-120"/>
              </a:rPr>
              <a:t>SKILL.md</a:t>
            </a:r>
            <a:endParaRPr lang="en-US" sz="1000" dirty="0"/>
          </a:p>
        </p:txBody>
      </p:sp>
      <p:sp>
        <p:nvSpPr>
          <p:cNvPr id="16" name="Shape 14"/>
          <p:cNvSpPr/>
          <p:nvPr/>
        </p:nvSpPr>
        <p:spPr>
          <a:xfrm>
            <a:off x="7223760" y="1280160"/>
            <a:ext cx="1691640" cy="594360"/>
          </a:xfrm>
          <a:prstGeom prst="rect">
            <a:avLst/>
          </a:prstGeom>
          <a:solidFill>
            <a:srgbClr val="F78166"/>
          </a:solidFill>
          <a:ln w="12700">
            <a:solidFill>
              <a:srgbClr val="F78166"/>
            </a:solidFill>
            <a:prstDash val="solid"/>
          </a:ln>
        </p:spPr>
        <p:txBody>
          <a:bodyPr/>
          <a:lstStyle/>
          <a:p>
            <a:endParaRPr lang="en-US"/>
          </a:p>
        </p:txBody>
      </p:sp>
      <p:sp>
        <p:nvSpPr>
          <p:cNvPr id="17" name="Text 15"/>
          <p:cNvSpPr/>
          <p:nvPr/>
        </p:nvSpPr>
        <p:spPr>
          <a:xfrm>
            <a:off x="7223760" y="1325880"/>
            <a:ext cx="1691640" cy="256032"/>
          </a:xfrm>
          <a:prstGeom prst="rect">
            <a:avLst/>
          </a:prstGeom>
          <a:noFill/>
          <a:ln/>
        </p:spPr>
        <p:txBody>
          <a:bodyPr wrap="square" lIns="0" tIns="0" rIns="0" bIns="0" rtlCol="0" anchor="ctr"/>
          <a:lstStyle/>
          <a:p>
            <a:pPr marL="0" indent="0" algn="ctr">
              <a:buNone/>
            </a:pPr>
            <a:r>
              <a:rPr lang="en-US" sz="1200" b="1" kern="0" spc="300" dirty="0">
                <a:solidFill>
                  <a:srgbClr val="FFFFFF"/>
                </a:solidFill>
                <a:latin typeface="Calibri" pitchFamily="34" charset="0"/>
                <a:ea typeface="Calibri" pitchFamily="34" charset="-122"/>
                <a:cs typeface="Calibri" pitchFamily="34" charset="-120"/>
              </a:rPr>
              <a:t>AGENTS</a:t>
            </a:r>
            <a:endParaRPr lang="en-US" sz="1200" dirty="0"/>
          </a:p>
        </p:txBody>
      </p:sp>
      <p:sp>
        <p:nvSpPr>
          <p:cNvPr id="18" name="Text 16"/>
          <p:cNvSpPr/>
          <p:nvPr/>
        </p:nvSpPr>
        <p:spPr>
          <a:xfrm>
            <a:off x="7223760" y="1591056"/>
            <a:ext cx="1691640" cy="256032"/>
          </a:xfrm>
          <a:prstGeom prst="rect">
            <a:avLst/>
          </a:prstGeom>
          <a:noFill/>
          <a:ln/>
        </p:spPr>
        <p:txBody>
          <a:bodyPr wrap="square" lIns="0" tIns="0" rIns="0" bIns="0" rtlCol="0" anchor="ctr"/>
          <a:lstStyle/>
          <a:p>
            <a:pPr marL="0" indent="0" algn="ctr">
              <a:buNone/>
            </a:pPr>
            <a:r>
              <a:rPr lang="en-US" sz="1000" dirty="0">
                <a:solidFill>
                  <a:srgbClr val="FFFFFF"/>
                </a:solidFill>
                <a:latin typeface="Consolas" pitchFamily="34" charset="0"/>
                <a:ea typeface="Consolas" pitchFamily="34" charset="-122"/>
                <a:cs typeface="Consolas" pitchFamily="34" charset="-120"/>
              </a:rPr>
              <a:t>*.agent.md</a:t>
            </a:r>
            <a:endParaRPr lang="en-US" sz="1000" dirty="0"/>
          </a:p>
        </p:txBody>
      </p:sp>
      <p:sp>
        <p:nvSpPr>
          <p:cNvPr id="19" name="Shape 17"/>
          <p:cNvSpPr/>
          <p:nvPr/>
        </p:nvSpPr>
        <p:spPr>
          <a:xfrm>
            <a:off x="502920" y="1874520"/>
            <a:ext cx="1645920" cy="402336"/>
          </a:xfrm>
          <a:prstGeom prst="rect">
            <a:avLst/>
          </a:prstGeom>
          <a:solidFill>
            <a:srgbClr val="FFFFFF"/>
          </a:solidFill>
          <a:ln w="12700">
            <a:solidFill>
              <a:srgbClr val="E2E8F0"/>
            </a:solidFill>
            <a:prstDash val="solid"/>
          </a:ln>
        </p:spPr>
        <p:txBody>
          <a:bodyPr/>
          <a:lstStyle/>
          <a:p>
            <a:endParaRPr lang="en-US"/>
          </a:p>
        </p:txBody>
      </p:sp>
      <p:sp>
        <p:nvSpPr>
          <p:cNvPr id="20" name="Shape 18"/>
          <p:cNvSpPr/>
          <p:nvPr/>
        </p:nvSpPr>
        <p:spPr>
          <a:xfrm>
            <a:off x="2148840" y="1874520"/>
            <a:ext cx="1691640" cy="402336"/>
          </a:xfrm>
          <a:prstGeom prst="rect">
            <a:avLst/>
          </a:prstGeom>
          <a:solidFill>
            <a:srgbClr val="FFFFFF"/>
          </a:solidFill>
          <a:ln w="12700">
            <a:solidFill>
              <a:srgbClr val="E2E8F0"/>
            </a:solidFill>
            <a:prstDash val="solid"/>
          </a:ln>
        </p:spPr>
        <p:txBody>
          <a:bodyPr/>
          <a:lstStyle/>
          <a:p>
            <a:endParaRPr lang="en-US"/>
          </a:p>
        </p:txBody>
      </p:sp>
      <p:sp>
        <p:nvSpPr>
          <p:cNvPr id="21" name="Shape 19"/>
          <p:cNvSpPr/>
          <p:nvPr/>
        </p:nvSpPr>
        <p:spPr>
          <a:xfrm>
            <a:off x="3840480" y="1874520"/>
            <a:ext cx="1691640" cy="402336"/>
          </a:xfrm>
          <a:prstGeom prst="rect">
            <a:avLst/>
          </a:prstGeom>
          <a:solidFill>
            <a:srgbClr val="FFFFFF"/>
          </a:solidFill>
          <a:ln w="12700">
            <a:solidFill>
              <a:srgbClr val="E2E8F0"/>
            </a:solidFill>
            <a:prstDash val="solid"/>
          </a:ln>
        </p:spPr>
        <p:txBody>
          <a:bodyPr/>
          <a:lstStyle/>
          <a:p>
            <a:endParaRPr lang="en-US"/>
          </a:p>
        </p:txBody>
      </p:sp>
      <p:sp>
        <p:nvSpPr>
          <p:cNvPr id="22" name="Shape 20"/>
          <p:cNvSpPr/>
          <p:nvPr/>
        </p:nvSpPr>
        <p:spPr>
          <a:xfrm>
            <a:off x="5532120" y="1874520"/>
            <a:ext cx="1691640" cy="402336"/>
          </a:xfrm>
          <a:prstGeom prst="rect">
            <a:avLst/>
          </a:prstGeom>
          <a:solidFill>
            <a:srgbClr val="FFFFFF"/>
          </a:solidFill>
          <a:ln w="12700">
            <a:solidFill>
              <a:srgbClr val="E2E8F0"/>
            </a:solidFill>
            <a:prstDash val="solid"/>
          </a:ln>
        </p:spPr>
        <p:txBody>
          <a:bodyPr/>
          <a:lstStyle/>
          <a:p>
            <a:endParaRPr lang="en-US"/>
          </a:p>
        </p:txBody>
      </p:sp>
      <p:sp>
        <p:nvSpPr>
          <p:cNvPr id="23" name="Shape 21"/>
          <p:cNvSpPr/>
          <p:nvPr/>
        </p:nvSpPr>
        <p:spPr>
          <a:xfrm>
            <a:off x="7223760" y="1874520"/>
            <a:ext cx="1691640" cy="402336"/>
          </a:xfrm>
          <a:prstGeom prst="rect">
            <a:avLst/>
          </a:prstGeom>
          <a:solidFill>
            <a:srgbClr val="FFFFFF"/>
          </a:solidFill>
          <a:ln w="12700">
            <a:solidFill>
              <a:srgbClr val="E2E8F0"/>
            </a:solidFill>
            <a:prstDash val="solid"/>
          </a:ln>
        </p:spPr>
        <p:txBody>
          <a:bodyPr/>
          <a:lstStyle/>
          <a:p>
            <a:endParaRPr lang="en-US"/>
          </a:p>
        </p:txBody>
      </p:sp>
      <p:sp>
        <p:nvSpPr>
          <p:cNvPr id="24" name="Text 22"/>
          <p:cNvSpPr/>
          <p:nvPr/>
        </p:nvSpPr>
        <p:spPr>
          <a:xfrm>
            <a:off x="685800" y="1874520"/>
            <a:ext cx="1371600" cy="402336"/>
          </a:xfrm>
          <a:prstGeom prst="rect">
            <a:avLst/>
          </a:prstGeom>
          <a:noFill/>
          <a:ln/>
        </p:spPr>
        <p:txBody>
          <a:bodyPr wrap="square" lIns="0" tIns="0" rIns="0" bIns="0" rtlCol="0" anchor="ctr"/>
          <a:lstStyle/>
          <a:p>
            <a:pPr marL="0" indent="0">
              <a:buNone/>
            </a:pPr>
            <a:r>
              <a:rPr lang="en-US" sz="1200" b="1" dirty="0">
                <a:solidFill>
                  <a:srgbClr val="0F1729"/>
                </a:solidFill>
                <a:latin typeface="Calibri" pitchFamily="34" charset="0"/>
                <a:ea typeface="Calibri" pitchFamily="34" charset="-122"/>
                <a:cs typeface="Calibri" pitchFamily="34" charset="-120"/>
              </a:rPr>
              <a:t>Scope</a:t>
            </a:r>
            <a:endParaRPr lang="en-US" sz="1200" dirty="0"/>
          </a:p>
        </p:txBody>
      </p:sp>
      <p:sp>
        <p:nvSpPr>
          <p:cNvPr id="25" name="Text 23"/>
          <p:cNvSpPr/>
          <p:nvPr/>
        </p:nvSpPr>
        <p:spPr>
          <a:xfrm>
            <a:off x="2148840" y="1874520"/>
            <a:ext cx="1691640" cy="402336"/>
          </a:xfrm>
          <a:prstGeom prst="rect">
            <a:avLst/>
          </a:prstGeom>
          <a:noFill/>
          <a:ln/>
        </p:spPr>
        <p:txBody>
          <a:bodyPr wrap="square" lIns="0" tIns="0" rIns="0" bIns="0" rtlCol="0" anchor="ctr"/>
          <a:lstStyle/>
          <a:p>
            <a:pPr marL="0" indent="0" algn="ctr">
              <a:buNone/>
            </a:pPr>
            <a:r>
              <a:rPr lang="en-US" sz="1200" dirty="0">
                <a:solidFill>
                  <a:srgbClr val="1E293B"/>
                </a:solidFill>
                <a:latin typeface="Calibri" pitchFamily="34" charset="0"/>
                <a:ea typeface="Calibri" pitchFamily="34" charset="-122"/>
                <a:cs typeface="Calibri" pitchFamily="34" charset="-120"/>
              </a:rPr>
              <a:t>One-off</a:t>
            </a:r>
            <a:endParaRPr lang="en-US" sz="1200" dirty="0"/>
          </a:p>
        </p:txBody>
      </p:sp>
      <p:sp>
        <p:nvSpPr>
          <p:cNvPr id="26" name="Text 24"/>
          <p:cNvSpPr/>
          <p:nvPr/>
        </p:nvSpPr>
        <p:spPr>
          <a:xfrm>
            <a:off x="3840480" y="1874520"/>
            <a:ext cx="1691640" cy="402336"/>
          </a:xfrm>
          <a:prstGeom prst="rect">
            <a:avLst/>
          </a:prstGeom>
          <a:noFill/>
          <a:ln/>
        </p:spPr>
        <p:txBody>
          <a:bodyPr wrap="square" lIns="0" tIns="0" rIns="0" bIns="0" rtlCol="0" anchor="ctr"/>
          <a:lstStyle/>
          <a:p>
            <a:pPr marL="0" indent="0" algn="ctr">
              <a:buNone/>
            </a:pPr>
            <a:r>
              <a:rPr lang="en-US" sz="1200" dirty="0">
                <a:solidFill>
                  <a:srgbClr val="1E293B"/>
                </a:solidFill>
                <a:latin typeface="Calibri" pitchFamily="34" charset="0"/>
                <a:ea typeface="Calibri" pitchFamily="34" charset="-122"/>
                <a:cs typeface="Calibri" pitchFamily="34" charset="-120"/>
              </a:rPr>
              <a:t>Always-on</a:t>
            </a:r>
            <a:endParaRPr lang="en-US" sz="1200" dirty="0"/>
          </a:p>
        </p:txBody>
      </p:sp>
      <p:sp>
        <p:nvSpPr>
          <p:cNvPr id="27" name="Text 25"/>
          <p:cNvSpPr/>
          <p:nvPr/>
        </p:nvSpPr>
        <p:spPr>
          <a:xfrm>
            <a:off x="5532120" y="1874520"/>
            <a:ext cx="1691640" cy="402336"/>
          </a:xfrm>
          <a:prstGeom prst="rect">
            <a:avLst/>
          </a:prstGeom>
          <a:noFill/>
          <a:ln/>
        </p:spPr>
        <p:txBody>
          <a:bodyPr wrap="square" lIns="0" tIns="0" rIns="0" bIns="0" rtlCol="0" anchor="ctr"/>
          <a:lstStyle/>
          <a:p>
            <a:pPr marL="0" indent="0" algn="ctr">
              <a:buNone/>
            </a:pPr>
            <a:r>
              <a:rPr lang="en-US" sz="1200" dirty="0">
                <a:solidFill>
                  <a:srgbClr val="1E293B"/>
                </a:solidFill>
                <a:latin typeface="Calibri" pitchFamily="34" charset="0"/>
                <a:ea typeface="Calibri" pitchFamily="34" charset="-122"/>
                <a:cs typeface="Calibri" pitchFamily="34" charset="-120"/>
              </a:rPr>
              <a:t>On-demand</a:t>
            </a:r>
            <a:endParaRPr lang="en-US" sz="1200" dirty="0"/>
          </a:p>
        </p:txBody>
      </p:sp>
      <p:sp>
        <p:nvSpPr>
          <p:cNvPr id="28" name="Text 26"/>
          <p:cNvSpPr/>
          <p:nvPr/>
        </p:nvSpPr>
        <p:spPr>
          <a:xfrm>
            <a:off x="7223760" y="1874520"/>
            <a:ext cx="1691640" cy="402336"/>
          </a:xfrm>
          <a:prstGeom prst="rect">
            <a:avLst/>
          </a:prstGeom>
          <a:noFill/>
          <a:ln/>
        </p:spPr>
        <p:txBody>
          <a:bodyPr wrap="square" lIns="0" tIns="0" rIns="0" bIns="0" rtlCol="0" anchor="ctr"/>
          <a:lstStyle/>
          <a:p>
            <a:pPr marL="0" indent="0" algn="ctr">
              <a:buNone/>
            </a:pPr>
            <a:r>
              <a:rPr lang="en-US" sz="1200" dirty="0">
                <a:solidFill>
                  <a:srgbClr val="1E293B"/>
                </a:solidFill>
                <a:latin typeface="Calibri" pitchFamily="34" charset="0"/>
                <a:ea typeface="Calibri" pitchFamily="34" charset="-122"/>
                <a:cs typeface="Calibri" pitchFamily="34" charset="-120"/>
              </a:rPr>
              <a:t>On-demand</a:t>
            </a:r>
            <a:endParaRPr lang="en-US" sz="1200" dirty="0"/>
          </a:p>
        </p:txBody>
      </p:sp>
      <p:sp>
        <p:nvSpPr>
          <p:cNvPr id="29" name="Shape 27"/>
          <p:cNvSpPr/>
          <p:nvPr/>
        </p:nvSpPr>
        <p:spPr>
          <a:xfrm>
            <a:off x="502920" y="2276856"/>
            <a:ext cx="1645920" cy="402336"/>
          </a:xfrm>
          <a:prstGeom prst="rect">
            <a:avLst/>
          </a:prstGeom>
          <a:solidFill>
            <a:srgbClr val="F5F7FA"/>
          </a:solidFill>
          <a:ln w="12700">
            <a:solidFill>
              <a:srgbClr val="E2E8F0"/>
            </a:solidFill>
            <a:prstDash val="solid"/>
          </a:ln>
        </p:spPr>
        <p:txBody>
          <a:bodyPr/>
          <a:lstStyle/>
          <a:p>
            <a:endParaRPr lang="en-US"/>
          </a:p>
        </p:txBody>
      </p:sp>
      <p:sp>
        <p:nvSpPr>
          <p:cNvPr id="30" name="Shape 28"/>
          <p:cNvSpPr/>
          <p:nvPr/>
        </p:nvSpPr>
        <p:spPr>
          <a:xfrm>
            <a:off x="2148840" y="2276856"/>
            <a:ext cx="1691640" cy="402336"/>
          </a:xfrm>
          <a:prstGeom prst="rect">
            <a:avLst/>
          </a:prstGeom>
          <a:solidFill>
            <a:srgbClr val="F5F7FA"/>
          </a:solidFill>
          <a:ln w="12700">
            <a:solidFill>
              <a:srgbClr val="E2E8F0"/>
            </a:solidFill>
            <a:prstDash val="solid"/>
          </a:ln>
        </p:spPr>
        <p:txBody>
          <a:bodyPr/>
          <a:lstStyle/>
          <a:p>
            <a:endParaRPr lang="en-US"/>
          </a:p>
        </p:txBody>
      </p:sp>
      <p:sp>
        <p:nvSpPr>
          <p:cNvPr id="31" name="Shape 29"/>
          <p:cNvSpPr/>
          <p:nvPr/>
        </p:nvSpPr>
        <p:spPr>
          <a:xfrm>
            <a:off x="3840480" y="2276856"/>
            <a:ext cx="1691640" cy="402336"/>
          </a:xfrm>
          <a:prstGeom prst="rect">
            <a:avLst/>
          </a:prstGeom>
          <a:solidFill>
            <a:srgbClr val="F5F7FA"/>
          </a:solidFill>
          <a:ln w="12700">
            <a:solidFill>
              <a:srgbClr val="E2E8F0"/>
            </a:solidFill>
            <a:prstDash val="solid"/>
          </a:ln>
        </p:spPr>
        <p:txBody>
          <a:bodyPr/>
          <a:lstStyle/>
          <a:p>
            <a:endParaRPr lang="en-US"/>
          </a:p>
        </p:txBody>
      </p:sp>
      <p:sp>
        <p:nvSpPr>
          <p:cNvPr id="32" name="Shape 30"/>
          <p:cNvSpPr/>
          <p:nvPr/>
        </p:nvSpPr>
        <p:spPr>
          <a:xfrm>
            <a:off x="5532120" y="2276856"/>
            <a:ext cx="1691640" cy="402336"/>
          </a:xfrm>
          <a:prstGeom prst="rect">
            <a:avLst/>
          </a:prstGeom>
          <a:solidFill>
            <a:srgbClr val="F5F7FA"/>
          </a:solidFill>
          <a:ln w="12700">
            <a:solidFill>
              <a:srgbClr val="E2E8F0"/>
            </a:solidFill>
            <a:prstDash val="solid"/>
          </a:ln>
        </p:spPr>
        <p:txBody>
          <a:bodyPr/>
          <a:lstStyle/>
          <a:p>
            <a:endParaRPr lang="en-US"/>
          </a:p>
        </p:txBody>
      </p:sp>
      <p:sp>
        <p:nvSpPr>
          <p:cNvPr id="33" name="Shape 31"/>
          <p:cNvSpPr/>
          <p:nvPr/>
        </p:nvSpPr>
        <p:spPr>
          <a:xfrm>
            <a:off x="7223760" y="2276856"/>
            <a:ext cx="1691640" cy="402336"/>
          </a:xfrm>
          <a:prstGeom prst="rect">
            <a:avLst/>
          </a:prstGeom>
          <a:solidFill>
            <a:srgbClr val="F5F7FA"/>
          </a:solidFill>
          <a:ln w="12700">
            <a:solidFill>
              <a:srgbClr val="E2E8F0"/>
            </a:solidFill>
            <a:prstDash val="solid"/>
          </a:ln>
        </p:spPr>
        <p:txBody>
          <a:bodyPr/>
          <a:lstStyle/>
          <a:p>
            <a:endParaRPr lang="en-US"/>
          </a:p>
        </p:txBody>
      </p:sp>
      <p:sp>
        <p:nvSpPr>
          <p:cNvPr id="34" name="Text 32"/>
          <p:cNvSpPr/>
          <p:nvPr/>
        </p:nvSpPr>
        <p:spPr>
          <a:xfrm>
            <a:off x="685800" y="2276856"/>
            <a:ext cx="1371600" cy="402336"/>
          </a:xfrm>
          <a:prstGeom prst="rect">
            <a:avLst/>
          </a:prstGeom>
          <a:noFill/>
          <a:ln/>
        </p:spPr>
        <p:txBody>
          <a:bodyPr wrap="square" lIns="0" tIns="0" rIns="0" bIns="0" rtlCol="0" anchor="ctr"/>
          <a:lstStyle/>
          <a:p>
            <a:pPr marL="0" indent="0">
              <a:buNone/>
            </a:pPr>
            <a:r>
              <a:rPr lang="en-US" sz="1200" b="1" dirty="0">
                <a:solidFill>
                  <a:srgbClr val="0F1729"/>
                </a:solidFill>
                <a:latin typeface="Calibri" pitchFamily="34" charset="0"/>
                <a:ea typeface="Calibri" pitchFamily="34" charset="-122"/>
                <a:cs typeface="Calibri" pitchFamily="34" charset="-120"/>
              </a:rPr>
              <a:t>Invocation</a:t>
            </a:r>
            <a:endParaRPr lang="en-US" sz="1200" dirty="0"/>
          </a:p>
        </p:txBody>
      </p:sp>
      <p:sp>
        <p:nvSpPr>
          <p:cNvPr id="35" name="Text 33"/>
          <p:cNvSpPr/>
          <p:nvPr/>
        </p:nvSpPr>
        <p:spPr>
          <a:xfrm>
            <a:off x="2148840" y="2276856"/>
            <a:ext cx="1691640" cy="402336"/>
          </a:xfrm>
          <a:prstGeom prst="rect">
            <a:avLst/>
          </a:prstGeom>
          <a:noFill/>
          <a:ln/>
        </p:spPr>
        <p:txBody>
          <a:bodyPr wrap="square" lIns="0" tIns="0" rIns="0" bIns="0" rtlCol="0" anchor="ctr"/>
          <a:lstStyle/>
          <a:p>
            <a:pPr marL="0" indent="0" algn="ctr">
              <a:buNone/>
            </a:pPr>
            <a:r>
              <a:rPr lang="en-US" sz="1200" dirty="0">
                <a:solidFill>
                  <a:srgbClr val="1E293B"/>
                </a:solidFill>
                <a:latin typeface="Calibri" pitchFamily="34" charset="0"/>
                <a:ea typeface="Calibri" pitchFamily="34" charset="-122"/>
                <a:cs typeface="Calibri" pitchFamily="34" charset="-120"/>
              </a:rPr>
              <a:t>Chat</a:t>
            </a:r>
            <a:endParaRPr lang="en-US" sz="1200" dirty="0"/>
          </a:p>
        </p:txBody>
      </p:sp>
      <p:sp>
        <p:nvSpPr>
          <p:cNvPr id="36" name="Text 34"/>
          <p:cNvSpPr/>
          <p:nvPr/>
        </p:nvSpPr>
        <p:spPr>
          <a:xfrm>
            <a:off x="3840480" y="2276856"/>
            <a:ext cx="1691640" cy="402336"/>
          </a:xfrm>
          <a:prstGeom prst="rect">
            <a:avLst/>
          </a:prstGeom>
          <a:noFill/>
          <a:ln/>
        </p:spPr>
        <p:txBody>
          <a:bodyPr wrap="square" lIns="0" tIns="0" rIns="0" bIns="0" rtlCol="0" anchor="ctr"/>
          <a:lstStyle/>
          <a:p>
            <a:pPr marL="0" indent="0" algn="ctr">
              <a:buNone/>
            </a:pPr>
            <a:r>
              <a:rPr lang="en-US" sz="1200" dirty="0">
                <a:solidFill>
                  <a:srgbClr val="1E293B"/>
                </a:solidFill>
                <a:latin typeface="Calibri" pitchFamily="34" charset="0"/>
                <a:ea typeface="Calibri" pitchFamily="34" charset="-122"/>
                <a:cs typeface="Calibri" pitchFamily="34" charset="-120"/>
              </a:rPr>
              <a:t>Automatic</a:t>
            </a:r>
            <a:endParaRPr lang="en-US" sz="1200" dirty="0"/>
          </a:p>
        </p:txBody>
      </p:sp>
      <p:sp>
        <p:nvSpPr>
          <p:cNvPr id="37" name="Text 35"/>
          <p:cNvSpPr/>
          <p:nvPr/>
        </p:nvSpPr>
        <p:spPr>
          <a:xfrm>
            <a:off x="5532120" y="2276856"/>
            <a:ext cx="1691640" cy="402336"/>
          </a:xfrm>
          <a:prstGeom prst="rect">
            <a:avLst/>
          </a:prstGeom>
          <a:noFill/>
          <a:ln/>
        </p:spPr>
        <p:txBody>
          <a:bodyPr wrap="square" lIns="0" tIns="0" rIns="0" bIns="0" rtlCol="0" anchor="ctr"/>
          <a:lstStyle/>
          <a:p>
            <a:pPr marL="0" indent="0" algn="ctr">
              <a:buNone/>
            </a:pPr>
            <a:r>
              <a:rPr lang="en-US" sz="1300" b="1" dirty="0">
                <a:solidFill>
                  <a:srgbClr val="0B1F3A"/>
                </a:solidFill>
                <a:latin typeface="Consolas" pitchFamily="34" charset="0"/>
                <a:ea typeface="Consolas" pitchFamily="34" charset="-122"/>
                <a:cs typeface="Consolas" pitchFamily="34" charset="-120"/>
              </a:rPr>
              <a:t>#name</a:t>
            </a:r>
            <a:endParaRPr lang="en-US" sz="1300" dirty="0"/>
          </a:p>
        </p:txBody>
      </p:sp>
      <p:sp>
        <p:nvSpPr>
          <p:cNvPr id="38" name="Text 36"/>
          <p:cNvSpPr/>
          <p:nvPr/>
        </p:nvSpPr>
        <p:spPr>
          <a:xfrm>
            <a:off x="7223760" y="2276856"/>
            <a:ext cx="1691640" cy="402336"/>
          </a:xfrm>
          <a:prstGeom prst="rect">
            <a:avLst/>
          </a:prstGeom>
          <a:noFill/>
          <a:ln/>
        </p:spPr>
        <p:txBody>
          <a:bodyPr wrap="square" lIns="0" tIns="0" rIns="0" bIns="0" rtlCol="0" anchor="ctr"/>
          <a:lstStyle/>
          <a:p>
            <a:pPr marL="0" indent="0" algn="ctr">
              <a:buNone/>
            </a:pPr>
            <a:r>
              <a:rPr lang="en-US" sz="1300" b="1" dirty="0">
                <a:solidFill>
                  <a:srgbClr val="F78166"/>
                </a:solidFill>
                <a:latin typeface="Consolas" pitchFamily="34" charset="0"/>
                <a:ea typeface="Consolas" pitchFamily="34" charset="-122"/>
                <a:cs typeface="Consolas" pitchFamily="34" charset="-120"/>
              </a:rPr>
              <a:t>@name</a:t>
            </a:r>
            <a:endParaRPr lang="en-US" sz="1300" dirty="0"/>
          </a:p>
        </p:txBody>
      </p:sp>
      <p:sp>
        <p:nvSpPr>
          <p:cNvPr id="39" name="Shape 37"/>
          <p:cNvSpPr/>
          <p:nvPr/>
        </p:nvSpPr>
        <p:spPr>
          <a:xfrm>
            <a:off x="502920" y="2679192"/>
            <a:ext cx="1645920" cy="402336"/>
          </a:xfrm>
          <a:prstGeom prst="rect">
            <a:avLst/>
          </a:prstGeom>
          <a:solidFill>
            <a:srgbClr val="FFFFFF"/>
          </a:solidFill>
          <a:ln w="12700">
            <a:solidFill>
              <a:srgbClr val="E2E8F0"/>
            </a:solidFill>
            <a:prstDash val="solid"/>
          </a:ln>
        </p:spPr>
        <p:txBody>
          <a:bodyPr/>
          <a:lstStyle/>
          <a:p>
            <a:endParaRPr lang="en-US"/>
          </a:p>
        </p:txBody>
      </p:sp>
      <p:sp>
        <p:nvSpPr>
          <p:cNvPr id="40" name="Shape 38"/>
          <p:cNvSpPr/>
          <p:nvPr/>
        </p:nvSpPr>
        <p:spPr>
          <a:xfrm>
            <a:off x="2148840" y="2679192"/>
            <a:ext cx="1691640" cy="402336"/>
          </a:xfrm>
          <a:prstGeom prst="rect">
            <a:avLst/>
          </a:prstGeom>
          <a:solidFill>
            <a:srgbClr val="FFFFFF"/>
          </a:solidFill>
          <a:ln w="12700">
            <a:solidFill>
              <a:srgbClr val="E2E8F0"/>
            </a:solidFill>
            <a:prstDash val="solid"/>
          </a:ln>
        </p:spPr>
        <p:txBody>
          <a:bodyPr/>
          <a:lstStyle/>
          <a:p>
            <a:endParaRPr lang="en-US"/>
          </a:p>
        </p:txBody>
      </p:sp>
      <p:sp>
        <p:nvSpPr>
          <p:cNvPr id="41" name="Shape 39"/>
          <p:cNvSpPr/>
          <p:nvPr/>
        </p:nvSpPr>
        <p:spPr>
          <a:xfrm>
            <a:off x="3840480" y="2679192"/>
            <a:ext cx="1691640" cy="402336"/>
          </a:xfrm>
          <a:prstGeom prst="rect">
            <a:avLst/>
          </a:prstGeom>
          <a:solidFill>
            <a:srgbClr val="FFFFFF"/>
          </a:solidFill>
          <a:ln w="12700">
            <a:solidFill>
              <a:srgbClr val="E2E8F0"/>
            </a:solidFill>
            <a:prstDash val="solid"/>
          </a:ln>
        </p:spPr>
        <p:txBody>
          <a:bodyPr/>
          <a:lstStyle/>
          <a:p>
            <a:endParaRPr lang="en-US"/>
          </a:p>
        </p:txBody>
      </p:sp>
      <p:sp>
        <p:nvSpPr>
          <p:cNvPr id="42" name="Shape 40"/>
          <p:cNvSpPr/>
          <p:nvPr/>
        </p:nvSpPr>
        <p:spPr>
          <a:xfrm>
            <a:off x="5532120" y="2679192"/>
            <a:ext cx="1691640" cy="402336"/>
          </a:xfrm>
          <a:prstGeom prst="rect">
            <a:avLst/>
          </a:prstGeom>
          <a:solidFill>
            <a:srgbClr val="FFFFFF"/>
          </a:solidFill>
          <a:ln w="12700">
            <a:solidFill>
              <a:srgbClr val="E2E8F0"/>
            </a:solidFill>
            <a:prstDash val="solid"/>
          </a:ln>
        </p:spPr>
        <p:txBody>
          <a:bodyPr/>
          <a:lstStyle/>
          <a:p>
            <a:endParaRPr lang="en-US"/>
          </a:p>
        </p:txBody>
      </p:sp>
      <p:sp>
        <p:nvSpPr>
          <p:cNvPr id="43" name="Shape 41"/>
          <p:cNvSpPr/>
          <p:nvPr/>
        </p:nvSpPr>
        <p:spPr>
          <a:xfrm>
            <a:off x="7223760" y="2679192"/>
            <a:ext cx="1691640" cy="402336"/>
          </a:xfrm>
          <a:prstGeom prst="rect">
            <a:avLst/>
          </a:prstGeom>
          <a:solidFill>
            <a:srgbClr val="FFFFFF"/>
          </a:solidFill>
          <a:ln w="12700">
            <a:solidFill>
              <a:srgbClr val="E2E8F0"/>
            </a:solidFill>
            <a:prstDash val="solid"/>
          </a:ln>
        </p:spPr>
        <p:txBody>
          <a:bodyPr/>
          <a:lstStyle/>
          <a:p>
            <a:endParaRPr lang="en-US"/>
          </a:p>
        </p:txBody>
      </p:sp>
      <p:sp>
        <p:nvSpPr>
          <p:cNvPr id="44" name="Text 42"/>
          <p:cNvSpPr/>
          <p:nvPr/>
        </p:nvSpPr>
        <p:spPr>
          <a:xfrm>
            <a:off x="685800" y="2679192"/>
            <a:ext cx="1371600" cy="402336"/>
          </a:xfrm>
          <a:prstGeom prst="rect">
            <a:avLst/>
          </a:prstGeom>
          <a:noFill/>
          <a:ln/>
        </p:spPr>
        <p:txBody>
          <a:bodyPr wrap="square" lIns="0" tIns="0" rIns="0" bIns="0" rtlCol="0" anchor="ctr"/>
          <a:lstStyle/>
          <a:p>
            <a:pPr marL="0" indent="0">
              <a:buNone/>
            </a:pPr>
            <a:r>
              <a:rPr lang="en-US" sz="1200" b="1" dirty="0">
                <a:solidFill>
                  <a:srgbClr val="0F1729"/>
                </a:solidFill>
                <a:latin typeface="Calibri" pitchFamily="34" charset="0"/>
                <a:ea typeface="Calibri" pitchFamily="34" charset="-122"/>
                <a:cs typeface="Calibri" pitchFamily="34" charset="-120"/>
              </a:rPr>
              <a:t>Tool Access</a:t>
            </a:r>
            <a:endParaRPr lang="en-US" sz="1200" dirty="0"/>
          </a:p>
        </p:txBody>
      </p:sp>
      <p:sp>
        <p:nvSpPr>
          <p:cNvPr id="45" name="Shape 43"/>
          <p:cNvSpPr/>
          <p:nvPr/>
        </p:nvSpPr>
        <p:spPr>
          <a:xfrm>
            <a:off x="2606040" y="2720340"/>
            <a:ext cx="777240" cy="320040"/>
          </a:xfrm>
          <a:prstGeom prst="rect">
            <a:avLst/>
          </a:prstGeom>
          <a:solidFill>
            <a:srgbClr val="E2E8F0"/>
          </a:solidFill>
          <a:ln w="12700">
            <a:solidFill>
              <a:srgbClr val="E2E8F0"/>
            </a:solidFill>
            <a:prstDash val="solid"/>
          </a:ln>
        </p:spPr>
        <p:txBody>
          <a:bodyPr/>
          <a:lstStyle/>
          <a:p>
            <a:endParaRPr lang="en-US"/>
          </a:p>
        </p:txBody>
      </p:sp>
      <p:sp>
        <p:nvSpPr>
          <p:cNvPr id="46" name="Text 44"/>
          <p:cNvSpPr/>
          <p:nvPr/>
        </p:nvSpPr>
        <p:spPr>
          <a:xfrm>
            <a:off x="2606040" y="2720340"/>
            <a:ext cx="777240" cy="320040"/>
          </a:xfrm>
          <a:prstGeom prst="rect">
            <a:avLst/>
          </a:prstGeom>
          <a:noFill/>
          <a:ln/>
        </p:spPr>
        <p:txBody>
          <a:bodyPr wrap="square" lIns="0" tIns="0" rIns="0" bIns="0" rtlCol="0" anchor="ctr"/>
          <a:lstStyle/>
          <a:p>
            <a:pPr marL="0" indent="0" algn="ctr">
              <a:buNone/>
            </a:pPr>
            <a:r>
              <a:rPr lang="en-US" sz="1100" b="1" kern="0" spc="200" dirty="0">
                <a:solidFill>
                  <a:srgbClr val="64748B"/>
                </a:solidFill>
                <a:latin typeface="Calibri" pitchFamily="34" charset="0"/>
                <a:ea typeface="Calibri" pitchFamily="34" charset="-122"/>
                <a:cs typeface="Calibri" pitchFamily="34" charset="-120"/>
              </a:rPr>
              <a:t>No</a:t>
            </a:r>
            <a:endParaRPr lang="en-US" sz="1100" dirty="0"/>
          </a:p>
        </p:txBody>
      </p:sp>
      <p:sp>
        <p:nvSpPr>
          <p:cNvPr id="47" name="Shape 45"/>
          <p:cNvSpPr/>
          <p:nvPr/>
        </p:nvSpPr>
        <p:spPr>
          <a:xfrm>
            <a:off x="4297680" y="2720340"/>
            <a:ext cx="777240" cy="320040"/>
          </a:xfrm>
          <a:prstGeom prst="rect">
            <a:avLst/>
          </a:prstGeom>
          <a:solidFill>
            <a:srgbClr val="E2E8F0"/>
          </a:solidFill>
          <a:ln w="12700">
            <a:solidFill>
              <a:srgbClr val="E2E8F0"/>
            </a:solidFill>
            <a:prstDash val="solid"/>
          </a:ln>
        </p:spPr>
        <p:txBody>
          <a:bodyPr/>
          <a:lstStyle/>
          <a:p>
            <a:endParaRPr lang="en-US"/>
          </a:p>
        </p:txBody>
      </p:sp>
      <p:sp>
        <p:nvSpPr>
          <p:cNvPr id="48" name="Text 46"/>
          <p:cNvSpPr/>
          <p:nvPr/>
        </p:nvSpPr>
        <p:spPr>
          <a:xfrm>
            <a:off x="4297680" y="2720340"/>
            <a:ext cx="777240" cy="320040"/>
          </a:xfrm>
          <a:prstGeom prst="rect">
            <a:avLst/>
          </a:prstGeom>
          <a:noFill/>
          <a:ln/>
        </p:spPr>
        <p:txBody>
          <a:bodyPr wrap="square" lIns="0" tIns="0" rIns="0" bIns="0" rtlCol="0" anchor="ctr"/>
          <a:lstStyle/>
          <a:p>
            <a:pPr marL="0" indent="0" algn="ctr">
              <a:buNone/>
            </a:pPr>
            <a:r>
              <a:rPr lang="en-US" sz="1100" b="1" kern="0" spc="200" dirty="0">
                <a:solidFill>
                  <a:srgbClr val="64748B"/>
                </a:solidFill>
                <a:latin typeface="Calibri" pitchFamily="34" charset="0"/>
                <a:ea typeface="Calibri" pitchFamily="34" charset="-122"/>
                <a:cs typeface="Calibri" pitchFamily="34" charset="-120"/>
              </a:rPr>
              <a:t>No</a:t>
            </a:r>
            <a:endParaRPr lang="en-US" sz="1100" dirty="0"/>
          </a:p>
        </p:txBody>
      </p:sp>
      <p:sp>
        <p:nvSpPr>
          <p:cNvPr id="49" name="Shape 47"/>
          <p:cNvSpPr/>
          <p:nvPr/>
        </p:nvSpPr>
        <p:spPr>
          <a:xfrm>
            <a:off x="5989320" y="2720340"/>
            <a:ext cx="777240" cy="320040"/>
          </a:xfrm>
          <a:prstGeom prst="rect">
            <a:avLst/>
          </a:prstGeom>
          <a:solidFill>
            <a:srgbClr val="E2E8F0"/>
          </a:solidFill>
          <a:ln w="12700">
            <a:solidFill>
              <a:srgbClr val="E2E8F0"/>
            </a:solidFill>
            <a:prstDash val="solid"/>
          </a:ln>
        </p:spPr>
        <p:txBody>
          <a:bodyPr/>
          <a:lstStyle/>
          <a:p>
            <a:endParaRPr lang="en-US"/>
          </a:p>
        </p:txBody>
      </p:sp>
      <p:sp>
        <p:nvSpPr>
          <p:cNvPr id="50" name="Text 48"/>
          <p:cNvSpPr/>
          <p:nvPr/>
        </p:nvSpPr>
        <p:spPr>
          <a:xfrm>
            <a:off x="5989320" y="2720340"/>
            <a:ext cx="777240" cy="320040"/>
          </a:xfrm>
          <a:prstGeom prst="rect">
            <a:avLst/>
          </a:prstGeom>
          <a:noFill/>
          <a:ln/>
        </p:spPr>
        <p:txBody>
          <a:bodyPr wrap="square" lIns="0" tIns="0" rIns="0" bIns="0" rtlCol="0" anchor="ctr"/>
          <a:lstStyle/>
          <a:p>
            <a:pPr marL="0" indent="0" algn="ctr">
              <a:buNone/>
            </a:pPr>
            <a:r>
              <a:rPr lang="en-US" sz="1100" b="1" kern="0" spc="200" dirty="0">
                <a:solidFill>
                  <a:srgbClr val="64748B"/>
                </a:solidFill>
                <a:latin typeface="Calibri" pitchFamily="34" charset="0"/>
                <a:ea typeface="Calibri" pitchFamily="34" charset="-122"/>
                <a:cs typeface="Calibri" pitchFamily="34" charset="-120"/>
              </a:rPr>
              <a:t>No</a:t>
            </a:r>
            <a:endParaRPr lang="en-US" sz="1100" dirty="0"/>
          </a:p>
        </p:txBody>
      </p:sp>
      <p:sp>
        <p:nvSpPr>
          <p:cNvPr id="51" name="Shape 49"/>
          <p:cNvSpPr/>
          <p:nvPr/>
        </p:nvSpPr>
        <p:spPr>
          <a:xfrm>
            <a:off x="7680960" y="2720340"/>
            <a:ext cx="777240" cy="320040"/>
          </a:xfrm>
          <a:prstGeom prst="rect">
            <a:avLst/>
          </a:prstGeom>
          <a:solidFill>
            <a:srgbClr val="22C55E"/>
          </a:solidFill>
          <a:ln w="12700">
            <a:solidFill>
              <a:srgbClr val="22C55E"/>
            </a:solidFill>
            <a:prstDash val="solid"/>
          </a:ln>
        </p:spPr>
        <p:txBody>
          <a:bodyPr/>
          <a:lstStyle/>
          <a:p>
            <a:endParaRPr lang="en-US"/>
          </a:p>
        </p:txBody>
      </p:sp>
      <p:sp>
        <p:nvSpPr>
          <p:cNvPr id="52" name="Text 50"/>
          <p:cNvSpPr/>
          <p:nvPr/>
        </p:nvSpPr>
        <p:spPr>
          <a:xfrm>
            <a:off x="7680960" y="2720340"/>
            <a:ext cx="777240" cy="320040"/>
          </a:xfrm>
          <a:prstGeom prst="rect">
            <a:avLst/>
          </a:prstGeom>
          <a:noFill/>
          <a:ln/>
        </p:spPr>
        <p:txBody>
          <a:bodyPr wrap="square" lIns="0" tIns="0" rIns="0" bIns="0" rtlCol="0" anchor="ctr"/>
          <a:lstStyle/>
          <a:p>
            <a:pPr marL="0" indent="0" algn="ctr">
              <a:buNone/>
            </a:pPr>
            <a:r>
              <a:rPr lang="en-US" sz="1100" b="1" kern="0" spc="200" dirty="0">
                <a:solidFill>
                  <a:srgbClr val="FFFFFF"/>
                </a:solidFill>
                <a:latin typeface="Calibri" pitchFamily="34" charset="0"/>
                <a:ea typeface="Calibri" pitchFamily="34" charset="-122"/>
                <a:cs typeface="Calibri" pitchFamily="34" charset="-120"/>
              </a:rPr>
              <a:t>Yes</a:t>
            </a:r>
            <a:endParaRPr lang="en-US" sz="1100" dirty="0"/>
          </a:p>
        </p:txBody>
      </p:sp>
      <p:sp>
        <p:nvSpPr>
          <p:cNvPr id="53" name="Shape 51"/>
          <p:cNvSpPr/>
          <p:nvPr/>
        </p:nvSpPr>
        <p:spPr>
          <a:xfrm>
            <a:off x="502920" y="3081528"/>
            <a:ext cx="1645920" cy="402336"/>
          </a:xfrm>
          <a:prstGeom prst="rect">
            <a:avLst/>
          </a:prstGeom>
          <a:solidFill>
            <a:srgbClr val="F5F7FA"/>
          </a:solidFill>
          <a:ln w="12700">
            <a:solidFill>
              <a:srgbClr val="E2E8F0"/>
            </a:solidFill>
            <a:prstDash val="solid"/>
          </a:ln>
        </p:spPr>
        <p:txBody>
          <a:bodyPr/>
          <a:lstStyle/>
          <a:p>
            <a:endParaRPr lang="en-US"/>
          </a:p>
        </p:txBody>
      </p:sp>
      <p:sp>
        <p:nvSpPr>
          <p:cNvPr id="54" name="Shape 52"/>
          <p:cNvSpPr/>
          <p:nvPr/>
        </p:nvSpPr>
        <p:spPr>
          <a:xfrm>
            <a:off x="2148840" y="3081528"/>
            <a:ext cx="1691640" cy="402336"/>
          </a:xfrm>
          <a:prstGeom prst="rect">
            <a:avLst/>
          </a:prstGeom>
          <a:solidFill>
            <a:srgbClr val="F5F7FA"/>
          </a:solidFill>
          <a:ln w="12700">
            <a:solidFill>
              <a:srgbClr val="E2E8F0"/>
            </a:solidFill>
            <a:prstDash val="solid"/>
          </a:ln>
        </p:spPr>
        <p:txBody>
          <a:bodyPr/>
          <a:lstStyle/>
          <a:p>
            <a:endParaRPr lang="en-US"/>
          </a:p>
        </p:txBody>
      </p:sp>
      <p:sp>
        <p:nvSpPr>
          <p:cNvPr id="55" name="Shape 53"/>
          <p:cNvSpPr/>
          <p:nvPr/>
        </p:nvSpPr>
        <p:spPr>
          <a:xfrm>
            <a:off x="3840480" y="3081528"/>
            <a:ext cx="1691640" cy="402336"/>
          </a:xfrm>
          <a:prstGeom prst="rect">
            <a:avLst/>
          </a:prstGeom>
          <a:solidFill>
            <a:srgbClr val="F5F7FA"/>
          </a:solidFill>
          <a:ln w="12700">
            <a:solidFill>
              <a:srgbClr val="E2E8F0"/>
            </a:solidFill>
            <a:prstDash val="solid"/>
          </a:ln>
        </p:spPr>
        <p:txBody>
          <a:bodyPr/>
          <a:lstStyle/>
          <a:p>
            <a:endParaRPr lang="en-US"/>
          </a:p>
        </p:txBody>
      </p:sp>
      <p:sp>
        <p:nvSpPr>
          <p:cNvPr id="56" name="Shape 54"/>
          <p:cNvSpPr/>
          <p:nvPr/>
        </p:nvSpPr>
        <p:spPr>
          <a:xfrm>
            <a:off x="5532120" y="3081528"/>
            <a:ext cx="1691640" cy="402336"/>
          </a:xfrm>
          <a:prstGeom prst="rect">
            <a:avLst/>
          </a:prstGeom>
          <a:solidFill>
            <a:srgbClr val="F5F7FA"/>
          </a:solidFill>
          <a:ln w="12700">
            <a:solidFill>
              <a:srgbClr val="E2E8F0"/>
            </a:solidFill>
            <a:prstDash val="solid"/>
          </a:ln>
        </p:spPr>
        <p:txBody>
          <a:bodyPr/>
          <a:lstStyle/>
          <a:p>
            <a:endParaRPr lang="en-US"/>
          </a:p>
        </p:txBody>
      </p:sp>
      <p:sp>
        <p:nvSpPr>
          <p:cNvPr id="57" name="Shape 55"/>
          <p:cNvSpPr/>
          <p:nvPr/>
        </p:nvSpPr>
        <p:spPr>
          <a:xfrm>
            <a:off x="7223760" y="3081528"/>
            <a:ext cx="1691640" cy="402336"/>
          </a:xfrm>
          <a:prstGeom prst="rect">
            <a:avLst/>
          </a:prstGeom>
          <a:solidFill>
            <a:srgbClr val="F5F7FA"/>
          </a:solidFill>
          <a:ln w="12700">
            <a:solidFill>
              <a:srgbClr val="E2E8F0"/>
            </a:solidFill>
            <a:prstDash val="solid"/>
          </a:ln>
        </p:spPr>
        <p:txBody>
          <a:bodyPr/>
          <a:lstStyle/>
          <a:p>
            <a:endParaRPr lang="en-US"/>
          </a:p>
        </p:txBody>
      </p:sp>
      <p:sp>
        <p:nvSpPr>
          <p:cNvPr id="58" name="Text 56"/>
          <p:cNvSpPr/>
          <p:nvPr/>
        </p:nvSpPr>
        <p:spPr>
          <a:xfrm>
            <a:off x="685800" y="3081528"/>
            <a:ext cx="1371600" cy="402336"/>
          </a:xfrm>
          <a:prstGeom prst="rect">
            <a:avLst/>
          </a:prstGeom>
          <a:noFill/>
          <a:ln/>
        </p:spPr>
        <p:txBody>
          <a:bodyPr wrap="square" lIns="0" tIns="0" rIns="0" bIns="0" rtlCol="0" anchor="ctr"/>
          <a:lstStyle/>
          <a:p>
            <a:pPr marL="0" indent="0">
              <a:buNone/>
            </a:pPr>
            <a:r>
              <a:rPr lang="en-US" sz="1200" b="1" dirty="0">
                <a:solidFill>
                  <a:srgbClr val="0F1729"/>
                </a:solidFill>
                <a:latin typeface="Calibri" pitchFamily="34" charset="0"/>
                <a:ea typeface="Calibri" pitchFamily="34" charset="-122"/>
                <a:cs typeface="Calibri" pitchFamily="34" charset="-120"/>
              </a:rPr>
              <a:t>Purpose</a:t>
            </a:r>
            <a:endParaRPr lang="en-US" sz="1200" dirty="0"/>
          </a:p>
        </p:txBody>
      </p:sp>
      <p:sp>
        <p:nvSpPr>
          <p:cNvPr id="59" name="Text 57"/>
          <p:cNvSpPr/>
          <p:nvPr/>
        </p:nvSpPr>
        <p:spPr>
          <a:xfrm>
            <a:off x="2148840" y="3081528"/>
            <a:ext cx="1691640" cy="402336"/>
          </a:xfrm>
          <a:prstGeom prst="rect">
            <a:avLst/>
          </a:prstGeom>
          <a:noFill/>
          <a:ln/>
        </p:spPr>
        <p:txBody>
          <a:bodyPr wrap="square" lIns="0" tIns="0" rIns="0" bIns="0" rtlCol="0" anchor="ctr"/>
          <a:lstStyle/>
          <a:p>
            <a:pPr marL="0" indent="0" algn="ctr">
              <a:buNone/>
            </a:pPr>
            <a:r>
              <a:rPr lang="en-US" sz="1200" dirty="0">
                <a:solidFill>
                  <a:srgbClr val="1E293B"/>
                </a:solidFill>
                <a:latin typeface="Calibri" pitchFamily="34" charset="0"/>
                <a:ea typeface="Calibri" pitchFamily="34" charset="-122"/>
                <a:cs typeface="Calibri" pitchFamily="34" charset="-120"/>
              </a:rPr>
              <a:t>Question</a:t>
            </a:r>
            <a:endParaRPr lang="en-US" sz="1200" dirty="0"/>
          </a:p>
        </p:txBody>
      </p:sp>
      <p:sp>
        <p:nvSpPr>
          <p:cNvPr id="60" name="Text 58"/>
          <p:cNvSpPr/>
          <p:nvPr/>
        </p:nvSpPr>
        <p:spPr>
          <a:xfrm>
            <a:off x="3840480" y="3081528"/>
            <a:ext cx="1691640" cy="402336"/>
          </a:xfrm>
          <a:prstGeom prst="rect">
            <a:avLst/>
          </a:prstGeom>
          <a:noFill/>
          <a:ln/>
        </p:spPr>
        <p:txBody>
          <a:bodyPr wrap="square" lIns="0" tIns="0" rIns="0" bIns="0" rtlCol="0" anchor="ctr"/>
          <a:lstStyle/>
          <a:p>
            <a:pPr marL="0" indent="0" algn="ctr">
              <a:buNone/>
            </a:pPr>
            <a:r>
              <a:rPr lang="en-US" sz="1200" dirty="0">
                <a:solidFill>
                  <a:srgbClr val="1E293B"/>
                </a:solidFill>
                <a:latin typeface="Calibri" pitchFamily="34" charset="0"/>
                <a:ea typeface="Calibri" pitchFamily="34" charset="-122"/>
                <a:cs typeface="Calibri" pitchFamily="34" charset="-120"/>
              </a:rPr>
              <a:t>Guardrails</a:t>
            </a:r>
            <a:endParaRPr lang="en-US" sz="1200" dirty="0"/>
          </a:p>
        </p:txBody>
      </p:sp>
      <p:sp>
        <p:nvSpPr>
          <p:cNvPr id="61" name="Text 59"/>
          <p:cNvSpPr/>
          <p:nvPr/>
        </p:nvSpPr>
        <p:spPr>
          <a:xfrm>
            <a:off x="5532120" y="3081528"/>
            <a:ext cx="1691640" cy="402336"/>
          </a:xfrm>
          <a:prstGeom prst="rect">
            <a:avLst/>
          </a:prstGeom>
          <a:noFill/>
          <a:ln/>
        </p:spPr>
        <p:txBody>
          <a:bodyPr wrap="square" lIns="0" tIns="0" rIns="0" bIns="0" rtlCol="0" anchor="ctr"/>
          <a:lstStyle/>
          <a:p>
            <a:pPr marL="0" indent="0" algn="ctr">
              <a:buNone/>
            </a:pPr>
            <a:r>
              <a:rPr lang="en-US" sz="1200" dirty="0">
                <a:solidFill>
                  <a:srgbClr val="1E293B"/>
                </a:solidFill>
                <a:latin typeface="Calibri" pitchFamily="34" charset="0"/>
                <a:ea typeface="Calibri" pitchFamily="34" charset="-122"/>
                <a:cs typeface="Calibri" pitchFamily="34" charset="-120"/>
              </a:rPr>
              <a:t>Knowledge</a:t>
            </a:r>
            <a:endParaRPr lang="en-US" sz="1200" dirty="0"/>
          </a:p>
        </p:txBody>
      </p:sp>
      <p:sp>
        <p:nvSpPr>
          <p:cNvPr id="62" name="Text 60"/>
          <p:cNvSpPr/>
          <p:nvPr/>
        </p:nvSpPr>
        <p:spPr>
          <a:xfrm>
            <a:off x="7223760" y="3081528"/>
            <a:ext cx="1691640" cy="402336"/>
          </a:xfrm>
          <a:prstGeom prst="rect">
            <a:avLst/>
          </a:prstGeom>
          <a:noFill/>
          <a:ln/>
        </p:spPr>
        <p:txBody>
          <a:bodyPr wrap="square" lIns="0" tIns="0" rIns="0" bIns="0" rtlCol="0" anchor="ctr"/>
          <a:lstStyle/>
          <a:p>
            <a:pPr marL="0" indent="0" algn="ctr">
              <a:buNone/>
            </a:pPr>
            <a:r>
              <a:rPr lang="en-US" sz="1200" dirty="0">
                <a:solidFill>
                  <a:srgbClr val="1E293B"/>
                </a:solidFill>
                <a:latin typeface="Calibri" pitchFamily="34" charset="0"/>
                <a:ea typeface="Calibri" pitchFamily="34" charset="-122"/>
                <a:cs typeface="Calibri" pitchFamily="34" charset="-120"/>
              </a:rPr>
              <a:t>Workflow</a:t>
            </a:r>
            <a:endParaRPr lang="en-US" sz="1200" dirty="0"/>
          </a:p>
        </p:txBody>
      </p:sp>
      <p:sp>
        <p:nvSpPr>
          <p:cNvPr id="63" name="Shape 61"/>
          <p:cNvSpPr/>
          <p:nvPr/>
        </p:nvSpPr>
        <p:spPr>
          <a:xfrm>
            <a:off x="502920" y="3483864"/>
            <a:ext cx="1645920" cy="402336"/>
          </a:xfrm>
          <a:prstGeom prst="rect">
            <a:avLst/>
          </a:prstGeom>
          <a:solidFill>
            <a:srgbClr val="FFFFFF"/>
          </a:solidFill>
          <a:ln w="12700">
            <a:solidFill>
              <a:srgbClr val="E2E8F0"/>
            </a:solidFill>
            <a:prstDash val="solid"/>
          </a:ln>
        </p:spPr>
        <p:txBody>
          <a:bodyPr/>
          <a:lstStyle/>
          <a:p>
            <a:endParaRPr lang="en-US"/>
          </a:p>
        </p:txBody>
      </p:sp>
      <p:sp>
        <p:nvSpPr>
          <p:cNvPr id="64" name="Shape 62"/>
          <p:cNvSpPr/>
          <p:nvPr/>
        </p:nvSpPr>
        <p:spPr>
          <a:xfrm>
            <a:off x="2148840" y="3483864"/>
            <a:ext cx="1691640" cy="402336"/>
          </a:xfrm>
          <a:prstGeom prst="rect">
            <a:avLst/>
          </a:prstGeom>
          <a:solidFill>
            <a:srgbClr val="FFFFFF"/>
          </a:solidFill>
          <a:ln w="12700">
            <a:solidFill>
              <a:srgbClr val="E2E8F0"/>
            </a:solidFill>
            <a:prstDash val="solid"/>
          </a:ln>
        </p:spPr>
        <p:txBody>
          <a:bodyPr/>
          <a:lstStyle/>
          <a:p>
            <a:endParaRPr lang="en-US"/>
          </a:p>
        </p:txBody>
      </p:sp>
      <p:sp>
        <p:nvSpPr>
          <p:cNvPr id="65" name="Shape 63"/>
          <p:cNvSpPr/>
          <p:nvPr/>
        </p:nvSpPr>
        <p:spPr>
          <a:xfrm>
            <a:off x="3840480" y="3483864"/>
            <a:ext cx="1691640" cy="402336"/>
          </a:xfrm>
          <a:prstGeom prst="rect">
            <a:avLst/>
          </a:prstGeom>
          <a:solidFill>
            <a:srgbClr val="FFFFFF"/>
          </a:solidFill>
          <a:ln w="12700">
            <a:solidFill>
              <a:srgbClr val="E2E8F0"/>
            </a:solidFill>
            <a:prstDash val="solid"/>
          </a:ln>
        </p:spPr>
        <p:txBody>
          <a:bodyPr/>
          <a:lstStyle/>
          <a:p>
            <a:endParaRPr lang="en-US"/>
          </a:p>
        </p:txBody>
      </p:sp>
      <p:sp>
        <p:nvSpPr>
          <p:cNvPr id="66" name="Shape 64"/>
          <p:cNvSpPr/>
          <p:nvPr/>
        </p:nvSpPr>
        <p:spPr>
          <a:xfrm>
            <a:off x="5532120" y="3483864"/>
            <a:ext cx="1691640" cy="402336"/>
          </a:xfrm>
          <a:prstGeom prst="rect">
            <a:avLst/>
          </a:prstGeom>
          <a:solidFill>
            <a:srgbClr val="FFFFFF"/>
          </a:solidFill>
          <a:ln w="12700">
            <a:solidFill>
              <a:srgbClr val="E2E8F0"/>
            </a:solidFill>
            <a:prstDash val="solid"/>
          </a:ln>
        </p:spPr>
        <p:txBody>
          <a:bodyPr/>
          <a:lstStyle/>
          <a:p>
            <a:endParaRPr lang="en-US"/>
          </a:p>
        </p:txBody>
      </p:sp>
      <p:sp>
        <p:nvSpPr>
          <p:cNvPr id="67" name="Shape 65"/>
          <p:cNvSpPr/>
          <p:nvPr/>
        </p:nvSpPr>
        <p:spPr>
          <a:xfrm>
            <a:off x="7223760" y="3483864"/>
            <a:ext cx="1691640" cy="402336"/>
          </a:xfrm>
          <a:prstGeom prst="rect">
            <a:avLst/>
          </a:prstGeom>
          <a:solidFill>
            <a:srgbClr val="FFFFFF"/>
          </a:solidFill>
          <a:ln w="12700">
            <a:solidFill>
              <a:srgbClr val="E2E8F0"/>
            </a:solidFill>
            <a:prstDash val="solid"/>
          </a:ln>
        </p:spPr>
        <p:txBody>
          <a:bodyPr/>
          <a:lstStyle/>
          <a:p>
            <a:endParaRPr lang="en-US"/>
          </a:p>
        </p:txBody>
      </p:sp>
      <p:sp>
        <p:nvSpPr>
          <p:cNvPr id="68" name="Text 66"/>
          <p:cNvSpPr/>
          <p:nvPr/>
        </p:nvSpPr>
        <p:spPr>
          <a:xfrm>
            <a:off x="685800" y="3483864"/>
            <a:ext cx="1371600" cy="402336"/>
          </a:xfrm>
          <a:prstGeom prst="rect">
            <a:avLst/>
          </a:prstGeom>
          <a:noFill/>
          <a:ln/>
        </p:spPr>
        <p:txBody>
          <a:bodyPr wrap="square" lIns="0" tIns="0" rIns="0" bIns="0" rtlCol="0" anchor="ctr"/>
          <a:lstStyle/>
          <a:p>
            <a:pPr marL="0" indent="0">
              <a:buNone/>
            </a:pPr>
            <a:r>
              <a:rPr lang="en-US" sz="1200" b="1" dirty="0">
                <a:solidFill>
                  <a:srgbClr val="0F1729"/>
                </a:solidFill>
                <a:latin typeface="Calibri" pitchFamily="34" charset="0"/>
                <a:ea typeface="Calibri" pitchFamily="34" charset="-122"/>
                <a:cs typeface="Calibri" pitchFamily="34" charset="-120"/>
              </a:rPr>
              <a:t>Discovery</a:t>
            </a:r>
            <a:endParaRPr lang="en-US" sz="1200" dirty="0"/>
          </a:p>
        </p:txBody>
      </p:sp>
      <p:sp>
        <p:nvSpPr>
          <p:cNvPr id="69" name="Text 67"/>
          <p:cNvSpPr/>
          <p:nvPr/>
        </p:nvSpPr>
        <p:spPr>
          <a:xfrm>
            <a:off x="2148840" y="3483864"/>
            <a:ext cx="1691640" cy="402336"/>
          </a:xfrm>
          <a:prstGeom prst="rect">
            <a:avLst/>
          </a:prstGeom>
          <a:noFill/>
          <a:ln/>
        </p:spPr>
        <p:txBody>
          <a:bodyPr wrap="square" lIns="0" tIns="0" rIns="0" bIns="0" rtlCol="0" anchor="ctr"/>
          <a:lstStyle/>
          <a:p>
            <a:pPr marL="0" indent="0" algn="ctr">
              <a:buNone/>
            </a:pPr>
            <a:r>
              <a:rPr lang="en-US" sz="1200" dirty="0">
                <a:solidFill>
                  <a:srgbClr val="64748B"/>
                </a:solidFill>
                <a:latin typeface="Calibri" pitchFamily="34" charset="0"/>
                <a:ea typeface="Calibri" pitchFamily="34" charset="-122"/>
                <a:cs typeface="Calibri" pitchFamily="34" charset="-120"/>
              </a:rPr>
              <a:t>—</a:t>
            </a:r>
            <a:endParaRPr lang="en-US" sz="1200" dirty="0"/>
          </a:p>
        </p:txBody>
      </p:sp>
      <p:sp>
        <p:nvSpPr>
          <p:cNvPr id="70" name="Text 68"/>
          <p:cNvSpPr/>
          <p:nvPr/>
        </p:nvSpPr>
        <p:spPr>
          <a:xfrm>
            <a:off x="3840480" y="3483864"/>
            <a:ext cx="1691640" cy="402336"/>
          </a:xfrm>
          <a:prstGeom prst="rect">
            <a:avLst/>
          </a:prstGeom>
          <a:noFill/>
          <a:ln/>
        </p:spPr>
        <p:txBody>
          <a:bodyPr wrap="square" lIns="0" tIns="0" rIns="0" bIns="0" rtlCol="0" anchor="ctr"/>
          <a:lstStyle/>
          <a:p>
            <a:pPr marL="0" indent="0" algn="ctr">
              <a:buNone/>
            </a:pPr>
            <a:r>
              <a:rPr lang="en-US" sz="1200" dirty="0">
                <a:solidFill>
                  <a:srgbClr val="64748B"/>
                </a:solidFill>
                <a:latin typeface="Calibri" pitchFamily="34" charset="0"/>
                <a:ea typeface="Calibri" pitchFamily="34" charset="-122"/>
                <a:cs typeface="Calibri" pitchFamily="34" charset="-120"/>
              </a:rPr>
              <a:t>—</a:t>
            </a:r>
            <a:endParaRPr lang="en-US" sz="1200" dirty="0"/>
          </a:p>
        </p:txBody>
      </p:sp>
      <p:sp>
        <p:nvSpPr>
          <p:cNvPr id="71" name="Text 69"/>
          <p:cNvSpPr/>
          <p:nvPr/>
        </p:nvSpPr>
        <p:spPr>
          <a:xfrm>
            <a:off x="5532120" y="3483864"/>
            <a:ext cx="1691640" cy="402336"/>
          </a:xfrm>
          <a:prstGeom prst="rect">
            <a:avLst/>
          </a:prstGeom>
          <a:noFill/>
          <a:ln/>
        </p:spPr>
        <p:txBody>
          <a:bodyPr wrap="square" lIns="0" tIns="0" rIns="0" bIns="0" rtlCol="0" anchor="ctr"/>
          <a:lstStyle/>
          <a:p>
            <a:pPr marL="0" indent="0" algn="ctr">
              <a:buNone/>
            </a:pPr>
            <a:r>
              <a:rPr lang="en-US" sz="1300" b="1" dirty="0">
                <a:solidFill>
                  <a:srgbClr val="0B1F3A"/>
                </a:solidFill>
                <a:latin typeface="Consolas" pitchFamily="34" charset="0"/>
                <a:ea typeface="Consolas" pitchFamily="34" charset="-122"/>
                <a:cs typeface="Consolas" pitchFamily="34" charset="-120"/>
              </a:rPr>
              <a:t>/skills</a:t>
            </a:r>
            <a:endParaRPr lang="en-US" sz="1300" dirty="0"/>
          </a:p>
        </p:txBody>
      </p:sp>
      <p:sp>
        <p:nvSpPr>
          <p:cNvPr id="72" name="Text 70"/>
          <p:cNvSpPr/>
          <p:nvPr/>
        </p:nvSpPr>
        <p:spPr>
          <a:xfrm>
            <a:off x="7223760" y="3483864"/>
            <a:ext cx="1691640" cy="402336"/>
          </a:xfrm>
          <a:prstGeom prst="rect">
            <a:avLst/>
          </a:prstGeom>
          <a:noFill/>
          <a:ln/>
        </p:spPr>
        <p:txBody>
          <a:bodyPr wrap="square" lIns="0" tIns="0" rIns="0" bIns="0" rtlCol="0" anchor="ctr"/>
          <a:lstStyle/>
          <a:p>
            <a:pPr marL="0" indent="0" algn="ctr">
              <a:buNone/>
            </a:pPr>
            <a:r>
              <a:rPr lang="en-US" sz="1300" b="1" dirty="0">
                <a:solidFill>
                  <a:srgbClr val="F78166"/>
                </a:solidFill>
                <a:latin typeface="Consolas" pitchFamily="34" charset="0"/>
                <a:ea typeface="Consolas" pitchFamily="34" charset="-122"/>
                <a:cs typeface="Consolas" pitchFamily="34" charset="-120"/>
              </a:rPr>
              <a:t>/agents</a:t>
            </a:r>
            <a:endParaRPr lang="en-US" sz="1300" dirty="0"/>
          </a:p>
        </p:txBody>
      </p:sp>
      <p:sp>
        <p:nvSpPr>
          <p:cNvPr id="73" name="Shape 71"/>
          <p:cNvSpPr/>
          <p:nvPr/>
        </p:nvSpPr>
        <p:spPr>
          <a:xfrm>
            <a:off x="502920" y="3959352"/>
            <a:ext cx="8412480" cy="347472"/>
          </a:xfrm>
          <a:prstGeom prst="rect">
            <a:avLst/>
          </a:prstGeom>
          <a:solidFill>
            <a:srgbClr val="0B1F3A"/>
          </a:solidFill>
          <a:ln w="12700">
            <a:solidFill>
              <a:srgbClr val="0B1F3A"/>
            </a:solidFill>
            <a:prstDash val="solid"/>
          </a:ln>
        </p:spPr>
        <p:txBody>
          <a:bodyPr/>
          <a:lstStyle/>
          <a:p>
            <a:endParaRPr lang="en-US"/>
          </a:p>
        </p:txBody>
      </p:sp>
      <p:sp>
        <p:nvSpPr>
          <p:cNvPr id="74" name="Text 72"/>
          <p:cNvSpPr/>
          <p:nvPr/>
        </p:nvSpPr>
        <p:spPr>
          <a:xfrm>
            <a:off x="502920" y="3959352"/>
            <a:ext cx="8412480" cy="347472"/>
          </a:xfrm>
          <a:prstGeom prst="rect">
            <a:avLst/>
          </a:prstGeom>
          <a:noFill/>
          <a:ln/>
        </p:spPr>
        <p:txBody>
          <a:bodyPr wrap="square" lIns="0" tIns="0" rIns="0" bIns="0" rtlCol="0" anchor="ctr"/>
          <a:lstStyle/>
          <a:p>
            <a:pPr marL="0" indent="0" algn="ctr">
              <a:buNone/>
            </a:pPr>
            <a:r>
              <a:rPr lang="en-US" sz="1100" b="1" i="1" dirty="0">
                <a:solidFill>
                  <a:srgbClr val="FFD166"/>
                </a:solidFill>
                <a:latin typeface="Calibri" pitchFamily="34" charset="0"/>
                <a:ea typeface="Calibri" pitchFamily="34" charset="-122"/>
                <a:cs typeface="Calibri" pitchFamily="34" charset="-120"/>
              </a:rPr>
              <a:t>Instructions </a:t>
            </a:r>
            <a:r>
              <a:rPr lang="en-US" sz="1100" i="1" dirty="0">
                <a:solidFill>
                  <a:srgbClr val="FFFFFF"/>
                </a:solidFill>
                <a:latin typeface="Calibri" pitchFamily="34" charset="0"/>
                <a:ea typeface="Calibri" pitchFamily="34" charset="-122"/>
                <a:cs typeface="Calibri" pitchFamily="34" charset="-120"/>
              </a:rPr>
              <a:t>= guardrails   ·   </a:t>
            </a:r>
            <a:r>
              <a:rPr lang="en-US" sz="1100" b="1" i="1" dirty="0">
                <a:solidFill>
                  <a:srgbClr val="FFD166"/>
                </a:solidFill>
                <a:latin typeface="Calibri" pitchFamily="34" charset="0"/>
                <a:ea typeface="Calibri" pitchFamily="34" charset="-122"/>
                <a:cs typeface="Calibri" pitchFamily="34" charset="-120"/>
              </a:rPr>
              <a:t>Skills </a:t>
            </a:r>
            <a:r>
              <a:rPr lang="en-US" sz="1100" i="1" dirty="0">
                <a:solidFill>
                  <a:srgbClr val="FFFFFF"/>
                </a:solidFill>
                <a:latin typeface="Calibri" pitchFamily="34" charset="0"/>
                <a:ea typeface="Calibri" pitchFamily="34" charset="-122"/>
                <a:cs typeface="Calibri" pitchFamily="34" charset="-120"/>
              </a:rPr>
              <a:t>= knowledge   ·   </a:t>
            </a:r>
            <a:r>
              <a:rPr lang="en-US" sz="1100" b="1" i="1" dirty="0">
                <a:solidFill>
                  <a:srgbClr val="FFD166"/>
                </a:solidFill>
                <a:latin typeface="Calibri" pitchFamily="34" charset="0"/>
                <a:ea typeface="Calibri" pitchFamily="34" charset="-122"/>
                <a:cs typeface="Calibri" pitchFamily="34" charset="-120"/>
              </a:rPr>
              <a:t>Agents </a:t>
            </a:r>
            <a:r>
              <a:rPr lang="en-US" sz="1100" i="1" dirty="0">
                <a:solidFill>
                  <a:srgbClr val="FFFFFF"/>
                </a:solidFill>
                <a:latin typeface="Calibri" pitchFamily="34" charset="0"/>
                <a:ea typeface="Calibri" pitchFamily="34" charset="-122"/>
                <a:cs typeface="Calibri" pitchFamily="34" charset="-120"/>
              </a:rPr>
              <a:t>= specialists with tools</a:t>
            </a:r>
            <a:endParaRPr lang="en-US" sz="1100" dirty="0"/>
          </a:p>
        </p:txBody>
      </p:sp>
      <p:sp>
        <p:nvSpPr>
          <p:cNvPr id="75" name="Text 73"/>
          <p:cNvSpPr/>
          <p:nvPr/>
        </p:nvSpPr>
        <p:spPr>
          <a:xfrm>
            <a:off x="548640" y="4864608"/>
            <a:ext cx="64008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Agentic-First with GitHub Copilot  |  Global Azure Columbus 2026</a:t>
            </a:r>
            <a:endParaRPr lang="en-US" sz="900" dirty="0"/>
          </a:p>
        </p:txBody>
      </p:sp>
      <p:sp>
        <p:nvSpPr>
          <p:cNvPr id="76" name="Text 74"/>
          <p:cNvSpPr/>
          <p:nvPr/>
        </p:nvSpPr>
        <p:spPr>
          <a:xfrm>
            <a:off x="8229600" y="4864608"/>
            <a:ext cx="54864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F78166"/>
          </a:solidFill>
          <a:ln w="12700">
            <a:solidFill>
              <a:srgbClr val="F78166"/>
            </a:solidFill>
            <a:prstDash val="solid"/>
          </a:ln>
        </p:spPr>
        <p:txBody>
          <a:bodyPr/>
          <a:lstStyle/>
          <a:p>
            <a:endParaRPr lang="en-US"/>
          </a:p>
        </p:txBody>
      </p:sp>
      <p:sp>
        <p:nvSpPr>
          <p:cNvPr id="3" name="Text 1"/>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400" dirty="0">
                <a:solidFill>
                  <a:srgbClr val="F78166"/>
                </a:solidFill>
                <a:latin typeface="Calibri" pitchFamily="34" charset="0"/>
                <a:ea typeface="Calibri" pitchFamily="34" charset="-122"/>
                <a:cs typeface="Calibri" pitchFamily="34" charset="-120"/>
              </a:rPr>
              <a:t>PLUG IT IN</a:t>
            </a:r>
            <a:endParaRPr lang="en-US" sz="1100" dirty="0"/>
          </a:p>
        </p:txBody>
      </p:sp>
      <p:sp>
        <p:nvSpPr>
          <p:cNvPr id="4" name="Text 2"/>
          <p:cNvSpPr/>
          <p:nvPr/>
        </p:nvSpPr>
        <p:spPr>
          <a:xfrm>
            <a:off x="548640" y="502920"/>
            <a:ext cx="8229600" cy="685800"/>
          </a:xfrm>
          <a:prstGeom prst="rect">
            <a:avLst/>
          </a:prstGeom>
          <a:noFill/>
          <a:ln/>
        </p:spPr>
        <p:txBody>
          <a:bodyPr wrap="square" lIns="0" tIns="0" rIns="0" bIns="0" rtlCol="0" anchor="ctr"/>
          <a:lstStyle/>
          <a:p>
            <a:pPr marL="0" indent="0">
              <a:buNone/>
            </a:pPr>
            <a:r>
              <a:rPr lang="en-US" sz="3000" b="1" dirty="0">
                <a:solidFill>
                  <a:srgbClr val="1E293B"/>
                </a:solidFill>
                <a:latin typeface="Calibri" pitchFamily="34" charset="0"/>
                <a:ea typeface="Calibri" pitchFamily="34" charset="-122"/>
                <a:cs typeface="Calibri" pitchFamily="34" charset="-120"/>
              </a:rPr>
              <a:t>Adding Azure: The Azure Skills Plugin</a:t>
            </a:r>
            <a:endParaRPr lang="en-US" sz="3000" dirty="0"/>
          </a:p>
        </p:txBody>
      </p:sp>
      <p:sp>
        <p:nvSpPr>
          <p:cNvPr id="5" name="Shape 3"/>
          <p:cNvSpPr/>
          <p:nvPr/>
        </p:nvSpPr>
        <p:spPr>
          <a:xfrm>
            <a:off x="480060" y="1417320"/>
            <a:ext cx="2606040" cy="233172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6" name="Shape 4"/>
          <p:cNvSpPr/>
          <p:nvPr/>
        </p:nvSpPr>
        <p:spPr>
          <a:xfrm>
            <a:off x="480060" y="1417320"/>
            <a:ext cx="2606040" cy="502920"/>
          </a:xfrm>
          <a:prstGeom prst="rect">
            <a:avLst/>
          </a:prstGeom>
          <a:solidFill>
            <a:srgbClr val="0B1F3A"/>
          </a:solidFill>
          <a:ln w="12700">
            <a:solidFill>
              <a:srgbClr val="0B1F3A"/>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662940" y="1536192"/>
            <a:ext cx="274320" cy="274320"/>
          </a:xfrm>
          <a:prstGeom prst="rect">
            <a:avLst/>
          </a:prstGeom>
        </p:spPr>
      </p:pic>
      <p:sp>
        <p:nvSpPr>
          <p:cNvPr id="8" name="Text 5"/>
          <p:cNvSpPr/>
          <p:nvPr/>
        </p:nvSpPr>
        <p:spPr>
          <a:xfrm>
            <a:off x="982980" y="1490472"/>
            <a:ext cx="1965960" cy="365760"/>
          </a:xfrm>
          <a:prstGeom prst="rect">
            <a:avLst/>
          </a:prstGeom>
          <a:noFill/>
          <a:ln/>
        </p:spPr>
        <p:txBody>
          <a:bodyPr wrap="square" lIns="0" tIns="0" rIns="0" bIns="0" rtlCol="0" anchor="ctr"/>
          <a:lstStyle/>
          <a:p>
            <a:pPr marL="0" indent="0">
              <a:buNone/>
            </a:pPr>
            <a:r>
              <a:rPr lang="en-US" sz="1200" b="1" kern="0" spc="300" dirty="0">
                <a:solidFill>
                  <a:srgbClr val="FFFFFF"/>
                </a:solidFill>
                <a:latin typeface="Calibri" pitchFamily="34" charset="0"/>
                <a:ea typeface="Calibri" pitchFamily="34" charset="-122"/>
                <a:cs typeface="Calibri" pitchFamily="34" charset="-120"/>
              </a:rPr>
              <a:t>SKILLS</a:t>
            </a:r>
            <a:endParaRPr lang="en-US" sz="1200" dirty="0"/>
          </a:p>
        </p:txBody>
      </p:sp>
      <p:sp>
        <p:nvSpPr>
          <p:cNvPr id="9" name="Text 6"/>
          <p:cNvSpPr/>
          <p:nvPr/>
        </p:nvSpPr>
        <p:spPr>
          <a:xfrm>
            <a:off x="480060" y="2057400"/>
            <a:ext cx="2606040" cy="914400"/>
          </a:xfrm>
          <a:prstGeom prst="rect">
            <a:avLst/>
          </a:prstGeom>
          <a:noFill/>
          <a:ln/>
        </p:spPr>
        <p:txBody>
          <a:bodyPr wrap="square" lIns="0" tIns="0" rIns="0" bIns="0" rtlCol="0" anchor="ctr"/>
          <a:lstStyle/>
          <a:p>
            <a:pPr marL="0" indent="0" algn="ctr">
              <a:buNone/>
            </a:pPr>
            <a:r>
              <a:rPr lang="en-US" sz="5400" b="1" dirty="0">
                <a:solidFill>
                  <a:srgbClr val="0B1F3A"/>
                </a:solidFill>
                <a:latin typeface="Calibri" pitchFamily="34" charset="0"/>
                <a:ea typeface="Calibri" pitchFamily="34" charset="-122"/>
                <a:cs typeface="Calibri" pitchFamily="34" charset="-120"/>
              </a:rPr>
              <a:t>20</a:t>
            </a:r>
            <a:endParaRPr lang="en-US" sz="5400" dirty="0"/>
          </a:p>
        </p:txBody>
      </p:sp>
      <p:sp>
        <p:nvSpPr>
          <p:cNvPr id="10" name="Text 7"/>
          <p:cNvSpPr/>
          <p:nvPr/>
        </p:nvSpPr>
        <p:spPr>
          <a:xfrm>
            <a:off x="480060" y="2926080"/>
            <a:ext cx="2606040" cy="274320"/>
          </a:xfrm>
          <a:prstGeom prst="rect">
            <a:avLst/>
          </a:prstGeom>
          <a:noFill/>
          <a:ln/>
        </p:spPr>
        <p:txBody>
          <a:bodyPr wrap="square" lIns="0" tIns="0" rIns="0" bIns="0" rtlCol="0" anchor="ctr"/>
          <a:lstStyle/>
          <a:p>
            <a:pPr marL="0" indent="0" algn="ctr">
              <a:buNone/>
            </a:pPr>
            <a:r>
              <a:rPr lang="en-US" sz="1000" b="1" kern="0" spc="300" dirty="0">
                <a:solidFill>
                  <a:srgbClr val="64748B"/>
                </a:solidFill>
                <a:latin typeface="Calibri" pitchFamily="34" charset="0"/>
                <a:ea typeface="Calibri" pitchFamily="34" charset="-122"/>
                <a:cs typeface="Calibri" pitchFamily="34" charset="-120"/>
              </a:rPr>
              <a:t>CURATED WORKFLOWS</a:t>
            </a:r>
            <a:endParaRPr lang="en-US" sz="1000" dirty="0"/>
          </a:p>
        </p:txBody>
      </p:sp>
      <p:sp>
        <p:nvSpPr>
          <p:cNvPr id="11" name="Text 8"/>
          <p:cNvSpPr/>
          <p:nvPr/>
        </p:nvSpPr>
        <p:spPr>
          <a:xfrm>
            <a:off x="617220" y="3227832"/>
            <a:ext cx="2331720" cy="457200"/>
          </a:xfrm>
          <a:prstGeom prst="rect">
            <a:avLst/>
          </a:prstGeom>
          <a:noFill/>
          <a:ln/>
        </p:spPr>
        <p:txBody>
          <a:bodyPr wrap="square" lIns="0" tIns="0" rIns="0" bIns="0"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prepare · validate · deploy · diagnose · optimize</a:t>
            </a:r>
            <a:endParaRPr lang="en-US" sz="1100" dirty="0"/>
          </a:p>
        </p:txBody>
      </p:sp>
      <p:sp>
        <p:nvSpPr>
          <p:cNvPr id="12" name="Shape 9"/>
          <p:cNvSpPr/>
          <p:nvPr/>
        </p:nvSpPr>
        <p:spPr>
          <a:xfrm>
            <a:off x="3268980" y="1417320"/>
            <a:ext cx="2606040" cy="233172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13" name="Shape 10"/>
          <p:cNvSpPr/>
          <p:nvPr/>
        </p:nvSpPr>
        <p:spPr>
          <a:xfrm>
            <a:off x="3268980" y="1417320"/>
            <a:ext cx="2606040" cy="502920"/>
          </a:xfrm>
          <a:prstGeom prst="rect">
            <a:avLst/>
          </a:prstGeom>
          <a:solidFill>
            <a:srgbClr val="4F9DE6"/>
          </a:solidFill>
          <a:ln w="12700">
            <a:solidFill>
              <a:srgbClr val="4F9DE6"/>
            </a:solidFill>
            <a:prstDash val="solid"/>
          </a:ln>
        </p:spPr>
        <p:txBody>
          <a:bodyPr/>
          <a:lstStyle/>
          <a:p>
            <a:endParaRPr lang="en-US"/>
          </a:p>
        </p:txBody>
      </p:sp>
      <p:pic>
        <p:nvPicPr>
          <p:cNvPr id="14" name="Image 1" descr="preencoded.png"/>
          <p:cNvPicPr>
            <a:picLocks noChangeAspect="1"/>
          </p:cNvPicPr>
          <p:nvPr/>
        </p:nvPicPr>
        <p:blipFill>
          <a:blip r:embed="rId4"/>
          <a:stretch>
            <a:fillRect/>
          </a:stretch>
        </p:blipFill>
        <p:spPr>
          <a:xfrm>
            <a:off x="3451860" y="1536192"/>
            <a:ext cx="274320" cy="274320"/>
          </a:xfrm>
          <a:prstGeom prst="rect">
            <a:avLst/>
          </a:prstGeom>
        </p:spPr>
      </p:pic>
      <p:sp>
        <p:nvSpPr>
          <p:cNvPr id="15" name="Text 11"/>
          <p:cNvSpPr/>
          <p:nvPr/>
        </p:nvSpPr>
        <p:spPr>
          <a:xfrm>
            <a:off x="3771900" y="1490472"/>
            <a:ext cx="1965960" cy="365760"/>
          </a:xfrm>
          <a:prstGeom prst="rect">
            <a:avLst/>
          </a:prstGeom>
          <a:noFill/>
          <a:ln/>
        </p:spPr>
        <p:txBody>
          <a:bodyPr wrap="square" lIns="0" tIns="0" rIns="0" bIns="0" rtlCol="0" anchor="ctr"/>
          <a:lstStyle/>
          <a:p>
            <a:pPr marL="0" indent="0">
              <a:buNone/>
            </a:pPr>
            <a:r>
              <a:rPr lang="en-US" sz="1200" b="1" kern="0" spc="300" dirty="0">
                <a:solidFill>
                  <a:srgbClr val="FFFFFF"/>
                </a:solidFill>
                <a:latin typeface="Calibri" pitchFamily="34" charset="0"/>
                <a:ea typeface="Calibri" pitchFamily="34" charset="-122"/>
                <a:cs typeface="Calibri" pitchFamily="34" charset="-120"/>
              </a:rPr>
              <a:t>AZURE MCP SERVER</a:t>
            </a:r>
            <a:endParaRPr lang="en-US" sz="1200" dirty="0"/>
          </a:p>
        </p:txBody>
      </p:sp>
      <p:sp>
        <p:nvSpPr>
          <p:cNvPr id="16" name="Text 12"/>
          <p:cNvSpPr/>
          <p:nvPr/>
        </p:nvSpPr>
        <p:spPr>
          <a:xfrm>
            <a:off x="3268980" y="2057400"/>
            <a:ext cx="2606040" cy="914400"/>
          </a:xfrm>
          <a:prstGeom prst="rect">
            <a:avLst/>
          </a:prstGeom>
          <a:noFill/>
          <a:ln/>
        </p:spPr>
        <p:txBody>
          <a:bodyPr wrap="square" lIns="0" tIns="0" rIns="0" bIns="0" rtlCol="0" anchor="ctr"/>
          <a:lstStyle/>
          <a:p>
            <a:pPr marL="0" indent="0" algn="ctr">
              <a:buNone/>
            </a:pPr>
            <a:r>
              <a:rPr lang="en-US" sz="5400" b="1" dirty="0">
                <a:solidFill>
                  <a:srgbClr val="4F9DE6"/>
                </a:solidFill>
                <a:latin typeface="Calibri" pitchFamily="34" charset="0"/>
                <a:ea typeface="Calibri" pitchFamily="34" charset="-122"/>
                <a:cs typeface="Calibri" pitchFamily="34" charset="-120"/>
              </a:rPr>
              <a:t>200+</a:t>
            </a:r>
            <a:endParaRPr lang="en-US" sz="5400" dirty="0"/>
          </a:p>
        </p:txBody>
      </p:sp>
      <p:sp>
        <p:nvSpPr>
          <p:cNvPr id="17" name="Text 13"/>
          <p:cNvSpPr/>
          <p:nvPr/>
        </p:nvSpPr>
        <p:spPr>
          <a:xfrm>
            <a:off x="3268980" y="2926080"/>
            <a:ext cx="2606040" cy="274320"/>
          </a:xfrm>
          <a:prstGeom prst="rect">
            <a:avLst/>
          </a:prstGeom>
          <a:noFill/>
          <a:ln/>
        </p:spPr>
        <p:txBody>
          <a:bodyPr wrap="square" lIns="0" tIns="0" rIns="0" bIns="0" rtlCol="0" anchor="ctr"/>
          <a:lstStyle/>
          <a:p>
            <a:pPr marL="0" indent="0" algn="ctr">
              <a:buNone/>
            </a:pPr>
            <a:r>
              <a:rPr lang="en-US" sz="1000" b="1" kern="0" spc="300" dirty="0">
                <a:solidFill>
                  <a:srgbClr val="64748B"/>
                </a:solidFill>
                <a:latin typeface="Calibri" pitchFamily="34" charset="0"/>
                <a:ea typeface="Calibri" pitchFamily="34" charset="-122"/>
                <a:cs typeface="Calibri" pitchFamily="34" charset="-120"/>
              </a:rPr>
              <a:t>STRUCTURED TOOLS</a:t>
            </a:r>
            <a:endParaRPr lang="en-US" sz="1000" dirty="0"/>
          </a:p>
        </p:txBody>
      </p:sp>
      <p:sp>
        <p:nvSpPr>
          <p:cNvPr id="18" name="Text 14"/>
          <p:cNvSpPr/>
          <p:nvPr/>
        </p:nvSpPr>
        <p:spPr>
          <a:xfrm>
            <a:off x="3406140" y="3227832"/>
            <a:ext cx="2331720" cy="457200"/>
          </a:xfrm>
          <a:prstGeom prst="rect">
            <a:avLst/>
          </a:prstGeom>
          <a:noFill/>
          <a:ln/>
        </p:spPr>
        <p:txBody>
          <a:bodyPr wrap="square" lIns="0" tIns="0" rIns="0" bIns="0"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Real operations across 40+ Azure services</a:t>
            </a:r>
            <a:endParaRPr lang="en-US" sz="1100" dirty="0"/>
          </a:p>
        </p:txBody>
      </p:sp>
      <p:sp>
        <p:nvSpPr>
          <p:cNvPr id="19" name="Shape 15"/>
          <p:cNvSpPr/>
          <p:nvPr/>
        </p:nvSpPr>
        <p:spPr>
          <a:xfrm>
            <a:off x="6057900" y="1417320"/>
            <a:ext cx="2606040" cy="233172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20" name="Shape 16"/>
          <p:cNvSpPr/>
          <p:nvPr/>
        </p:nvSpPr>
        <p:spPr>
          <a:xfrm>
            <a:off x="6057900" y="1417320"/>
            <a:ext cx="2606040" cy="502920"/>
          </a:xfrm>
          <a:prstGeom prst="rect">
            <a:avLst/>
          </a:prstGeom>
          <a:solidFill>
            <a:srgbClr val="F78166"/>
          </a:solidFill>
          <a:ln w="12700">
            <a:solidFill>
              <a:srgbClr val="F78166"/>
            </a:solidFill>
            <a:prstDash val="solid"/>
          </a:ln>
        </p:spPr>
        <p:txBody>
          <a:bodyPr/>
          <a:lstStyle/>
          <a:p>
            <a:endParaRPr lang="en-US"/>
          </a:p>
        </p:txBody>
      </p:sp>
      <p:pic>
        <p:nvPicPr>
          <p:cNvPr id="21" name="Image 2" descr="preencoded.png"/>
          <p:cNvPicPr>
            <a:picLocks noChangeAspect="1"/>
          </p:cNvPicPr>
          <p:nvPr/>
        </p:nvPicPr>
        <p:blipFill>
          <a:blip r:embed="rId5"/>
          <a:stretch>
            <a:fillRect/>
          </a:stretch>
        </p:blipFill>
        <p:spPr>
          <a:xfrm>
            <a:off x="6240780" y="1536192"/>
            <a:ext cx="274320" cy="274320"/>
          </a:xfrm>
          <a:prstGeom prst="rect">
            <a:avLst/>
          </a:prstGeom>
        </p:spPr>
      </p:pic>
      <p:sp>
        <p:nvSpPr>
          <p:cNvPr id="22" name="Text 17"/>
          <p:cNvSpPr/>
          <p:nvPr/>
        </p:nvSpPr>
        <p:spPr>
          <a:xfrm>
            <a:off x="6560820" y="1490472"/>
            <a:ext cx="1965960" cy="365760"/>
          </a:xfrm>
          <a:prstGeom prst="rect">
            <a:avLst/>
          </a:prstGeom>
          <a:noFill/>
          <a:ln/>
        </p:spPr>
        <p:txBody>
          <a:bodyPr wrap="square" lIns="0" tIns="0" rIns="0" bIns="0" rtlCol="0" anchor="ctr"/>
          <a:lstStyle/>
          <a:p>
            <a:pPr marL="0" indent="0">
              <a:buNone/>
            </a:pPr>
            <a:r>
              <a:rPr lang="en-US" sz="1200" b="1" kern="0" spc="300" dirty="0">
                <a:solidFill>
                  <a:srgbClr val="FFFFFF"/>
                </a:solidFill>
                <a:latin typeface="Calibri" pitchFamily="34" charset="0"/>
                <a:ea typeface="Calibri" pitchFamily="34" charset="-122"/>
                <a:cs typeface="Calibri" pitchFamily="34" charset="-120"/>
              </a:rPr>
              <a:t>FOUNDRY MCP</a:t>
            </a:r>
            <a:endParaRPr lang="en-US" sz="1200" dirty="0"/>
          </a:p>
        </p:txBody>
      </p:sp>
      <p:sp>
        <p:nvSpPr>
          <p:cNvPr id="23" name="Text 18"/>
          <p:cNvSpPr/>
          <p:nvPr/>
        </p:nvSpPr>
        <p:spPr>
          <a:xfrm>
            <a:off x="6057900" y="2057400"/>
            <a:ext cx="2606040" cy="914400"/>
          </a:xfrm>
          <a:prstGeom prst="rect">
            <a:avLst/>
          </a:prstGeom>
          <a:noFill/>
          <a:ln/>
        </p:spPr>
        <p:txBody>
          <a:bodyPr wrap="square" lIns="0" tIns="0" rIns="0" bIns="0" rtlCol="0" anchor="ctr"/>
          <a:lstStyle/>
          <a:p>
            <a:pPr marL="0" indent="0" algn="ctr">
              <a:buNone/>
            </a:pPr>
            <a:r>
              <a:rPr lang="en-US" sz="5400" b="1" dirty="0">
                <a:solidFill>
                  <a:srgbClr val="F78166"/>
                </a:solidFill>
                <a:latin typeface="Calibri" pitchFamily="34" charset="0"/>
                <a:ea typeface="Calibri" pitchFamily="34" charset="-122"/>
                <a:cs typeface="Calibri" pitchFamily="34" charset="-120"/>
              </a:rPr>
              <a:t>AI</a:t>
            </a:r>
            <a:endParaRPr lang="en-US" sz="5400" dirty="0"/>
          </a:p>
        </p:txBody>
      </p:sp>
      <p:sp>
        <p:nvSpPr>
          <p:cNvPr id="24" name="Text 19"/>
          <p:cNvSpPr/>
          <p:nvPr/>
        </p:nvSpPr>
        <p:spPr>
          <a:xfrm>
            <a:off x="6057900" y="2926080"/>
            <a:ext cx="2606040" cy="274320"/>
          </a:xfrm>
          <a:prstGeom prst="rect">
            <a:avLst/>
          </a:prstGeom>
          <a:noFill/>
          <a:ln/>
        </p:spPr>
        <p:txBody>
          <a:bodyPr wrap="square" lIns="0" tIns="0" rIns="0" bIns="0" rtlCol="0" anchor="ctr"/>
          <a:lstStyle/>
          <a:p>
            <a:pPr marL="0" indent="0" algn="ctr">
              <a:buNone/>
            </a:pPr>
            <a:r>
              <a:rPr lang="en-US" sz="1000" b="1" kern="0" spc="300" dirty="0">
                <a:solidFill>
                  <a:srgbClr val="64748B"/>
                </a:solidFill>
                <a:latin typeface="Calibri" pitchFamily="34" charset="0"/>
                <a:ea typeface="Calibri" pitchFamily="34" charset="-122"/>
                <a:cs typeface="Calibri" pitchFamily="34" charset="-120"/>
              </a:rPr>
              <a:t>SPECIALIST LAYER</a:t>
            </a:r>
            <a:endParaRPr lang="en-US" sz="1000" dirty="0"/>
          </a:p>
        </p:txBody>
      </p:sp>
      <p:sp>
        <p:nvSpPr>
          <p:cNvPr id="25" name="Text 20"/>
          <p:cNvSpPr/>
          <p:nvPr/>
        </p:nvSpPr>
        <p:spPr>
          <a:xfrm>
            <a:off x="6195060" y="3227832"/>
            <a:ext cx="2331720" cy="457200"/>
          </a:xfrm>
          <a:prstGeom prst="rect">
            <a:avLst/>
          </a:prstGeom>
          <a:noFill/>
          <a:ln/>
        </p:spPr>
        <p:txBody>
          <a:bodyPr wrap="square" lIns="0" tIns="0" rIns="0" bIns="0" rtlCol="0" anchor="ctr"/>
          <a:lstStyle/>
          <a:p>
            <a:pPr marL="0" indent="0" algn="ctr">
              <a:buNone/>
            </a:pPr>
            <a:r>
              <a:rPr lang="en-US" sz="1100" dirty="0">
                <a:solidFill>
                  <a:srgbClr val="1E293B"/>
                </a:solidFill>
                <a:latin typeface="Calibri" pitchFamily="34" charset="0"/>
                <a:ea typeface="Calibri" pitchFamily="34" charset="-122"/>
                <a:cs typeface="Calibri" pitchFamily="34" charset="-120"/>
              </a:rPr>
              <a:t>Model catalog, deployments, agents, evals</a:t>
            </a:r>
            <a:endParaRPr lang="en-US" sz="1100" dirty="0"/>
          </a:p>
        </p:txBody>
      </p:sp>
      <p:sp>
        <p:nvSpPr>
          <p:cNvPr id="26" name="Shape 21"/>
          <p:cNvSpPr/>
          <p:nvPr/>
        </p:nvSpPr>
        <p:spPr>
          <a:xfrm>
            <a:off x="548640" y="3931920"/>
            <a:ext cx="8046720" cy="731520"/>
          </a:xfrm>
          <a:prstGeom prst="rect">
            <a:avLst/>
          </a:prstGeom>
          <a:solidFill>
            <a:srgbClr val="0F1729"/>
          </a:solidFill>
          <a:ln w="12700">
            <a:solidFill>
              <a:srgbClr val="0F1729"/>
            </a:solidFill>
            <a:prstDash val="solid"/>
          </a:ln>
        </p:spPr>
        <p:txBody>
          <a:bodyPr/>
          <a:lstStyle/>
          <a:p>
            <a:endParaRPr lang="en-US"/>
          </a:p>
        </p:txBody>
      </p:sp>
      <p:sp>
        <p:nvSpPr>
          <p:cNvPr id="27" name="Shape 22"/>
          <p:cNvSpPr/>
          <p:nvPr/>
        </p:nvSpPr>
        <p:spPr>
          <a:xfrm>
            <a:off x="548640" y="3931920"/>
            <a:ext cx="91440" cy="731520"/>
          </a:xfrm>
          <a:prstGeom prst="rect">
            <a:avLst/>
          </a:prstGeom>
          <a:solidFill>
            <a:srgbClr val="FFD166"/>
          </a:solidFill>
          <a:ln w="12700">
            <a:solidFill>
              <a:srgbClr val="FFD166"/>
            </a:solidFill>
            <a:prstDash val="solid"/>
          </a:ln>
        </p:spPr>
        <p:txBody>
          <a:bodyPr/>
          <a:lstStyle/>
          <a:p>
            <a:endParaRPr lang="en-US"/>
          </a:p>
        </p:txBody>
      </p:sp>
      <p:sp>
        <p:nvSpPr>
          <p:cNvPr id="28" name="Text 23"/>
          <p:cNvSpPr/>
          <p:nvPr/>
        </p:nvSpPr>
        <p:spPr>
          <a:xfrm>
            <a:off x="822960" y="3950208"/>
            <a:ext cx="4114800" cy="274320"/>
          </a:xfrm>
          <a:prstGeom prst="rect">
            <a:avLst/>
          </a:prstGeom>
          <a:noFill/>
          <a:ln/>
        </p:spPr>
        <p:txBody>
          <a:bodyPr wrap="square" lIns="0" tIns="0" rIns="0" bIns="0" rtlCol="0" anchor="ctr"/>
          <a:lstStyle/>
          <a:p>
            <a:pPr marL="0" indent="0">
              <a:buNone/>
            </a:pPr>
            <a:r>
              <a:rPr lang="en-US" sz="1300" b="1" kern="0" spc="300" dirty="0">
                <a:solidFill>
                  <a:srgbClr val="FFD166"/>
                </a:solidFill>
                <a:latin typeface="Calibri" pitchFamily="34" charset="0"/>
                <a:ea typeface="Calibri" pitchFamily="34" charset="-122"/>
                <a:cs typeface="Calibri" pitchFamily="34" charset="-120"/>
              </a:rPr>
              <a:t>One install. Three layers.</a:t>
            </a:r>
            <a:endParaRPr lang="en-US" sz="1300" dirty="0"/>
          </a:p>
        </p:txBody>
      </p:sp>
      <p:sp>
        <p:nvSpPr>
          <p:cNvPr id="29" name="Text 24"/>
          <p:cNvSpPr/>
          <p:nvPr/>
        </p:nvSpPr>
        <p:spPr>
          <a:xfrm>
            <a:off x="822960" y="4224528"/>
            <a:ext cx="7498080" cy="411480"/>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.github/plugins/azure-skills/  — visible, auditable, team-owned</a:t>
            </a:r>
            <a:endParaRPr lang="en-US" sz="1200" dirty="0"/>
          </a:p>
        </p:txBody>
      </p:sp>
      <p:sp>
        <p:nvSpPr>
          <p:cNvPr id="30" name="Text 25"/>
          <p:cNvSpPr/>
          <p:nvPr/>
        </p:nvSpPr>
        <p:spPr>
          <a:xfrm>
            <a:off x="548640" y="4864608"/>
            <a:ext cx="64008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Agentic-First with GitHub Copilot  |  Global Azure Columbus 2026</a:t>
            </a:r>
            <a:endParaRPr lang="en-US" sz="900" dirty="0"/>
          </a:p>
        </p:txBody>
      </p:sp>
      <p:sp>
        <p:nvSpPr>
          <p:cNvPr id="31" name="Text 26"/>
          <p:cNvSpPr/>
          <p:nvPr/>
        </p:nvSpPr>
        <p:spPr>
          <a:xfrm>
            <a:off x="8229600" y="4864608"/>
            <a:ext cx="54864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F78166"/>
          </a:solidFill>
          <a:ln w="12700">
            <a:solidFill>
              <a:srgbClr val="F78166"/>
            </a:solidFill>
            <a:prstDash val="solid"/>
          </a:ln>
        </p:spPr>
        <p:txBody>
          <a:bodyPr/>
          <a:lstStyle/>
          <a:p>
            <a:endParaRPr lang="en-US"/>
          </a:p>
        </p:txBody>
      </p:sp>
      <p:sp>
        <p:nvSpPr>
          <p:cNvPr id="3" name="Text 1"/>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400" dirty="0">
                <a:solidFill>
                  <a:srgbClr val="F78166"/>
                </a:solidFill>
                <a:latin typeface="Calibri" pitchFamily="34" charset="0"/>
                <a:ea typeface="Calibri" pitchFamily="34" charset="-122"/>
                <a:cs typeface="Calibri" pitchFamily="34" charset="-120"/>
              </a:rPr>
              <a:t>SAME PROMPT</a:t>
            </a:r>
            <a:endParaRPr lang="en-US" sz="1100" dirty="0"/>
          </a:p>
        </p:txBody>
      </p:sp>
      <p:sp>
        <p:nvSpPr>
          <p:cNvPr id="4" name="Text 2"/>
          <p:cNvSpPr/>
          <p:nvPr/>
        </p:nvSpPr>
        <p:spPr>
          <a:xfrm>
            <a:off x="548640" y="502920"/>
            <a:ext cx="8229600" cy="685800"/>
          </a:xfrm>
          <a:prstGeom prst="rect">
            <a:avLst/>
          </a:prstGeom>
          <a:noFill/>
          <a:ln/>
        </p:spPr>
        <p:txBody>
          <a:bodyPr wrap="square" lIns="0" tIns="0" rIns="0" bIns="0" rtlCol="0" anchor="ctr"/>
          <a:lstStyle/>
          <a:p>
            <a:pPr marL="0" indent="0">
              <a:buNone/>
            </a:pPr>
            <a:r>
              <a:rPr lang="en-US" sz="3000" b="1" dirty="0">
                <a:solidFill>
                  <a:srgbClr val="1E293B"/>
                </a:solidFill>
                <a:latin typeface="Calibri" pitchFamily="34" charset="0"/>
                <a:ea typeface="Calibri" pitchFamily="34" charset="-122"/>
                <a:cs typeface="Calibri" pitchFamily="34" charset="-120"/>
              </a:rPr>
              <a:t>Before &amp; After the Plugin</a:t>
            </a:r>
            <a:endParaRPr lang="en-US" sz="3000" dirty="0"/>
          </a:p>
        </p:txBody>
      </p:sp>
      <p:sp>
        <p:nvSpPr>
          <p:cNvPr id="5" name="Shape 3"/>
          <p:cNvSpPr/>
          <p:nvPr/>
        </p:nvSpPr>
        <p:spPr>
          <a:xfrm>
            <a:off x="548640" y="1417320"/>
            <a:ext cx="3840480" cy="320040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6" name="Shape 4"/>
          <p:cNvSpPr/>
          <p:nvPr/>
        </p:nvSpPr>
        <p:spPr>
          <a:xfrm>
            <a:off x="548640" y="1417320"/>
            <a:ext cx="3840480" cy="457200"/>
          </a:xfrm>
          <a:prstGeom prst="rect">
            <a:avLst/>
          </a:prstGeom>
          <a:solidFill>
            <a:srgbClr val="64748B"/>
          </a:solidFill>
          <a:ln w="12700">
            <a:solidFill>
              <a:srgbClr val="64748B"/>
            </a:solidFill>
            <a:prstDash val="solid"/>
          </a:ln>
        </p:spPr>
        <p:txBody>
          <a:bodyPr/>
          <a:lstStyle/>
          <a:p>
            <a:endParaRPr lang="en-US"/>
          </a:p>
        </p:txBody>
      </p:sp>
      <p:pic>
        <p:nvPicPr>
          <p:cNvPr id="7" name="Image 0" descr="preencoded.png"/>
          <p:cNvPicPr>
            <a:picLocks noChangeAspect="1"/>
          </p:cNvPicPr>
          <p:nvPr/>
        </p:nvPicPr>
        <p:blipFill>
          <a:blip r:embed="rId3"/>
          <a:stretch>
            <a:fillRect/>
          </a:stretch>
        </p:blipFill>
        <p:spPr>
          <a:xfrm>
            <a:off x="731520" y="1508760"/>
            <a:ext cx="274320" cy="274320"/>
          </a:xfrm>
          <a:prstGeom prst="rect">
            <a:avLst/>
          </a:prstGeom>
        </p:spPr>
      </p:pic>
      <p:sp>
        <p:nvSpPr>
          <p:cNvPr id="8" name="Text 5"/>
          <p:cNvSpPr/>
          <p:nvPr/>
        </p:nvSpPr>
        <p:spPr>
          <a:xfrm>
            <a:off x="1051560" y="1463040"/>
            <a:ext cx="3200400" cy="365760"/>
          </a:xfrm>
          <a:prstGeom prst="rect">
            <a:avLst/>
          </a:prstGeom>
          <a:noFill/>
          <a:ln/>
        </p:spPr>
        <p:txBody>
          <a:bodyPr wrap="square" lIns="0" tIns="0" rIns="0" bIns="0" rtlCol="0" anchor="ctr"/>
          <a:lstStyle/>
          <a:p>
            <a:pPr marL="0" indent="0">
              <a:buNone/>
            </a:pPr>
            <a:r>
              <a:rPr lang="en-US" sz="1200" b="1" kern="0" spc="300" dirty="0">
                <a:solidFill>
                  <a:srgbClr val="FFFFFF"/>
                </a:solidFill>
                <a:latin typeface="Calibri" pitchFamily="34" charset="0"/>
                <a:ea typeface="Calibri" pitchFamily="34" charset="-122"/>
                <a:cs typeface="Calibri" pitchFamily="34" charset="-120"/>
              </a:rPr>
              <a:t>WITHOUT PLUGIN</a:t>
            </a:r>
            <a:endParaRPr lang="en-US" sz="1200" dirty="0"/>
          </a:p>
        </p:txBody>
      </p:sp>
      <p:sp>
        <p:nvSpPr>
          <p:cNvPr id="9" name="Text 6"/>
          <p:cNvSpPr/>
          <p:nvPr/>
        </p:nvSpPr>
        <p:spPr>
          <a:xfrm>
            <a:off x="822960" y="2057400"/>
            <a:ext cx="3383280" cy="2423160"/>
          </a:xfrm>
          <a:prstGeom prst="rect">
            <a:avLst/>
          </a:prstGeom>
          <a:noFill/>
          <a:ln/>
        </p:spPr>
        <p:txBody>
          <a:bodyPr wrap="square" lIns="0" tIns="0" rIns="0" bIns="0" rtlCol="0" anchor="ctr"/>
          <a:lstStyle/>
          <a:p>
            <a:pPr marL="0" indent="0">
              <a:spcAft>
                <a:spcPts val="400"/>
              </a:spcAft>
              <a:buNone/>
            </a:pPr>
            <a:r>
              <a:rPr lang="en-US" sz="1300" i="1" dirty="0">
                <a:solidFill>
                  <a:srgbClr val="64748B"/>
                </a:solidFill>
                <a:latin typeface="Calibri" pitchFamily="34" charset="0"/>
                <a:ea typeface="Calibri" pitchFamily="34" charset="-122"/>
                <a:cs typeface="Calibri" pitchFamily="34" charset="-120"/>
              </a:rPr>
              <a:t>Deploy my app to Azure</a:t>
            </a:r>
            <a:endParaRPr lang="en-US" sz="1300" dirty="0"/>
          </a:p>
          <a:p>
            <a:pPr marL="0" indent="0">
              <a:spcAft>
                <a:spcPts val="400"/>
              </a:spcAft>
              <a:buNone/>
            </a:pPr>
            <a:r>
              <a:rPr lang="en-US" sz="600" dirty="0">
                <a:solidFill>
                  <a:srgbClr val="000000"/>
                </a:solidFill>
                <a:latin typeface="Calibri" pitchFamily="34" charset="0"/>
                <a:ea typeface="Calibri" pitchFamily="34" charset="-122"/>
                <a:cs typeface="Calibri" pitchFamily="34" charset="-120"/>
              </a:rPr>
              <a:t> </a:t>
            </a:r>
            <a:endParaRPr lang="en-US" sz="1300" dirty="0"/>
          </a:p>
          <a:p>
            <a:pPr marL="342900" indent="-342900">
              <a:spcAft>
                <a:spcPts val="400"/>
              </a:spcAft>
              <a:buSzPct val="100000"/>
              <a:buChar char="•"/>
            </a:pPr>
            <a:r>
              <a:rPr lang="en-US" sz="1300" dirty="0">
                <a:solidFill>
                  <a:srgbClr val="1E293B"/>
                </a:solidFill>
                <a:latin typeface="Calibri" pitchFamily="34" charset="0"/>
                <a:ea typeface="Calibri" pitchFamily="34" charset="-122"/>
                <a:cs typeface="Calibri" pitchFamily="34" charset="-120"/>
              </a:rPr>
              <a:t>Generic tutorial text</a:t>
            </a:r>
            <a:endParaRPr lang="en-US" sz="1300" dirty="0"/>
          </a:p>
          <a:p>
            <a:pPr marL="342900" indent="-342900">
              <a:spcAft>
                <a:spcPts val="400"/>
              </a:spcAft>
              <a:buSzPct val="100000"/>
              <a:buChar char="•"/>
            </a:pPr>
            <a:r>
              <a:rPr lang="en-US" sz="1300" dirty="0">
                <a:solidFill>
                  <a:srgbClr val="1E293B"/>
                </a:solidFill>
                <a:latin typeface="Calibri" pitchFamily="34" charset="0"/>
                <a:ea typeface="Calibri" pitchFamily="34" charset="-122"/>
                <a:cs typeface="Calibri" pitchFamily="34" charset="-120"/>
              </a:rPr>
              <a:t>Hand-rolled az CLI commands</a:t>
            </a:r>
            <a:endParaRPr lang="en-US" sz="1300" dirty="0"/>
          </a:p>
          <a:p>
            <a:pPr marL="342900" indent="-342900">
              <a:spcAft>
                <a:spcPts val="400"/>
              </a:spcAft>
              <a:buSzPct val="100000"/>
              <a:buChar char="•"/>
            </a:pPr>
            <a:r>
              <a:rPr lang="en-US" sz="1300" dirty="0">
                <a:solidFill>
                  <a:srgbClr val="1E293B"/>
                </a:solidFill>
                <a:latin typeface="Calibri" pitchFamily="34" charset="0"/>
                <a:ea typeface="Calibri" pitchFamily="34" charset="-122"/>
                <a:cs typeface="Calibri" pitchFamily="34" charset="-120"/>
              </a:rPr>
              <a:t>Advice — not artifacts</a:t>
            </a:r>
            <a:endParaRPr lang="en-US" sz="1300" dirty="0"/>
          </a:p>
          <a:p>
            <a:pPr marL="342900" indent="-342900">
              <a:spcAft>
                <a:spcPts val="400"/>
              </a:spcAft>
              <a:buSzPct val="100000"/>
              <a:buChar char="•"/>
            </a:pPr>
            <a:r>
              <a:rPr lang="en-US" sz="1300" dirty="0">
                <a:solidFill>
                  <a:srgbClr val="1E293B"/>
                </a:solidFill>
                <a:latin typeface="Calibri" pitchFamily="34" charset="0"/>
                <a:ea typeface="Calibri" pitchFamily="34" charset="-122"/>
                <a:cs typeface="Calibri" pitchFamily="34" charset="-120"/>
              </a:rPr>
              <a:t>Nothing actually runs</a:t>
            </a:r>
            <a:endParaRPr lang="en-US" sz="1300" dirty="0"/>
          </a:p>
        </p:txBody>
      </p:sp>
      <p:sp>
        <p:nvSpPr>
          <p:cNvPr id="10" name="Shape 7"/>
          <p:cNvSpPr/>
          <p:nvPr/>
        </p:nvSpPr>
        <p:spPr>
          <a:xfrm>
            <a:off x="4754880" y="1417320"/>
            <a:ext cx="3840480" cy="320040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11" name="Shape 8"/>
          <p:cNvSpPr/>
          <p:nvPr/>
        </p:nvSpPr>
        <p:spPr>
          <a:xfrm>
            <a:off x="4754880" y="1417320"/>
            <a:ext cx="3840480" cy="457200"/>
          </a:xfrm>
          <a:prstGeom prst="rect">
            <a:avLst/>
          </a:prstGeom>
          <a:solidFill>
            <a:srgbClr val="F78166"/>
          </a:solidFill>
          <a:ln w="12700">
            <a:solidFill>
              <a:srgbClr val="F78166"/>
            </a:solidFill>
            <a:prstDash val="solid"/>
          </a:ln>
        </p:spPr>
        <p:txBody>
          <a:bodyPr/>
          <a:lstStyle/>
          <a:p>
            <a:endParaRPr lang="en-US"/>
          </a:p>
        </p:txBody>
      </p:sp>
      <p:pic>
        <p:nvPicPr>
          <p:cNvPr id="12" name="Image 1" descr="preencoded.png"/>
          <p:cNvPicPr>
            <a:picLocks noChangeAspect="1"/>
          </p:cNvPicPr>
          <p:nvPr/>
        </p:nvPicPr>
        <p:blipFill>
          <a:blip r:embed="rId4"/>
          <a:stretch>
            <a:fillRect/>
          </a:stretch>
        </p:blipFill>
        <p:spPr>
          <a:xfrm>
            <a:off x="4937760" y="1508760"/>
            <a:ext cx="274320" cy="274320"/>
          </a:xfrm>
          <a:prstGeom prst="rect">
            <a:avLst/>
          </a:prstGeom>
        </p:spPr>
      </p:pic>
      <p:sp>
        <p:nvSpPr>
          <p:cNvPr id="13" name="Text 9"/>
          <p:cNvSpPr/>
          <p:nvPr/>
        </p:nvSpPr>
        <p:spPr>
          <a:xfrm>
            <a:off x="5257800" y="1463040"/>
            <a:ext cx="3200400" cy="365760"/>
          </a:xfrm>
          <a:prstGeom prst="rect">
            <a:avLst/>
          </a:prstGeom>
          <a:noFill/>
          <a:ln/>
        </p:spPr>
        <p:txBody>
          <a:bodyPr wrap="square" lIns="0" tIns="0" rIns="0" bIns="0" rtlCol="0" anchor="ctr"/>
          <a:lstStyle/>
          <a:p>
            <a:pPr marL="0" indent="0">
              <a:buNone/>
            </a:pPr>
            <a:r>
              <a:rPr lang="en-US" sz="1200" b="1" kern="0" spc="300" dirty="0">
                <a:solidFill>
                  <a:srgbClr val="FFFFFF"/>
                </a:solidFill>
                <a:latin typeface="Calibri" pitchFamily="34" charset="0"/>
                <a:ea typeface="Calibri" pitchFamily="34" charset="-122"/>
                <a:cs typeface="Calibri" pitchFamily="34" charset="-120"/>
              </a:rPr>
              <a:t>WITH AZURE SKILLS</a:t>
            </a:r>
            <a:endParaRPr lang="en-US" sz="1200" dirty="0"/>
          </a:p>
        </p:txBody>
      </p:sp>
      <p:sp>
        <p:nvSpPr>
          <p:cNvPr id="14" name="Text 10"/>
          <p:cNvSpPr/>
          <p:nvPr/>
        </p:nvSpPr>
        <p:spPr>
          <a:xfrm>
            <a:off x="5029200" y="2057400"/>
            <a:ext cx="3383280" cy="2423160"/>
          </a:xfrm>
          <a:prstGeom prst="rect">
            <a:avLst/>
          </a:prstGeom>
          <a:noFill/>
          <a:ln/>
        </p:spPr>
        <p:txBody>
          <a:bodyPr wrap="square" lIns="0" tIns="0" rIns="0" bIns="0" rtlCol="0" anchor="ctr"/>
          <a:lstStyle/>
          <a:p>
            <a:pPr marL="0" indent="0">
              <a:spcAft>
                <a:spcPts val="400"/>
              </a:spcAft>
              <a:buNone/>
            </a:pPr>
            <a:r>
              <a:rPr lang="en-US" sz="1300" i="1" dirty="0">
                <a:solidFill>
                  <a:srgbClr val="64748B"/>
                </a:solidFill>
                <a:latin typeface="Calibri" pitchFamily="34" charset="0"/>
                <a:ea typeface="Calibri" pitchFamily="34" charset="-122"/>
                <a:cs typeface="Calibri" pitchFamily="34" charset="-120"/>
              </a:rPr>
              <a:t>Deploy my app to Azure</a:t>
            </a:r>
            <a:endParaRPr lang="en-US" sz="1300" dirty="0"/>
          </a:p>
          <a:p>
            <a:pPr marL="0" indent="0">
              <a:spcAft>
                <a:spcPts val="400"/>
              </a:spcAft>
              <a:buNone/>
            </a:pPr>
            <a:r>
              <a:rPr lang="en-US" sz="600" dirty="0">
                <a:solidFill>
                  <a:srgbClr val="000000"/>
                </a:solidFill>
                <a:latin typeface="Calibri" pitchFamily="34" charset="0"/>
                <a:ea typeface="Calibri" pitchFamily="34" charset="-122"/>
                <a:cs typeface="Calibri" pitchFamily="34" charset="-120"/>
              </a:rPr>
              <a:t> </a:t>
            </a:r>
            <a:endParaRPr lang="en-US" sz="1300" dirty="0"/>
          </a:p>
          <a:p>
            <a:pPr marL="342900" indent="-342900">
              <a:spcAft>
                <a:spcPts val="400"/>
              </a:spcAft>
              <a:buSzPct val="100000"/>
              <a:buChar char="•"/>
            </a:pPr>
            <a:r>
              <a:rPr lang="en-US" sz="1300" dirty="0">
                <a:solidFill>
                  <a:srgbClr val="1E293B"/>
                </a:solidFill>
                <a:latin typeface="Calibri" pitchFamily="34" charset="0"/>
                <a:ea typeface="Calibri" pitchFamily="34" charset="-122"/>
                <a:cs typeface="Calibri" pitchFamily="34" charset="-120"/>
              </a:rPr>
              <a:t>Dockerfile + azure.yaml generated</a:t>
            </a:r>
            <a:endParaRPr lang="en-US" sz="1300" dirty="0"/>
          </a:p>
          <a:p>
            <a:pPr marL="342900" indent="-342900">
              <a:spcAft>
                <a:spcPts val="400"/>
              </a:spcAft>
              <a:buSzPct val="100000"/>
              <a:buChar char="•"/>
            </a:pPr>
            <a:r>
              <a:rPr lang="en-US" sz="1300" dirty="0">
                <a:solidFill>
                  <a:srgbClr val="1E293B"/>
                </a:solidFill>
                <a:latin typeface="Calibri" pitchFamily="34" charset="0"/>
                <a:ea typeface="Calibri" pitchFamily="34" charset="-122"/>
                <a:cs typeface="Calibri" pitchFamily="34" charset="-120"/>
              </a:rPr>
              <a:t>Bicep infra-as-code</a:t>
            </a:r>
            <a:endParaRPr lang="en-US" sz="1300" dirty="0"/>
          </a:p>
          <a:p>
            <a:pPr marL="342900" indent="-342900">
              <a:spcAft>
                <a:spcPts val="400"/>
              </a:spcAft>
              <a:buSzPct val="100000"/>
              <a:buChar char="•"/>
            </a:pPr>
            <a:r>
              <a:rPr lang="en-US" sz="1300" dirty="0">
                <a:solidFill>
                  <a:srgbClr val="1E293B"/>
                </a:solidFill>
                <a:latin typeface="Calibri" pitchFamily="34" charset="0"/>
                <a:ea typeface="Calibri" pitchFamily="34" charset="-122"/>
                <a:cs typeface="Calibri" pitchFamily="34" charset="-120"/>
              </a:rPr>
              <a:t>Pre-flight validation runs</a:t>
            </a:r>
            <a:endParaRPr lang="en-US" sz="1300" dirty="0"/>
          </a:p>
          <a:p>
            <a:pPr marL="342900" indent="-342900">
              <a:spcAft>
                <a:spcPts val="400"/>
              </a:spcAft>
              <a:buSzPct val="100000"/>
              <a:buChar char="•"/>
            </a:pPr>
            <a:r>
              <a:rPr lang="en-US" sz="1300" dirty="0">
                <a:solidFill>
                  <a:srgbClr val="1E293B"/>
                </a:solidFill>
                <a:latin typeface="Calibri" pitchFamily="34" charset="0"/>
                <a:ea typeface="Calibri" pitchFamily="34" charset="-122"/>
                <a:cs typeface="Calibri" pitchFamily="34" charset="-120"/>
              </a:rPr>
              <a:t>azd up deploys end-to-end</a:t>
            </a:r>
            <a:endParaRPr lang="en-US" sz="1300" dirty="0"/>
          </a:p>
        </p:txBody>
      </p:sp>
      <p:sp>
        <p:nvSpPr>
          <p:cNvPr id="15" name="Shape 11"/>
          <p:cNvSpPr/>
          <p:nvPr/>
        </p:nvSpPr>
        <p:spPr>
          <a:xfrm>
            <a:off x="4320540" y="2761488"/>
            <a:ext cx="502920" cy="502920"/>
          </a:xfrm>
          <a:prstGeom prst="ellipse">
            <a:avLst/>
          </a:prstGeom>
          <a:solidFill>
            <a:srgbClr val="0B1F3A"/>
          </a:solidFill>
          <a:ln w="12700">
            <a:solidFill>
              <a:srgbClr val="0B1F3A"/>
            </a:solidFill>
            <a:prstDash val="solid"/>
          </a:ln>
          <a:effectLst>
            <a:outerShdw blurRad="101600" dist="25400" dir="8100000" algn="bl" rotWithShape="0">
              <a:srgbClr val="000000">
                <a:alpha val="12000"/>
              </a:srgbClr>
            </a:outerShdw>
          </a:effectLst>
        </p:spPr>
        <p:txBody>
          <a:bodyPr/>
          <a:lstStyle/>
          <a:p>
            <a:endParaRPr lang="en-US"/>
          </a:p>
        </p:txBody>
      </p:sp>
      <p:sp>
        <p:nvSpPr>
          <p:cNvPr id="16" name="Text 12"/>
          <p:cNvSpPr/>
          <p:nvPr/>
        </p:nvSpPr>
        <p:spPr>
          <a:xfrm>
            <a:off x="4320540" y="2761488"/>
            <a:ext cx="502920" cy="502920"/>
          </a:xfrm>
          <a:prstGeom prst="rect">
            <a:avLst/>
          </a:prstGeom>
          <a:noFill/>
          <a:ln/>
        </p:spPr>
        <p:txBody>
          <a:bodyPr wrap="square" lIns="0" tIns="0" rIns="0" bIns="0" rtlCol="0" anchor="ctr"/>
          <a:lstStyle/>
          <a:p>
            <a:pPr marL="0" indent="0" algn="ctr">
              <a:buNone/>
            </a:pPr>
            <a:r>
              <a:rPr lang="en-US" sz="1400" b="1" kern="0" spc="200" dirty="0">
                <a:solidFill>
                  <a:srgbClr val="FFFFFF"/>
                </a:solidFill>
                <a:latin typeface="Calibri" pitchFamily="34" charset="0"/>
                <a:ea typeface="Calibri" pitchFamily="34" charset="-122"/>
                <a:cs typeface="Calibri" pitchFamily="34" charset="-120"/>
              </a:rPr>
              <a:t>VS</a:t>
            </a:r>
            <a:endParaRPr lang="en-US" sz="1400" dirty="0"/>
          </a:p>
        </p:txBody>
      </p:sp>
      <p:sp>
        <p:nvSpPr>
          <p:cNvPr id="17" name="Text 13"/>
          <p:cNvSpPr/>
          <p:nvPr/>
        </p:nvSpPr>
        <p:spPr>
          <a:xfrm>
            <a:off x="548640" y="4709160"/>
            <a:ext cx="8046720" cy="274320"/>
          </a:xfrm>
          <a:prstGeom prst="rect">
            <a:avLst/>
          </a:prstGeom>
          <a:noFill/>
          <a:ln/>
        </p:spPr>
        <p:txBody>
          <a:bodyPr wrap="square" lIns="0" tIns="0" rIns="0" bIns="0" rtlCol="0" anchor="ctr"/>
          <a:lstStyle/>
          <a:p>
            <a:pPr marL="0" indent="0" algn="ctr">
              <a:buNone/>
            </a:pPr>
            <a:r>
              <a:rPr lang="en-US" sz="1300" b="1" i="1" dirty="0">
                <a:solidFill>
                  <a:srgbClr val="0B1F3A"/>
                </a:solidFill>
                <a:latin typeface="Calibri" pitchFamily="34" charset="0"/>
                <a:ea typeface="Calibri" pitchFamily="34" charset="-122"/>
                <a:cs typeface="Calibri" pitchFamily="34" charset="-120"/>
              </a:rPr>
              <a:t>Not the model. The system.</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F1729"/>
        </a:solidFill>
        <a:effectLst/>
      </p:bgPr>
    </p:bg>
    <p:spTree>
      <p:nvGrpSpPr>
        <p:cNvPr id="1" name=""/>
        <p:cNvGrpSpPr/>
        <p:nvPr/>
      </p:nvGrpSpPr>
      <p:grpSpPr>
        <a:xfrm>
          <a:off x="0" y="0"/>
          <a:ext cx="0" cy="0"/>
          <a:chOff x="0" y="0"/>
          <a:chExt cx="0" cy="0"/>
        </a:xfrm>
      </p:grpSpPr>
      <p:sp>
        <p:nvSpPr>
          <p:cNvPr id="2" name="Shape 0"/>
          <p:cNvSpPr/>
          <p:nvPr/>
        </p:nvSpPr>
        <p:spPr>
          <a:xfrm>
            <a:off x="0" y="0"/>
            <a:ext cx="9144000" cy="164592"/>
          </a:xfrm>
          <a:prstGeom prst="rect">
            <a:avLst/>
          </a:prstGeom>
          <a:solidFill>
            <a:srgbClr val="F78166"/>
          </a:solidFill>
          <a:ln w="12700">
            <a:solidFill>
              <a:srgbClr val="F78166"/>
            </a:solidFill>
            <a:prstDash val="solid"/>
          </a:ln>
        </p:spPr>
        <p:txBody>
          <a:bodyPr/>
          <a:lstStyle/>
          <a:p>
            <a:endParaRPr lang="en-US"/>
          </a:p>
        </p:txBody>
      </p:sp>
      <p:sp>
        <p:nvSpPr>
          <p:cNvPr id="3" name="Shape 1"/>
          <p:cNvSpPr/>
          <p:nvPr/>
        </p:nvSpPr>
        <p:spPr>
          <a:xfrm>
            <a:off x="0" y="4978908"/>
            <a:ext cx="9144000" cy="164592"/>
          </a:xfrm>
          <a:prstGeom prst="rect">
            <a:avLst/>
          </a:prstGeom>
          <a:solidFill>
            <a:srgbClr val="4F9DE6"/>
          </a:solidFill>
          <a:ln w="12700">
            <a:solidFill>
              <a:srgbClr val="4F9DE6"/>
            </a:solidFill>
            <a:prstDash val="solid"/>
          </a:ln>
        </p:spPr>
        <p:txBody>
          <a:bodyPr/>
          <a:lstStyle/>
          <a:p>
            <a:endParaRPr lang="en-US"/>
          </a:p>
        </p:txBody>
      </p:sp>
      <p:pic>
        <p:nvPicPr>
          <p:cNvPr id="4" name="Image 0" descr="preencoded.png"/>
          <p:cNvPicPr>
            <a:picLocks noChangeAspect="1"/>
          </p:cNvPicPr>
          <p:nvPr/>
        </p:nvPicPr>
        <p:blipFill>
          <a:blip r:embed="rId3"/>
          <a:stretch>
            <a:fillRect/>
          </a:stretch>
        </p:blipFill>
        <p:spPr>
          <a:xfrm>
            <a:off x="548640" y="1417320"/>
            <a:ext cx="914400" cy="914400"/>
          </a:xfrm>
          <a:prstGeom prst="rect">
            <a:avLst/>
          </a:prstGeom>
        </p:spPr>
      </p:pic>
      <p:sp>
        <p:nvSpPr>
          <p:cNvPr id="5" name="Text 2"/>
          <p:cNvSpPr/>
          <p:nvPr/>
        </p:nvSpPr>
        <p:spPr>
          <a:xfrm>
            <a:off x="1645920" y="1463040"/>
            <a:ext cx="8229600" cy="365760"/>
          </a:xfrm>
          <a:prstGeom prst="rect">
            <a:avLst/>
          </a:prstGeom>
          <a:noFill/>
          <a:ln/>
        </p:spPr>
        <p:txBody>
          <a:bodyPr wrap="square" lIns="0" tIns="0" rIns="0" bIns="0" rtlCol="0" anchor="ctr"/>
          <a:lstStyle/>
          <a:p>
            <a:pPr marL="0" indent="0">
              <a:buNone/>
            </a:pPr>
            <a:r>
              <a:rPr lang="en-US" sz="1300" b="1" kern="0" spc="600" dirty="0">
                <a:solidFill>
                  <a:srgbClr val="FFD166"/>
                </a:solidFill>
                <a:latin typeface="Calibri" pitchFamily="34" charset="0"/>
                <a:ea typeface="Calibri" pitchFamily="34" charset="-122"/>
                <a:cs typeface="Calibri" pitchFamily="34" charset="-120"/>
              </a:rPr>
              <a:t>PART TWO</a:t>
            </a:r>
            <a:endParaRPr lang="en-US" sz="1300" dirty="0"/>
          </a:p>
        </p:txBody>
      </p:sp>
      <p:sp>
        <p:nvSpPr>
          <p:cNvPr id="6" name="Text 3"/>
          <p:cNvSpPr/>
          <p:nvPr/>
        </p:nvSpPr>
        <p:spPr>
          <a:xfrm>
            <a:off x="1645920" y="1828800"/>
            <a:ext cx="8229600" cy="731520"/>
          </a:xfrm>
          <a:prstGeom prst="rect">
            <a:avLst/>
          </a:prstGeom>
          <a:noFill/>
          <a:ln/>
        </p:spPr>
        <p:txBody>
          <a:bodyPr wrap="square" lIns="0" tIns="0" rIns="0" bIns="0" rtlCol="0" anchor="ctr"/>
          <a:lstStyle/>
          <a:p>
            <a:pPr marL="0" indent="0">
              <a:buNone/>
            </a:pPr>
            <a:r>
              <a:rPr lang="en-US" sz="4800" b="1" dirty="0">
                <a:solidFill>
                  <a:srgbClr val="FFFFFF"/>
                </a:solidFill>
                <a:latin typeface="Calibri" pitchFamily="34" charset="0"/>
                <a:ea typeface="Calibri" pitchFamily="34" charset="-122"/>
                <a:cs typeface="Calibri" pitchFamily="34" charset="-120"/>
              </a:rPr>
              <a:t>Live Demo</a:t>
            </a:r>
            <a:endParaRPr lang="en-US" sz="4800" dirty="0"/>
          </a:p>
        </p:txBody>
      </p:sp>
      <p:sp>
        <p:nvSpPr>
          <p:cNvPr id="7" name="Text 4"/>
          <p:cNvSpPr/>
          <p:nvPr/>
        </p:nvSpPr>
        <p:spPr>
          <a:xfrm>
            <a:off x="548640" y="3017520"/>
            <a:ext cx="8229600" cy="411480"/>
          </a:xfrm>
          <a:prstGeom prst="rect">
            <a:avLst/>
          </a:prstGeom>
          <a:noFill/>
          <a:ln/>
        </p:spPr>
        <p:txBody>
          <a:bodyPr wrap="square" lIns="0" tIns="0" rIns="0" bIns="0" rtlCol="0" anchor="ctr"/>
          <a:lstStyle/>
          <a:p>
            <a:pPr marL="0" indent="0">
              <a:buNone/>
            </a:pPr>
            <a:r>
              <a:rPr lang="en-US" sz="1800" i="1" dirty="0">
                <a:solidFill>
                  <a:srgbClr val="4F9DE6"/>
                </a:solidFill>
                <a:latin typeface="Calibri" pitchFamily="34" charset="0"/>
                <a:ea typeface="Calibri" pitchFamily="34" charset="-122"/>
                <a:cs typeface="Calibri" pitchFamily="34" charset="-120"/>
              </a:rPr>
              <a:t>Task Library · .NET 10 + React + Postgres + Azure OpenAI</a:t>
            </a:r>
            <a:endParaRPr lang="en-US" sz="1800" dirty="0"/>
          </a:p>
        </p:txBody>
      </p:sp>
      <p:sp>
        <p:nvSpPr>
          <p:cNvPr id="8" name="Text 5"/>
          <p:cNvSpPr/>
          <p:nvPr/>
        </p:nvSpPr>
        <p:spPr>
          <a:xfrm>
            <a:off x="548640" y="3474720"/>
            <a:ext cx="8229600" cy="411480"/>
          </a:xfrm>
          <a:prstGeom prst="rect">
            <a:avLst/>
          </a:prstGeom>
          <a:noFill/>
          <a:ln/>
        </p:spPr>
        <p:txBody>
          <a:bodyPr wrap="square" lIns="0" tIns="0" rIns="0" bIns="0" rtlCol="0" anchor="ctr"/>
          <a:lstStyle/>
          <a:p>
            <a:pPr marL="0" indent="0">
              <a:buNone/>
            </a:pPr>
            <a:r>
              <a:rPr lang="en-US" sz="1400" dirty="0">
                <a:solidFill>
                  <a:srgbClr val="94A3B8"/>
                </a:solidFill>
                <a:latin typeface="Calibri" pitchFamily="34" charset="0"/>
                <a:ea typeface="Calibri" pitchFamily="34" charset="-122"/>
                <a:cs typeface="Calibri" pitchFamily="34" charset="-120"/>
              </a:rPr>
              <a:t>From “blank slate” to deployed — narrated end to end.</a:t>
            </a:r>
            <a:endParaRPr lang="en-US" sz="1400" dirty="0"/>
          </a:p>
        </p:txBody>
      </p:sp>
      <p:sp>
        <p:nvSpPr>
          <p:cNvPr id="9" name="Shape 6"/>
          <p:cNvSpPr/>
          <p:nvPr/>
        </p:nvSpPr>
        <p:spPr>
          <a:xfrm>
            <a:off x="548640" y="4160520"/>
            <a:ext cx="1645920" cy="502920"/>
          </a:xfrm>
          <a:prstGeom prst="rect">
            <a:avLst/>
          </a:prstGeom>
          <a:solidFill>
            <a:srgbClr val="F78166"/>
          </a:solidFill>
          <a:ln w="12700">
            <a:solidFill>
              <a:srgbClr val="F78166"/>
            </a:solidFill>
            <a:prstDash val="solid"/>
          </a:ln>
        </p:spPr>
        <p:txBody>
          <a:bodyPr/>
          <a:lstStyle/>
          <a:p>
            <a:endParaRPr lang="en-US"/>
          </a:p>
        </p:txBody>
      </p:sp>
      <p:sp>
        <p:nvSpPr>
          <p:cNvPr id="10" name="Text 7"/>
          <p:cNvSpPr/>
          <p:nvPr/>
        </p:nvSpPr>
        <p:spPr>
          <a:xfrm>
            <a:off x="548640" y="4160520"/>
            <a:ext cx="1645920" cy="502920"/>
          </a:xfrm>
          <a:prstGeom prst="rect">
            <a:avLst/>
          </a:prstGeom>
          <a:noFill/>
          <a:ln/>
        </p:spPr>
        <p:txBody>
          <a:bodyPr wrap="square" lIns="0" tIns="0" rIns="0" bIns="0" rtlCol="0" anchor="ctr"/>
          <a:lstStyle/>
          <a:p>
            <a:pPr marL="0" indent="0" algn="ctr">
              <a:buNone/>
            </a:pPr>
            <a:r>
              <a:rPr lang="en-US" sz="1300" b="1" kern="0" spc="300" dirty="0">
                <a:solidFill>
                  <a:srgbClr val="FFFFFF"/>
                </a:solidFill>
                <a:latin typeface="Calibri" pitchFamily="34" charset="0"/>
                <a:ea typeface="Calibri" pitchFamily="34" charset="-122"/>
                <a:cs typeface="Calibri" pitchFamily="34" charset="-120"/>
              </a:rPr>
              <a:t>~12 MINUTES</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F78166"/>
          </a:solidFill>
          <a:ln w="12700">
            <a:solidFill>
              <a:srgbClr val="F78166"/>
            </a:solidFill>
            <a:prstDash val="solid"/>
          </a:ln>
        </p:spPr>
        <p:txBody>
          <a:bodyPr/>
          <a:lstStyle/>
          <a:p>
            <a:endParaRPr lang="en-US"/>
          </a:p>
        </p:txBody>
      </p:sp>
      <p:sp>
        <p:nvSpPr>
          <p:cNvPr id="3" name="Text 1"/>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400" dirty="0">
                <a:solidFill>
                  <a:srgbClr val="F78166"/>
                </a:solidFill>
                <a:latin typeface="Calibri" pitchFamily="34" charset="0"/>
                <a:ea typeface="Calibri" pitchFamily="34" charset="-122"/>
                <a:cs typeface="Calibri" pitchFamily="34" charset="-120"/>
              </a:rPr>
              <a:t>WHAT YOU'LL SEE</a:t>
            </a:r>
            <a:endParaRPr lang="en-US" sz="1100" dirty="0"/>
          </a:p>
        </p:txBody>
      </p:sp>
      <p:sp>
        <p:nvSpPr>
          <p:cNvPr id="4" name="Text 2"/>
          <p:cNvSpPr/>
          <p:nvPr/>
        </p:nvSpPr>
        <p:spPr>
          <a:xfrm>
            <a:off x="548640" y="502920"/>
            <a:ext cx="8229600" cy="685800"/>
          </a:xfrm>
          <a:prstGeom prst="rect">
            <a:avLst/>
          </a:prstGeom>
          <a:noFill/>
          <a:ln/>
        </p:spPr>
        <p:txBody>
          <a:bodyPr wrap="square" lIns="0" tIns="0" rIns="0" bIns="0" rtlCol="0" anchor="ctr"/>
          <a:lstStyle/>
          <a:p>
            <a:pPr marL="0" indent="0">
              <a:buNone/>
            </a:pPr>
            <a:r>
              <a:rPr lang="en-US" sz="3000" b="1" dirty="0">
                <a:solidFill>
                  <a:srgbClr val="1E293B"/>
                </a:solidFill>
                <a:latin typeface="Calibri" pitchFamily="34" charset="0"/>
                <a:ea typeface="Calibri" pitchFamily="34" charset="-122"/>
                <a:cs typeface="Calibri" pitchFamily="34" charset="-120"/>
              </a:rPr>
              <a:t>Demo walkthrough</a:t>
            </a:r>
            <a:endParaRPr lang="en-US" sz="3000" dirty="0"/>
          </a:p>
        </p:txBody>
      </p:sp>
      <p:sp>
        <p:nvSpPr>
          <p:cNvPr id="5" name="Shape 3"/>
          <p:cNvSpPr/>
          <p:nvPr/>
        </p:nvSpPr>
        <p:spPr>
          <a:xfrm>
            <a:off x="548640" y="1371600"/>
            <a:ext cx="2606040" cy="132588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6" name="Shape 4"/>
          <p:cNvSpPr/>
          <p:nvPr/>
        </p:nvSpPr>
        <p:spPr>
          <a:xfrm>
            <a:off x="731520" y="1536192"/>
            <a:ext cx="457200" cy="457200"/>
          </a:xfrm>
          <a:prstGeom prst="ellipse">
            <a:avLst/>
          </a:prstGeom>
          <a:solidFill>
            <a:srgbClr val="F78166"/>
          </a:solidFill>
          <a:ln w="12700">
            <a:solidFill>
              <a:srgbClr val="F78166"/>
            </a:solidFill>
            <a:prstDash val="solid"/>
          </a:ln>
        </p:spPr>
        <p:txBody>
          <a:bodyPr/>
          <a:lstStyle/>
          <a:p>
            <a:endParaRPr lang="en-US"/>
          </a:p>
        </p:txBody>
      </p:sp>
      <p:sp>
        <p:nvSpPr>
          <p:cNvPr id="7" name="Text 5"/>
          <p:cNvSpPr/>
          <p:nvPr/>
        </p:nvSpPr>
        <p:spPr>
          <a:xfrm>
            <a:off x="731520" y="1536192"/>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pic>
        <p:nvPicPr>
          <p:cNvPr id="8" name="Image 0" descr="preencoded.png"/>
          <p:cNvPicPr>
            <a:picLocks noChangeAspect="1"/>
          </p:cNvPicPr>
          <p:nvPr/>
        </p:nvPicPr>
        <p:blipFill>
          <a:blip r:embed="rId3"/>
          <a:stretch>
            <a:fillRect/>
          </a:stretch>
        </p:blipFill>
        <p:spPr>
          <a:xfrm>
            <a:off x="2606040" y="1572768"/>
            <a:ext cx="365760" cy="365760"/>
          </a:xfrm>
          <a:prstGeom prst="rect">
            <a:avLst/>
          </a:prstGeom>
        </p:spPr>
      </p:pic>
      <p:sp>
        <p:nvSpPr>
          <p:cNvPr id="9" name="Text 6"/>
          <p:cNvSpPr/>
          <p:nvPr/>
        </p:nvSpPr>
        <p:spPr>
          <a:xfrm>
            <a:off x="731520" y="2029968"/>
            <a:ext cx="2240280" cy="274320"/>
          </a:xfrm>
          <a:prstGeom prst="rect">
            <a:avLst/>
          </a:prstGeom>
          <a:noFill/>
          <a:ln/>
        </p:spPr>
        <p:txBody>
          <a:bodyPr wrap="square" lIns="0" tIns="0" rIns="0" bIns="0" rtlCol="0" anchor="ctr"/>
          <a:lstStyle/>
          <a:p>
            <a:pPr marL="0" indent="0">
              <a:buNone/>
            </a:pPr>
            <a:r>
              <a:rPr lang="en-US" sz="1200" b="1" dirty="0">
                <a:solidFill>
                  <a:srgbClr val="0B1F3A"/>
                </a:solidFill>
                <a:latin typeface="Consolas" pitchFamily="34" charset="0"/>
                <a:ea typeface="Consolas" pitchFamily="34" charset="-122"/>
                <a:cs typeface="Consolas" pitchFamily="34" charset="-120"/>
              </a:rPr>
              <a:t>Set the scene</a:t>
            </a:r>
            <a:endParaRPr lang="en-US" sz="1200" dirty="0"/>
          </a:p>
        </p:txBody>
      </p:sp>
      <p:sp>
        <p:nvSpPr>
          <p:cNvPr id="10" name="Text 7"/>
          <p:cNvSpPr/>
          <p:nvPr/>
        </p:nvSpPr>
        <p:spPr>
          <a:xfrm>
            <a:off x="731520" y="2304288"/>
            <a:ext cx="2240280" cy="36576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.github/ folder, instructions, agents, Azure Skills plugin</a:t>
            </a:r>
            <a:endParaRPr lang="en-US" sz="1000" dirty="0"/>
          </a:p>
        </p:txBody>
      </p:sp>
      <p:sp>
        <p:nvSpPr>
          <p:cNvPr id="11" name="Shape 8"/>
          <p:cNvSpPr/>
          <p:nvPr/>
        </p:nvSpPr>
        <p:spPr>
          <a:xfrm>
            <a:off x="3319272" y="1371600"/>
            <a:ext cx="2606040" cy="132588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12" name="Shape 9"/>
          <p:cNvSpPr/>
          <p:nvPr/>
        </p:nvSpPr>
        <p:spPr>
          <a:xfrm>
            <a:off x="3502152" y="1536192"/>
            <a:ext cx="457200" cy="457200"/>
          </a:xfrm>
          <a:prstGeom prst="ellipse">
            <a:avLst/>
          </a:prstGeom>
          <a:solidFill>
            <a:srgbClr val="F78166"/>
          </a:solidFill>
          <a:ln w="12700">
            <a:solidFill>
              <a:srgbClr val="F78166"/>
            </a:solidFill>
            <a:prstDash val="solid"/>
          </a:ln>
        </p:spPr>
        <p:txBody>
          <a:bodyPr/>
          <a:lstStyle/>
          <a:p>
            <a:endParaRPr lang="en-US"/>
          </a:p>
        </p:txBody>
      </p:sp>
      <p:sp>
        <p:nvSpPr>
          <p:cNvPr id="13" name="Text 10"/>
          <p:cNvSpPr/>
          <p:nvPr/>
        </p:nvSpPr>
        <p:spPr>
          <a:xfrm>
            <a:off x="3502152" y="1536192"/>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pic>
        <p:nvPicPr>
          <p:cNvPr id="14" name="Image 1" descr="preencoded.png"/>
          <p:cNvPicPr>
            <a:picLocks noChangeAspect="1"/>
          </p:cNvPicPr>
          <p:nvPr/>
        </p:nvPicPr>
        <p:blipFill>
          <a:blip r:embed="rId4"/>
          <a:stretch>
            <a:fillRect/>
          </a:stretch>
        </p:blipFill>
        <p:spPr>
          <a:xfrm>
            <a:off x="5376672" y="1572768"/>
            <a:ext cx="365760" cy="365760"/>
          </a:xfrm>
          <a:prstGeom prst="rect">
            <a:avLst/>
          </a:prstGeom>
        </p:spPr>
      </p:pic>
      <p:sp>
        <p:nvSpPr>
          <p:cNvPr id="15" name="Text 11"/>
          <p:cNvSpPr/>
          <p:nvPr/>
        </p:nvSpPr>
        <p:spPr>
          <a:xfrm>
            <a:off x="3502152" y="2029968"/>
            <a:ext cx="2240280" cy="274320"/>
          </a:xfrm>
          <a:prstGeom prst="rect">
            <a:avLst/>
          </a:prstGeom>
          <a:noFill/>
          <a:ln/>
        </p:spPr>
        <p:txBody>
          <a:bodyPr wrap="square" lIns="0" tIns="0" rIns="0" bIns="0" rtlCol="0" anchor="ctr"/>
          <a:lstStyle/>
          <a:p>
            <a:pPr marL="0" indent="0">
              <a:buNone/>
            </a:pPr>
            <a:r>
              <a:rPr lang="en-US" sz="1200" b="1" dirty="0">
                <a:solidFill>
                  <a:srgbClr val="0B1F3A"/>
                </a:solidFill>
                <a:latin typeface="Consolas" pitchFamily="34" charset="0"/>
                <a:ea typeface="Consolas" pitchFamily="34" charset="-122"/>
                <a:cs typeface="Consolas" pitchFamily="34" charset="-120"/>
              </a:rPr>
              <a:t>azure-prepare</a:t>
            </a:r>
            <a:endParaRPr lang="en-US" sz="1200" dirty="0"/>
          </a:p>
        </p:txBody>
      </p:sp>
      <p:sp>
        <p:nvSpPr>
          <p:cNvPr id="16" name="Text 12"/>
          <p:cNvSpPr/>
          <p:nvPr/>
        </p:nvSpPr>
        <p:spPr>
          <a:xfrm>
            <a:off x="3502152" y="2304288"/>
            <a:ext cx="2240280" cy="36576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Scans the code, generates Dockerfile + azure.yaml + Bicep</a:t>
            </a:r>
            <a:endParaRPr lang="en-US" sz="1000" dirty="0"/>
          </a:p>
        </p:txBody>
      </p:sp>
      <p:sp>
        <p:nvSpPr>
          <p:cNvPr id="17" name="Shape 13"/>
          <p:cNvSpPr/>
          <p:nvPr/>
        </p:nvSpPr>
        <p:spPr>
          <a:xfrm>
            <a:off x="6089904" y="1371600"/>
            <a:ext cx="2606040" cy="132588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18" name="Shape 14"/>
          <p:cNvSpPr/>
          <p:nvPr/>
        </p:nvSpPr>
        <p:spPr>
          <a:xfrm>
            <a:off x="6272784" y="1536192"/>
            <a:ext cx="457200" cy="457200"/>
          </a:xfrm>
          <a:prstGeom prst="ellipse">
            <a:avLst/>
          </a:prstGeom>
          <a:solidFill>
            <a:srgbClr val="F78166"/>
          </a:solidFill>
          <a:ln w="12700">
            <a:solidFill>
              <a:srgbClr val="F78166"/>
            </a:solidFill>
            <a:prstDash val="solid"/>
          </a:ln>
        </p:spPr>
        <p:txBody>
          <a:bodyPr/>
          <a:lstStyle/>
          <a:p>
            <a:endParaRPr lang="en-US"/>
          </a:p>
        </p:txBody>
      </p:sp>
      <p:sp>
        <p:nvSpPr>
          <p:cNvPr id="19" name="Text 15"/>
          <p:cNvSpPr/>
          <p:nvPr/>
        </p:nvSpPr>
        <p:spPr>
          <a:xfrm>
            <a:off x="6272784" y="1536192"/>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pic>
        <p:nvPicPr>
          <p:cNvPr id="20" name="Image 2" descr="preencoded.png"/>
          <p:cNvPicPr>
            <a:picLocks noChangeAspect="1"/>
          </p:cNvPicPr>
          <p:nvPr/>
        </p:nvPicPr>
        <p:blipFill>
          <a:blip r:embed="rId5"/>
          <a:stretch>
            <a:fillRect/>
          </a:stretch>
        </p:blipFill>
        <p:spPr>
          <a:xfrm>
            <a:off x="8147304" y="1572768"/>
            <a:ext cx="365760" cy="365760"/>
          </a:xfrm>
          <a:prstGeom prst="rect">
            <a:avLst/>
          </a:prstGeom>
        </p:spPr>
      </p:pic>
      <p:sp>
        <p:nvSpPr>
          <p:cNvPr id="21" name="Text 16"/>
          <p:cNvSpPr/>
          <p:nvPr/>
        </p:nvSpPr>
        <p:spPr>
          <a:xfrm>
            <a:off x="6272784" y="2029968"/>
            <a:ext cx="2240280" cy="274320"/>
          </a:xfrm>
          <a:prstGeom prst="rect">
            <a:avLst/>
          </a:prstGeom>
          <a:noFill/>
          <a:ln/>
        </p:spPr>
        <p:txBody>
          <a:bodyPr wrap="square" lIns="0" tIns="0" rIns="0" bIns="0" rtlCol="0" anchor="ctr"/>
          <a:lstStyle/>
          <a:p>
            <a:pPr marL="0" indent="0">
              <a:buNone/>
            </a:pPr>
            <a:r>
              <a:rPr lang="en-US" sz="1200" b="1" dirty="0">
                <a:solidFill>
                  <a:srgbClr val="0B1F3A"/>
                </a:solidFill>
                <a:latin typeface="Consolas" pitchFamily="34" charset="0"/>
                <a:ea typeface="Consolas" pitchFamily="34" charset="-122"/>
                <a:cs typeface="Consolas" pitchFamily="34" charset="-120"/>
              </a:rPr>
              <a:t>azure-validate</a:t>
            </a:r>
            <a:endParaRPr lang="en-US" sz="1200" dirty="0"/>
          </a:p>
        </p:txBody>
      </p:sp>
      <p:sp>
        <p:nvSpPr>
          <p:cNvPr id="22" name="Text 17"/>
          <p:cNvSpPr/>
          <p:nvPr/>
        </p:nvSpPr>
        <p:spPr>
          <a:xfrm>
            <a:off x="6272784" y="2304288"/>
            <a:ext cx="2240280" cy="36576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Quotas · RBAC · naming · region availability — pre-flight</a:t>
            </a:r>
            <a:endParaRPr lang="en-US" sz="1000" dirty="0"/>
          </a:p>
        </p:txBody>
      </p:sp>
      <p:sp>
        <p:nvSpPr>
          <p:cNvPr id="23" name="Shape 18"/>
          <p:cNvSpPr/>
          <p:nvPr/>
        </p:nvSpPr>
        <p:spPr>
          <a:xfrm>
            <a:off x="548640" y="2862072"/>
            <a:ext cx="2606040" cy="132588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24" name="Shape 19"/>
          <p:cNvSpPr/>
          <p:nvPr/>
        </p:nvSpPr>
        <p:spPr>
          <a:xfrm>
            <a:off x="731520" y="3026664"/>
            <a:ext cx="457200" cy="457200"/>
          </a:xfrm>
          <a:prstGeom prst="ellipse">
            <a:avLst/>
          </a:prstGeom>
          <a:solidFill>
            <a:srgbClr val="F78166"/>
          </a:solidFill>
          <a:ln w="12700">
            <a:solidFill>
              <a:srgbClr val="F78166"/>
            </a:solidFill>
            <a:prstDash val="solid"/>
          </a:ln>
        </p:spPr>
        <p:txBody>
          <a:bodyPr/>
          <a:lstStyle/>
          <a:p>
            <a:endParaRPr lang="en-US"/>
          </a:p>
        </p:txBody>
      </p:sp>
      <p:sp>
        <p:nvSpPr>
          <p:cNvPr id="25" name="Text 20"/>
          <p:cNvSpPr/>
          <p:nvPr/>
        </p:nvSpPr>
        <p:spPr>
          <a:xfrm>
            <a:off x="731520" y="3026664"/>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pic>
        <p:nvPicPr>
          <p:cNvPr id="26" name="Image 3" descr="preencoded.png"/>
          <p:cNvPicPr>
            <a:picLocks noChangeAspect="1"/>
          </p:cNvPicPr>
          <p:nvPr/>
        </p:nvPicPr>
        <p:blipFill>
          <a:blip r:embed="rId6"/>
          <a:stretch>
            <a:fillRect/>
          </a:stretch>
        </p:blipFill>
        <p:spPr>
          <a:xfrm>
            <a:off x="2606040" y="3063240"/>
            <a:ext cx="365760" cy="365760"/>
          </a:xfrm>
          <a:prstGeom prst="rect">
            <a:avLst/>
          </a:prstGeom>
        </p:spPr>
      </p:pic>
      <p:sp>
        <p:nvSpPr>
          <p:cNvPr id="27" name="Text 21"/>
          <p:cNvSpPr/>
          <p:nvPr/>
        </p:nvSpPr>
        <p:spPr>
          <a:xfrm>
            <a:off x="731520" y="3520440"/>
            <a:ext cx="2240280" cy="274320"/>
          </a:xfrm>
          <a:prstGeom prst="rect">
            <a:avLst/>
          </a:prstGeom>
          <a:noFill/>
          <a:ln/>
        </p:spPr>
        <p:txBody>
          <a:bodyPr wrap="square" lIns="0" tIns="0" rIns="0" bIns="0" rtlCol="0" anchor="ctr"/>
          <a:lstStyle/>
          <a:p>
            <a:pPr marL="0" indent="0">
              <a:buNone/>
            </a:pPr>
            <a:r>
              <a:rPr lang="en-US" sz="1200" b="1" dirty="0">
                <a:solidFill>
                  <a:srgbClr val="0B1F3A"/>
                </a:solidFill>
                <a:latin typeface="Consolas" pitchFamily="34" charset="0"/>
                <a:ea typeface="Consolas" pitchFamily="34" charset="-122"/>
                <a:cs typeface="Consolas" pitchFamily="34" charset="-120"/>
              </a:rPr>
              <a:t>azure-deploy</a:t>
            </a:r>
            <a:endParaRPr lang="en-US" sz="1200" dirty="0"/>
          </a:p>
        </p:txBody>
      </p:sp>
      <p:sp>
        <p:nvSpPr>
          <p:cNvPr id="28" name="Text 22"/>
          <p:cNvSpPr/>
          <p:nvPr/>
        </p:nvSpPr>
        <p:spPr>
          <a:xfrm>
            <a:off x="731520" y="3794760"/>
            <a:ext cx="2240280" cy="36576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azd up — provisions infra, builds, deploys, wires up MI</a:t>
            </a:r>
            <a:endParaRPr lang="en-US" sz="1000" dirty="0"/>
          </a:p>
        </p:txBody>
      </p:sp>
      <p:sp>
        <p:nvSpPr>
          <p:cNvPr id="29" name="Shape 23"/>
          <p:cNvSpPr/>
          <p:nvPr/>
        </p:nvSpPr>
        <p:spPr>
          <a:xfrm>
            <a:off x="3319272" y="2862072"/>
            <a:ext cx="2606040" cy="132588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30" name="Shape 24"/>
          <p:cNvSpPr/>
          <p:nvPr/>
        </p:nvSpPr>
        <p:spPr>
          <a:xfrm>
            <a:off x="3502152" y="3026664"/>
            <a:ext cx="457200" cy="457200"/>
          </a:xfrm>
          <a:prstGeom prst="ellipse">
            <a:avLst/>
          </a:prstGeom>
          <a:solidFill>
            <a:srgbClr val="F78166"/>
          </a:solidFill>
          <a:ln w="12700">
            <a:solidFill>
              <a:srgbClr val="F78166"/>
            </a:solidFill>
            <a:prstDash val="solid"/>
          </a:ln>
        </p:spPr>
        <p:txBody>
          <a:bodyPr/>
          <a:lstStyle/>
          <a:p>
            <a:endParaRPr lang="en-US"/>
          </a:p>
        </p:txBody>
      </p:sp>
      <p:sp>
        <p:nvSpPr>
          <p:cNvPr id="31" name="Text 25"/>
          <p:cNvSpPr/>
          <p:nvPr/>
        </p:nvSpPr>
        <p:spPr>
          <a:xfrm>
            <a:off x="3502152" y="3026664"/>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pic>
        <p:nvPicPr>
          <p:cNvPr id="32" name="Image 4" descr="preencoded.png"/>
          <p:cNvPicPr>
            <a:picLocks noChangeAspect="1"/>
          </p:cNvPicPr>
          <p:nvPr/>
        </p:nvPicPr>
        <p:blipFill>
          <a:blip r:embed="rId7"/>
          <a:stretch>
            <a:fillRect/>
          </a:stretch>
        </p:blipFill>
        <p:spPr>
          <a:xfrm>
            <a:off x="5376672" y="3063240"/>
            <a:ext cx="365760" cy="365760"/>
          </a:xfrm>
          <a:prstGeom prst="rect">
            <a:avLst/>
          </a:prstGeom>
        </p:spPr>
      </p:pic>
      <p:sp>
        <p:nvSpPr>
          <p:cNvPr id="33" name="Text 26"/>
          <p:cNvSpPr/>
          <p:nvPr/>
        </p:nvSpPr>
        <p:spPr>
          <a:xfrm>
            <a:off x="3502152" y="3520440"/>
            <a:ext cx="2240280" cy="274320"/>
          </a:xfrm>
          <a:prstGeom prst="rect">
            <a:avLst/>
          </a:prstGeom>
          <a:noFill/>
          <a:ln/>
        </p:spPr>
        <p:txBody>
          <a:bodyPr wrap="square" lIns="0" tIns="0" rIns="0" bIns="0" rtlCol="0" anchor="ctr"/>
          <a:lstStyle/>
          <a:p>
            <a:pPr marL="0" indent="0">
              <a:buNone/>
            </a:pPr>
            <a:r>
              <a:rPr lang="en-US" sz="1200" b="1" dirty="0">
                <a:solidFill>
                  <a:srgbClr val="0B1F3A"/>
                </a:solidFill>
                <a:latin typeface="Consolas" pitchFamily="34" charset="0"/>
                <a:ea typeface="Consolas" pitchFamily="34" charset="-122"/>
                <a:cs typeface="Consolas" pitchFamily="34" charset="-120"/>
              </a:rPr>
              <a:t>Operate (@azure)</a:t>
            </a:r>
            <a:endParaRPr lang="en-US" sz="1200" dirty="0"/>
          </a:p>
        </p:txBody>
      </p:sp>
      <p:sp>
        <p:nvSpPr>
          <p:cNvPr id="34" name="Text 27"/>
          <p:cNvSpPr/>
          <p:nvPr/>
        </p:nvSpPr>
        <p:spPr>
          <a:xfrm>
            <a:off x="3502152" y="3794760"/>
            <a:ext cx="2240280" cy="36576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Query live resources, App Insights, inspect function app</a:t>
            </a:r>
            <a:endParaRPr lang="en-US" sz="1000" dirty="0"/>
          </a:p>
        </p:txBody>
      </p:sp>
      <p:sp>
        <p:nvSpPr>
          <p:cNvPr id="35" name="Shape 28"/>
          <p:cNvSpPr/>
          <p:nvPr/>
        </p:nvSpPr>
        <p:spPr>
          <a:xfrm>
            <a:off x="6089904" y="2862072"/>
            <a:ext cx="2606040" cy="132588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36" name="Shape 29"/>
          <p:cNvSpPr/>
          <p:nvPr/>
        </p:nvSpPr>
        <p:spPr>
          <a:xfrm>
            <a:off x="6272784" y="3026664"/>
            <a:ext cx="457200" cy="457200"/>
          </a:xfrm>
          <a:prstGeom prst="ellipse">
            <a:avLst/>
          </a:prstGeom>
          <a:solidFill>
            <a:srgbClr val="F78166"/>
          </a:solidFill>
          <a:ln w="12700">
            <a:solidFill>
              <a:srgbClr val="F78166"/>
            </a:solidFill>
            <a:prstDash val="solid"/>
          </a:ln>
        </p:spPr>
        <p:txBody>
          <a:bodyPr/>
          <a:lstStyle/>
          <a:p>
            <a:endParaRPr lang="en-US"/>
          </a:p>
        </p:txBody>
      </p:sp>
      <p:sp>
        <p:nvSpPr>
          <p:cNvPr id="37" name="Text 30"/>
          <p:cNvSpPr/>
          <p:nvPr/>
        </p:nvSpPr>
        <p:spPr>
          <a:xfrm>
            <a:off x="6272784" y="3026664"/>
            <a:ext cx="457200" cy="457200"/>
          </a:xfrm>
          <a:prstGeom prst="rect">
            <a:avLst/>
          </a:prstGeom>
          <a:noFill/>
          <a:ln/>
        </p:spPr>
        <p:txBody>
          <a:bodyPr wrap="square" lIns="0" tIns="0" rIns="0" bIns="0"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pic>
        <p:nvPicPr>
          <p:cNvPr id="38" name="Image 5" descr="preencoded.png"/>
          <p:cNvPicPr>
            <a:picLocks noChangeAspect="1"/>
          </p:cNvPicPr>
          <p:nvPr/>
        </p:nvPicPr>
        <p:blipFill>
          <a:blip r:embed="rId8"/>
          <a:stretch>
            <a:fillRect/>
          </a:stretch>
        </p:blipFill>
        <p:spPr>
          <a:xfrm>
            <a:off x="8147304" y="3063240"/>
            <a:ext cx="365760" cy="365760"/>
          </a:xfrm>
          <a:prstGeom prst="rect">
            <a:avLst/>
          </a:prstGeom>
        </p:spPr>
      </p:pic>
      <p:sp>
        <p:nvSpPr>
          <p:cNvPr id="39" name="Text 31"/>
          <p:cNvSpPr/>
          <p:nvPr/>
        </p:nvSpPr>
        <p:spPr>
          <a:xfrm>
            <a:off x="6272784" y="3520440"/>
            <a:ext cx="2240280" cy="274320"/>
          </a:xfrm>
          <a:prstGeom prst="rect">
            <a:avLst/>
          </a:prstGeom>
          <a:noFill/>
          <a:ln/>
        </p:spPr>
        <p:txBody>
          <a:bodyPr wrap="square" lIns="0" tIns="0" rIns="0" bIns="0" rtlCol="0" anchor="ctr"/>
          <a:lstStyle/>
          <a:p>
            <a:pPr marL="0" indent="0">
              <a:buNone/>
            </a:pPr>
            <a:r>
              <a:rPr lang="en-US" sz="1200" b="1" dirty="0">
                <a:solidFill>
                  <a:srgbClr val="0B1F3A"/>
                </a:solidFill>
                <a:latin typeface="Consolas" pitchFamily="34" charset="0"/>
                <a:ea typeface="Consolas" pitchFamily="34" charset="-122"/>
                <a:cs typeface="Consolas" pitchFamily="34" charset="-120"/>
              </a:rPr>
              <a:t>azure-diagnostics</a:t>
            </a:r>
            <a:endParaRPr lang="en-US" sz="1200" dirty="0"/>
          </a:p>
        </p:txBody>
      </p:sp>
      <p:sp>
        <p:nvSpPr>
          <p:cNvPr id="40" name="Text 32"/>
          <p:cNvSpPr/>
          <p:nvPr/>
        </p:nvSpPr>
        <p:spPr>
          <a:xfrm>
            <a:off x="6272784" y="3794760"/>
            <a:ext cx="2240280" cy="365760"/>
          </a:xfrm>
          <a:prstGeom prst="rect">
            <a:avLst/>
          </a:prstGeom>
          <a:noFill/>
          <a:ln/>
        </p:spPr>
        <p:txBody>
          <a:bodyPr wrap="square" lIns="0" tIns="0" rIns="0" bIns="0" rtlCol="0" anchor="ctr"/>
          <a:lstStyle/>
          <a:p>
            <a:pPr marL="0" indent="0">
              <a:buNone/>
            </a:pPr>
            <a:r>
              <a:rPr lang="en-US" sz="1000" dirty="0">
                <a:solidFill>
                  <a:srgbClr val="1E293B"/>
                </a:solidFill>
                <a:latin typeface="Calibri" pitchFamily="34" charset="0"/>
                <a:ea typeface="Calibri" pitchFamily="34" charset="-122"/>
                <a:cs typeface="Calibri" pitchFamily="34" charset="-120"/>
              </a:rPr>
              <a:t>Troubleshoot with logs, metrics, and KQL</a:t>
            </a:r>
            <a:endParaRPr lang="en-US" sz="1000" dirty="0"/>
          </a:p>
        </p:txBody>
      </p:sp>
      <p:sp>
        <p:nvSpPr>
          <p:cNvPr id="41" name="Shape 33"/>
          <p:cNvSpPr/>
          <p:nvPr/>
        </p:nvSpPr>
        <p:spPr>
          <a:xfrm>
            <a:off x="548640" y="4407408"/>
            <a:ext cx="8046720" cy="365760"/>
          </a:xfrm>
          <a:prstGeom prst="rect">
            <a:avLst/>
          </a:prstGeom>
          <a:solidFill>
            <a:srgbClr val="0B1F3A"/>
          </a:solidFill>
          <a:ln w="12700">
            <a:solidFill>
              <a:srgbClr val="0B1F3A"/>
            </a:solidFill>
            <a:prstDash val="solid"/>
          </a:ln>
        </p:spPr>
        <p:txBody>
          <a:bodyPr/>
          <a:lstStyle/>
          <a:p>
            <a:endParaRPr lang="en-US"/>
          </a:p>
        </p:txBody>
      </p:sp>
      <p:sp>
        <p:nvSpPr>
          <p:cNvPr id="42" name="Text 34"/>
          <p:cNvSpPr/>
          <p:nvPr/>
        </p:nvSpPr>
        <p:spPr>
          <a:xfrm>
            <a:off x="731520" y="4407408"/>
            <a:ext cx="7680960" cy="365760"/>
          </a:xfrm>
          <a:prstGeom prst="rect">
            <a:avLst/>
          </a:prstGeom>
          <a:noFill/>
          <a:ln/>
        </p:spPr>
        <p:txBody>
          <a:bodyPr wrap="square" lIns="0" tIns="0" rIns="0" bIns="0" rtlCol="0" anchor="ctr"/>
          <a:lstStyle/>
          <a:p>
            <a:pPr marL="0" indent="0">
              <a:buNone/>
            </a:pPr>
            <a:r>
              <a:rPr lang="en-US" sz="1200" b="1" i="1" dirty="0">
                <a:solidFill>
                  <a:srgbClr val="FFFFFF"/>
                </a:solidFill>
                <a:latin typeface="Calibri" pitchFamily="34" charset="0"/>
                <a:ea typeface="Calibri" pitchFamily="34" charset="-122"/>
                <a:cs typeface="Calibri" pitchFamily="34" charset="-120"/>
              </a:rPr>
              <a:t>The skill read the codebase — you didn't have to tell it.</a:t>
            </a:r>
            <a:endParaRPr lang="en-US" sz="1200" dirty="0"/>
          </a:p>
        </p:txBody>
      </p:sp>
      <p:sp>
        <p:nvSpPr>
          <p:cNvPr id="43" name="Text 35"/>
          <p:cNvSpPr/>
          <p:nvPr/>
        </p:nvSpPr>
        <p:spPr>
          <a:xfrm>
            <a:off x="548640" y="4864608"/>
            <a:ext cx="64008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Agentic-First with GitHub Copilot  |  Global Azure Columbus 2026</a:t>
            </a:r>
            <a:endParaRPr lang="en-US" sz="900" dirty="0"/>
          </a:p>
        </p:txBody>
      </p:sp>
      <p:sp>
        <p:nvSpPr>
          <p:cNvPr id="44" name="Text 36"/>
          <p:cNvSpPr/>
          <p:nvPr/>
        </p:nvSpPr>
        <p:spPr>
          <a:xfrm>
            <a:off x="8229600" y="4864608"/>
            <a:ext cx="54864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F78166"/>
          </a:solidFill>
          <a:ln w="12700">
            <a:solidFill>
              <a:srgbClr val="F78166"/>
            </a:solidFill>
            <a:prstDash val="solid"/>
          </a:ln>
        </p:spPr>
        <p:txBody>
          <a:bodyPr/>
          <a:lstStyle/>
          <a:p>
            <a:endParaRPr lang="en-US"/>
          </a:p>
        </p:txBody>
      </p:sp>
      <p:sp>
        <p:nvSpPr>
          <p:cNvPr id="3" name="Text 1"/>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400" dirty="0">
                <a:solidFill>
                  <a:srgbClr val="F78166"/>
                </a:solidFill>
                <a:latin typeface="Calibri" pitchFamily="34" charset="0"/>
                <a:ea typeface="Calibri" pitchFamily="34" charset="-122"/>
                <a:cs typeface="Calibri" pitchFamily="34" charset="-120"/>
              </a:rPr>
              <a:t>THE CONTROL PLANE</a:t>
            </a:r>
            <a:endParaRPr lang="en-US" sz="1100" dirty="0"/>
          </a:p>
        </p:txBody>
      </p:sp>
      <p:sp>
        <p:nvSpPr>
          <p:cNvPr id="4" name="Text 2"/>
          <p:cNvSpPr/>
          <p:nvPr/>
        </p:nvSpPr>
        <p:spPr>
          <a:xfrm>
            <a:off x="548640" y="502920"/>
            <a:ext cx="8229600" cy="685800"/>
          </a:xfrm>
          <a:prstGeom prst="rect">
            <a:avLst/>
          </a:prstGeom>
          <a:noFill/>
          <a:ln/>
        </p:spPr>
        <p:txBody>
          <a:bodyPr wrap="square" lIns="0" tIns="0" rIns="0" bIns="0" rtlCol="0" anchor="ctr"/>
          <a:lstStyle/>
          <a:p>
            <a:pPr marL="0" indent="0">
              <a:buNone/>
            </a:pPr>
            <a:r>
              <a:rPr lang="en-US" sz="3000" b="1" dirty="0">
                <a:solidFill>
                  <a:srgbClr val="1E293B"/>
                </a:solidFill>
                <a:latin typeface="Calibri" pitchFamily="34" charset="0"/>
                <a:ea typeface="Calibri" pitchFamily="34" charset="-122"/>
                <a:cs typeface="Calibri" pitchFamily="34" charset="-120"/>
              </a:rPr>
              <a:t>Governance: This isn't blind trust.</a:t>
            </a:r>
            <a:endParaRPr lang="en-US" sz="3000" dirty="0"/>
          </a:p>
        </p:txBody>
      </p:sp>
      <p:sp>
        <p:nvSpPr>
          <p:cNvPr id="5" name="Shape 3"/>
          <p:cNvSpPr/>
          <p:nvPr/>
        </p:nvSpPr>
        <p:spPr>
          <a:xfrm>
            <a:off x="548640" y="1371600"/>
            <a:ext cx="4023360" cy="141732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6" name="Shape 4"/>
          <p:cNvSpPr/>
          <p:nvPr/>
        </p:nvSpPr>
        <p:spPr>
          <a:xfrm>
            <a:off x="548640" y="1371600"/>
            <a:ext cx="73152" cy="1417320"/>
          </a:xfrm>
          <a:prstGeom prst="rect">
            <a:avLst/>
          </a:prstGeom>
          <a:solidFill>
            <a:srgbClr val="4F9DE6"/>
          </a:solidFill>
          <a:ln w="12700">
            <a:solidFill>
              <a:srgbClr val="4F9DE6"/>
            </a:solidFill>
            <a:prstDash val="solid"/>
          </a:ln>
        </p:spPr>
        <p:txBody>
          <a:bodyPr/>
          <a:lstStyle/>
          <a:p>
            <a:endParaRPr lang="en-US"/>
          </a:p>
        </p:txBody>
      </p:sp>
      <p:sp>
        <p:nvSpPr>
          <p:cNvPr id="7" name="Shape 5"/>
          <p:cNvSpPr/>
          <p:nvPr/>
        </p:nvSpPr>
        <p:spPr>
          <a:xfrm>
            <a:off x="822960" y="1645920"/>
            <a:ext cx="502920" cy="502920"/>
          </a:xfrm>
          <a:prstGeom prst="ellipse">
            <a:avLst/>
          </a:prstGeom>
          <a:solidFill>
            <a:srgbClr val="0B1F3A"/>
          </a:solidFill>
          <a:ln w="12700">
            <a:solidFill>
              <a:srgbClr val="0B1F3A"/>
            </a:solidFill>
            <a:prstDash val="solid"/>
          </a:ln>
        </p:spPr>
        <p:txBody>
          <a:bodyPr/>
          <a:lstStyle/>
          <a:p>
            <a:endParaRPr lang="en-US"/>
          </a:p>
        </p:txBody>
      </p:sp>
      <p:pic>
        <p:nvPicPr>
          <p:cNvPr id="8" name="Image 0" descr="preencoded.png"/>
          <p:cNvPicPr>
            <a:picLocks noChangeAspect="1"/>
          </p:cNvPicPr>
          <p:nvPr/>
        </p:nvPicPr>
        <p:blipFill>
          <a:blip r:embed="rId3"/>
          <a:stretch>
            <a:fillRect/>
          </a:stretch>
        </p:blipFill>
        <p:spPr>
          <a:xfrm>
            <a:off x="877824" y="1700784"/>
            <a:ext cx="384048" cy="384048"/>
          </a:xfrm>
          <a:prstGeom prst="rect">
            <a:avLst/>
          </a:prstGeom>
        </p:spPr>
      </p:pic>
      <p:sp>
        <p:nvSpPr>
          <p:cNvPr id="9" name="Text 6"/>
          <p:cNvSpPr/>
          <p:nvPr/>
        </p:nvSpPr>
        <p:spPr>
          <a:xfrm>
            <a:off x="1508760" y="1627632"/>
            <a:ext cx="2926080" cy="45720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Plain text, version-controlled</a:t>
            </a:r>
            <a:endParaRPr lang="en-US" sz="1400" dirty="0"/>
          </a:p>
        </p:txBody>
      </p:sp>
      <p:sp>
        <p:nvSpPr>
          <p:cNvPr id="10" name="Text 7"/>
          <p:cNvSpPr/>
          <p:nvPr/>
        </p:nvSpPr>
        <p:spPr>
          <a:xfrm>
            <a:off x="1508760" y="2084832"/>
            <a:ext cx="2926080" cy="64008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Skills are not a black box. Read them, review them, PR them.</a:t>
            </a:r>
            <a:endParaRPr lang="en-US" sz="1150" dirty="0"/>
          </a:p>
        </p:txBody>
      </p:sp>
      <p:sp>
        <p:nvSpPr>
          <p:cNvPr id="11" name="Shape 8"/>
          <p:cNvSpPr/>
          <p:nvPr/>
        </p:nvSpPr>
        <p:spPr>
          <a:xfrm>
            <a:off x="4754880" y="1371600"/>
            <a:ext cx="4023360" cy="141732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12" name="Shape 9"/>
          <p:cNvSpPr/>
          <p:nvPr/>
        </p:nvSpPr>
        <p:spPr>
          <a:xfrm>
            <a:off x="4754880" y="1371600"/>
            <a:ext cx="73152" cy="1417320"/>
          </a:xfrm>
          <a:prstGeom prst="rect">
            <a:avLst/>
          </a:prstGeom>
          <a:solidFill>
            <a:srgbClr val="4F9DE6"/>
          </a:solidFill>
          <a:ln w="12700">
            <a:solidFill>
              <a:srgbClr val="4F9DE6"/>
            </a:solidFill>
            <a:prstDash val="solid"/>
          </a:ln>
        </p:spPr>
        <p:txBody>
          <a:bodyPr/>
          <a:lstStyle/>
          <a:p>
            <a:endParaRPr lang="en-US"/>
          </a:p>
        </p:txBody>
      </p:sp>
      <p:sp>
        <p:nvSpPr>
          <p:cNvPr id="13" name="Shape 10"/>
          <p:cNvSpPr/>
          <p:nvPr/>
        </p:nvSpPr>
        <p:spPr>
          <a:xfrm>
            <a:off x="5029200" y="1645920"/>
            <a:ext cx="502920" cy="502920"/>
          </a:xfrm>
          <a:prstGeom prst="ellipse">
            <a:avLst/>
          </a:prstGeom>
          <a:solidFill>
            <a:srgbClr val="0B1F3A"/>
          </a:solidFill>
          <a:ln w="12700">
            <a:solidFill>
              <a:srgbClr val="0B1F3A"/>
            </a:solidFill>
            <a:prstDash val="solid"/>
          </a:ln>
        </p:spPr>
        <p:txBody>
          <a:bodyPr/>
          <a:lstStyle/>
          <a:p>
            <a:endParaRPr lang="en-US"/>
          </a:p>
        </p:txBody>
      </p:sp>
      <p:pic>
        <p:nvPicPr>
          <p:cNvPr id="14" name="Image 1" descr="preencoded.png"/>
          <p:cNvPicPr>
            <a:picLocks noChangeAspect="1"/>
          </p:cNvPicPr>
          <p:nvPr/>
        </p:nvPicPr>
        <p:blipFill>
          <a:blip r:embed="rId4"/>
          <a:stretch>
            <a:fillRect/>
          </a:stretch>
        </p:blipFill>
        <p:spPr>
          <a:xfrm>
            <a:off x="5084064" y="1700784"/>
            <a:ext cx="384048" cy="384048"/>
          </a:xfrm>
          <a:prstGeom prst="rect">
            <a:avLst/>
          </a:prstGeom>
        </p:spPr>
      </p:pic>
      <p:sp>
        <p:nvSpPr>
          <p:cNvPr id="15" name="Text 11"/>
          <p:cNvSpPr/>
          <p:nvPr/>
        </p:nvSpPr>
        <p:spPr>
          <a:xfrm>
            <a:off x="5715000" y="1627632"/>
            <a:ext cx="2926080" cy="45720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Org-level policy controls</a:t>
            </a:r>
            <a:endParaRPr lang="en-US" sz="1400" dirty="0"/>
          </a:p>
        </p:txBody>
      </p:sp>
      <p:sp>
        <p:nvSpPr>
          <p:cNvPr id="16" name="Text 12"/>
          <p:cNvSpPr/>
          <p:nvPr/>
        </p:nvSpPr>
        <p:spPr>
          <a:xfrm>
            <a:off x="5715000" y="2084832"/>
            <a:ext cx="2926080" cy="64008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Model policies · allowed agents · MCP server allow-list.</a:t>
            </a:r>
            <a:endParaRPr lang="en-US" sz="1150" dirty="0"/>
          </a:p>
        </p:txBody>
      </p:sp>
      <p:sp>
        <p:nvSpPr>
          <p:cNvPr id="17" name="Shape 13"/>
          <p:cNvSpPr/>
          <p:nvPr/>
        </p:nvSpPr>
        <p:spPr>
          <a:xfrm>
            <a:off x="548640" y="2971800"/>
            <a:ext cx="4023360" cy="141732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18" name="Shape 14"/>
          <p:cNvSpPr/>
          <p:nvPr/>
        </p:nvSpPr>
        <p:spPr>
          <a:xfrm>
            <a:off x="548640" y="2971800"/>
            <a:ext cx="73152" cy="1417320"/>
          </a:xfrm>
          <a:prstGeom prst="rect">
            <a:avLst/>
          </a:prstGeom>
          <a:solidFill>
            <a:srgbClr val="4F9DE6"/>
          </a:solidFill>
          <a:ln w="12700">
            <a:solidFill>
              <a:srgbClr val="4F9DE6"/>
            </a:solidFill>
            <a:prstDash val="solid"/>
          </a:ln>
        </p:spPr>
        <p:txBody>
          <a:bodyPr/>
          <a:lstStyle/>
          <a:p>
            <a:endParaRPr lang="en-US"/>
          </a:p>
        </p:txBody>
      </p:sp>
      <p:sp>
        <p:nvSpPr>
          <p:cNvPr id="19" name="Shape 15"/>
          <p:cNvSpPr/>
          <p:nvPr/>
        </p:nvSpPr>
        <p:spPr>
          <a:xfrm>
            <a:off x="822960" y="3246120"/>
            <a:ext cx="502920" cy="502920"/>
          </a:xfrm>
          <a:prstGeom prst="ellipse">
            <a:avLst/>
          </a:prstGeom>
          <a:solidFill>
            <a:srgbClr val="0B1F3A"/>
          </a:solidFill>
          <a:ln w="12700">
            <a:solidFill>
              <a:srgbClr val="0B1F3A"/>
            </a:solidFill>
            <a:prstDash val="solid"/>
          </a:ln>
        </p:spPr>
        <p:txBody>
          <a:bodyPr/>
          <a:lstStyle/>
          <a:p>
            <a:endParaRPr lang="en-US"/>
          </a:p>
        </p:txBody>
      </p:sp>
      <p:pic>
        <p:nvPicPr>
          <p:cNvPr id="20" name="Image 2" descr="preencoded.png"/>
          <p:cNvPicPr>
            <a:picLocks noChangeAspect="1"/>
          </p:cNvPicPr>
          <p:nvPr/>
        </p:nvPicPr>
        <p:blipFill>
          <a:blip r:embed="rId5"/>
          <a:stretch>
            <a:fillRect/>
          </a:stretch>
        </p:blipFill>
        <p:spPr>
          <a:xfrm>
            <a:off x="877824" y="3300984"/>
            <a:ext cx="384048" cy="384048"/>
          </a:xfrm>
          <a:prstGeom prst="rect">
            <a:avLst/>
          </a:prstGeom>
        </p:spPr>
      </p:pic>
      <p:sp>
        <p:nvSpPr>
          <p:cNvPr id="21" name="Text 16"/>
          <p:cNvSpPr/>
          <p:nvPr/>
        </p:nvSpPr>
        <p:spPr>
          <a:xfrm>
            <a:off x="1508760" y="3227832"/>
            <a:ext cx="2926080" cy="45720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Audit trail of every action</a:t>
            </a:r>
            <a:endParaRPr lang="en-US" sz="1400" dirty="0"/>
          </a:p>
        </p:txBody>
      </p:sp>
      <p:sp>
        <p:nvSpPr>
          <p:cNvPr id="22" name="Text 17"/>
          <p:cNvSpPr/>
          <p:nvPr/>
        </p:nvSpPr>
        <p:spPr>
          <a:xfrm>
            <a:off x="1508760" y="3685032"/>
            <a:ext cx="2926080" cy="64008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actor:Copilot in the GitHub audit log — every agent action.</a:t>
            </a:r>
            <a:endParaRPr lang="en-US" sz="1150" dirty="0"/>
          </a:p>
        </p:txBody>
      </p:sp>
      <p:sp>
        <p:nvSpPr>
          <p:cNvPr id="23" name="Shape 18"/>
          <p:cNvSpPr/>
          <p:nvPr/>
        </p:nvSpPr>
        <p:spPr>
          <a:xfrm>
            <a:off x="4754880" y="2971800"/>
            <a:ext cx="4023360" cy="141732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24" name="Shape 19"/>
          <p:cNvSpPr/>
          <p:nvPr/>
        </p:nvSpPr>
        <p:spPr>
          <a:xfrm>
            <a:off x="4754880" y="2971800"/>
            <a:ext cx="73152" cy="1417320"/>
          </a:xfrm>
          <a:prstGeom prst="rect">
            <a:avLst/>
          </a:prstGeom>
          <a:solidFill>
            <a:srgbClr val="4F9DE6"/>
          </a:solidFill>
          <a:ln w="12700">
            <a:solidFill>
              <a:srgbClr val="4F9DE6"/>
            </a:solidFill>
            <a:prstDash val="solid"/>
          </a:ln>
        </p:spPr>
        <p:txBody>
          <a:bodyPr/>
          <a:lstStyle/>
          <a:p>
            <a:endParaRPr lang="en-US"/>
          </a:p>
        </p:txBody>
      </p:sp>
      <p:sp>
        <p:nvSpPr>
          <p:cNvPr id="25" name="Shape 20"/>
          <p:cNvSpPr/>
          <p:nvPr/>
        </p:nvSpPr>
        <p:spPr>
          <a:xfrm>
            <a:off x="5029200" y="3246120"/>
            <a:ext cx="502920" cy="502920"/>
          </a:xfrm>
          <a:prstGeom prst="ellipse">
            <a:avLst/>
          </a:prstGeom>
          <a:solidFill>
            <a:srgbClr val="0B1F3A"/>
          </a:solidFill>
          <a:ln w="12700">
            <a:solidFill>
              <a:srgbClr val="0B1F3A"/>
            </a:solidFill>
            <a:prstDash val="solid"/>
          </a:ln>
        </p:spPr>
        <p:txBody>
          <a:bodyPr/>
          <a:lstStyle/>
          <a:p>
            <a:endParaRPr lang="en-US"/>
          </a:p>
        </p:txBody>
      </p:sp>
      <p:pic>
        <p:nvPicPr>
          <p:cNvPr id="26" name="Image 3" descr="preencoded.png"/>
          <p:cNvPicPr>
            <a:picLocks noChangeAspect="1"/>
          </p:cNvPicPr>
          <p:nvPr/>
        </p:nvPicPr>
        <p:blipFill>
          <a:blip r:embed="rId6"/>
          <a:stretch>
            <a:fillRect/>
          </a:stretch>
        </p:blipFill>
        <p:spPr>
          <a:xfrm>
            <a:off x="5084064" y="3300984"/>
            <a:ext cx="384048" cy="384048"/>
          </a:xfrm>
          <a:prstGeom prst="rect">
            <a:avLst/>
          </a:prstGeom>
        </p:spPr>
      </p:pic>
      <p:sp>
        <p:nvSpPr>
          <p:cNvPr id="27" name="Text 21"/>
          <p:cNvSpPr/>
          <p:nvPr/>
        </p:nvSpPr>
        <p:spPr>
          <a:xfrm>
            <a:off x="5715000" y="3227832"/>
            <a:ext cx="2926080" cy="457200"/>
          </a:xfrm>
          <a:prstGeom prst="rect">
            <a:avLst/>
          </a:prstGeom>
          <a:noFill/>
          <a:ln/>
        </p:spPr>
        <p:txBody>
          <a:bodyPr wrap="square" lIns="0" tIns="0" rIns="0" bIns="0" rtlCol="0" anchor="ctr"/>
          <a:lstStyle/>
          <a:p>
            <a:pPr marL="0" indent="0">
              <a:buNone/>
            </a:pPr>
            <a:r>
              <a:rPr lang="en-US" sz="1400" b="1" dirty="0">
                <a:solidFill>
                  <a:srgbClr val="1E293B"/>
                </a:solidFill>
                <a:latin typeface="Calibri" pitchFamily="34" charset="0"/>
                <a:ea typeface="Calibri" pitchFamily="34" charset="-122"/>
                <a:cs typeface="Calibri" pitchFamily="34" charset="-120"/>
              </a:rPr>
              <a:t>Agent lifecycle</a:t>
            </a:r>
            <a:endParaRPr lang="en-US" sz="1400" dirty="0"/>
          </a:p>
        </p:txBody>
      </p:sp>
      <p:sp>
        <p:nvSpPr>
          <p:cNvPr id="28" name="Text 22"/>
          <p:cNvSpPr/>
          <p:nvPr/>
        </p:nvSpPr>
        <p:spPr>
          <a:xfrm>
            <a:off x="5715000" y="3685032"/>
            <a:ext cx="2926080" cy="640080"/>
          </a:xfrm>
          <a:prstGeom prst="rect">
            <a:avLst/>
          </a:prstGeom>
          <a:noFill/>
          <a:ln/>
        </p:spPr>
        <p:txBody>
          <a:bodyPr wrap="square" lIns="0" tIns="0" rIns="0" bIns="0" rtlCol="0" anchor="ctr"/>
          <a:lstStyle/>
          <a:p>
            <a:pPr marL="0" indent="0">
              <a:buNone/>
            </a:pPr>
            <a:r>
              <a:rPr lang="en-US" sz="1150" dirty="0">
                <a:solidFill>
                  <a:srgbClr val="64748B"/>
                </a:solidFill>
                <a:latin typeface="Calibri" pitchFamily="34" charset="0"/>
                <a:ea typeface="Calibri" pitchFamily="34" charset="-122"/>
                <a:cs typeface="Calibri" pitchFamily="34" charset="-120"/>
              </a:rPr>
              <a:t>Proposal → Review → Production → Deprecation.</a:t>
            </a:r>
            <a:endParaRPr lang="en-US" sz="1150" dirty="0"/>
          </a:p>
        </p:txBody>
      </p:sp>
      <p:sp>
        <p:nvSpPr>
          <p:cNvPr id="29" name="Shape 23"/>
          <p:cNvSpPr/>
          <p:nvPr/>
        </p:nvSpPr>
        <p:spPr>
          <a:xfrm>
            <a:off x="548640" y="4434840"/>
            <a:ext cx="8046720" cy="411480"/>
          </a:xfrm>
          <a:prstGeom prst="rect">
            <a:avLst/>
          </a:prstGeom>
          <a:solidFill>
            <a:srgbClr val="0F1729"/>
          </a:solidFill>
          <a:ln w="12700">
            <a:solidFill>
              <a:srgbClr val="0F1729"/>
            </a:solidFill>
            <a:prstDash val="solid"/>
          </a:ln>
        </p:spPr>
        <p:txBody>
          <a:bodyPr/>
          <a:lstStyle/>
          <a:p>
            <a:endParaRPr lang="en-US"/>
          </a:p>
        </p:txBody>
      </p:sp>
      <p:sp>
        <p:nvSpPr>
          <p:cNvPr id="30" name="Text 24"/>
          <p:cNvSpPr/>
          <p:nvPr/>
        </p:nvSpPr>
        <p:spPr>
          <a:xfrm>
            <a:off x="731520" y="4434840"/>
            <a:ext cx="7680960" cy="411480"/>
          </a:xfrm>
          <a:prstGeom prst="rect">
            <a:avLst/>
          </a:prstGeom>
          <a:noFill/>
          <a:ln/>
        </p:spPr>
        <p:txBody>
          <a:bodyPr wrap="square" lIns="0" tIns="0" rIns="0" bIns="0" rtlCol="0" anchor="ctr"/>
          <a:lstStyle/>
          <a:p>
            <a:pPr marL="0" indent="0">
              <a:buNone/>
            </a:pPr>
            <a:r>
              <a:rPr lang="en-US" sz="1200" i="1" dirty="0">
                <a:solidFill>
                  <a:srgbClr val="FFD166"/>
                </a:solidFill>
                <a:latin typeface="Calibri" pitchFamily="34" charset="0"/>
                <a:ea typeface="Calibri" pitchFamily="34" charset="-122"/>
                <a:cs typeface="Calibri" pitchFamily="34" charset="-120"/>
              </a:rPr>
              <a:t>Curated skills · trusted sources · tool approvals · least-privilege access.</a:t>
            </a:r>
            <a:endParaRPr lang="en-US" sz="1200" dirty="0"/>
          </a:p>
        </p:txBody>
      </p:sp>
      <p:sp>
        <p:nvSpPr>
          <p:cNvPr id="31" name="Text 25"/>
          <p:cNvSpPr/>
          <p:nvPr/>
        </p:nvSpPr>
        <p:spPr>
          <a:xfrm>
            <a:off x="548640" y="4864608"/>
            <a:ext cx="64008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Agentic-First with GitHub Copilot  |  Global Azure Columbus 2026</a:t>
            </a:r>
            <a:endParaRPr lang="en-US" sz="900" dirty="0"/>
          </a:p>
        </p:txBody>
      </p:sp>
      <p:sp>
        <p:nvSpPr>
          <p:cNvPr id="32" name="Text 26"/>
          <p:cNvSpPr/>
          <p:nvPr/>
        </p:nvSpPr>
        <p:spPr>
          <a:xfrm>
            <a:off x="8229600" y="4864608"/>
            <a:ext cx="54864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5F7FA"/>
        </a:solidFill>
        <a:effectLst/>
      </p:bgPr>
    </p:bg>
    <p:spTree>
      <p:nvGrpSpPr>
        <p:cNvPr id="1" name=""/>
        <p:cNvGrpSpPr/>
        <p:nvPr/>
      </p:nvGrpSpPr>
      <p:grpSpPr>
        <a:xfrm>
          <a:off x="0" y="0"/>
          <a:ext cx="0" cy="0"/>
          <a:chOff x="0" y="0"/>
          <a:chExt cx="0" cy="0"/>
        </a:xfrm>
      </p:grpSpPr>
      <p:sp>
        <p:nvSpPr>
          <p:cNvPr id="2" name="Shape 0"/>
          <p:cNvSpPr/>
          <p:nvPr/>
        </p:nvSpPr>
        <p:spPr>
          <a:xfrm>
            <a:off x="0" y="0"/>
            <a:ext cx="109728" cy="5143500"/>
          </a:xfrm>
          <a:prstGeom prst="rect">
            <a:avLst/>
          </a:prstGeom>
          <a:solidFill>
            <a:srgbClr val="F78166"/>
          </a:solidFill>
          <a:ln w="12700">
            <a:solidFill>
              <a:srgbClr val="F78166"/>
            </a:solidFill>
            <a:prstDash val="solid"/>
          </a:ln>
        </p:spPr>
        <p:txBody>
          <a:bodyPr/>
          <a:lstStyle/>
          <a:p>
            <a:endParaRPr lang="en-US"/>
          </a:p>
        </p:txBody>
      </p:sp>
      <p:sp>
        <p:nvSpPr>
          <p:cNvPr id="3" name="Text 1"/>
          <p:cNvSpPr/>
          <p:nvPr/>
        </p:nvSpPr>
        <p:spPr>
          <a:xfrm>
            <a:off x="548640" y="292608"/>
            <a:ext cx="8229600" cy="274320"/>
          </a:xfrm>
          <a:prstGeom prst="rect">
            <a:avLst/>
          </a:prstGeom>
          <a:noFill/>
          <a:ln/>
        </p:spPr>
        <p:txBody>
          <a:bodyPr wrap="square" lIns="0" tIns="0" rIns="0" bIns="0" rtlCol="0" anchor="ctr"/>
          <a:lstStyle/>
          <a:p>
            <a:pPr marL="0" indent="0">
              <a:buNone/>
            </a:pPr>
            <a:r>
              <a:rPr lang="en-US" sz="1100" b="1" kern="0" spc="400" dirty="0">
                <a:solidFill>
                  <a:srgbClr val="F78166"/>
                </a:solidFill>
                <a:latin typeface="Calibri" pitchFamily="34" charset="0"/>
                <a:ea typeface="Calibri" pitchFamily="34" charset="-122"/>
                <a:cs typeface="Calibri" pitchFamily="34" charset="-120"/>
              </a:rPr>
              <a:t>YOUR MOVE</a:t>
            </a:r>
            <a:endParaRPr lang="en-US" sz="1100" dirty="0"/>
          </a:p>
        </p:txBody>
      </p:sp>
      <p:sp>
        <p:nvSpPr>
          <p:cNvPr id="4" name="Text 2"/>
          <p:cNvSpPr/>
          <p:nvPr/>
        </p:nvSpPr>
        <p:spPr>
          <a:xfrm>
            <a:off x="548640" y="502920"/>
            <a:ext cx="8229600" cy="685800"/>
          </a:xfrm>
          <a:prstGeom prst="rect">
            <a:avLst/>
          </a:prstGeom>
          <a:noFill/>
          <a:ln/>
        </p:spPr>
        <p:txBody>
          <a:bodyPr wrap="square" lIns="0" tIns="0" rIns="0" bIns="0" rtlCol="0" anchor="ctr"/>
          <a:lstStyle/>
          <a:p>
            <a:pPr marL="0" indent="0">
              <a:buNone/>
            </a:pPr>
            <a:r>
              <a:rPr lang="en-US" sz="3000" b="1" dirty="0">
                <a:solidFill>
                  <a:srgbClr val="1E293B"/>
                </a:solidFill>
                <a:latin typeface="Calibri" pitchFamily="34" charset="0"/>
                <a:ea typeface="Calibri" pitchFamily="34" charset="-122"/>
                <a:cs typeface="Calibri" pitchFamily="34" charset="-120"/>
              </a:rPr>
              <a:t>Three steps to get your team moving</a:t>
            </a:r>
            <a:endParaRPr lang="en-US" sz="3000" dirty="0"/>
          </a:p>
        </p:txBody>
      </p:sp>
      <p:sp>
        <p:nvSpPr>
          <p:cNvPr id="5" name="Shape 3"/>
          <p:cNvSpPr/>
          <p:nvPr/>
        </p:nvSpPr>
        <p:spPr>
          <a:xfrm>
            <a:off x="480060" y="1371600"/>
            <a:ext cx="2606040" cy="274320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6" name="Text 4"/>
          <p:cNvSpPr/>
          <p:nvPr/>
        </p:nvSpPr>
        <p:spPr>
          <a:xfrm>
            <a:off x="480060" y="1600200"/>
            <a:ext cx="2606040" cy="822960"/>
          </a:xfrm>
          <a:prstGeom prst="rect">
            <a:avLst/>
          </a:prstGeom>
          <a:noFill/>
          <a:ln/>
        </p:spPr>
        <p:txBody>
          <a:bodyPr wrap="square" lIns="0" tIns="0" rIns="0" bIns="0" rtlCol="0" anchor="ctr"/>
          <a:lstStyle/>
          <a:p>
            <a:pPr marL="0" indent="0" algn="ctr">
              <a:buNone/>
            </a:pPr>
            <a:r>
              <a:rPr lang="en-US" sz="6000" b="1" dirty="0">
                <a:solidFill>
                  <a:srgbClr val="F78166"/>
                </a:solidFill>
                <a:latin typeface="Calibri" pitchFamily="34" charset="0"/>
                <a:ea typeface="Calibri" pitchFamily="34" charset="-122"/>
                <a:cs typeface="Calibri" pitchFamily="34" charset="-120"/>
              </a:rPr>
              <a:t>01</a:t>
            </a:r>
            <a:endParaRPr lang="en-US" sz="6000" dirty="0"/>
          </a:p>
        </p:txBody>
      </p:sp>
      <p:pic>
        <p:nvPicPr>
          <p:cNvPr id="7" name="Image 0" descr="preencoded.png"/>
          <p:cNvPicPr>
            <a:picLocks noChangeAspect="1"/>
          </p:cNvPicPr>
          <p:nvPr/>
        </p:nvPicPr>
        <p:blipFill>
          <a:blip r:embed="rId3"/>
          <a:stretch>
            <a:fillRect/>
          </a:stretch>
        </p:blipFill>
        <p:spPr>
          <a:xfrm>
            <a:off x="1577340" y="2468880"/>
            <a:ext cx="411480" cy="411480"/>
          </a:xfrm>
          <a:prstGeom prst="rect">
            <a:avLst/>
          </a:prstGeom>
        </p:spPr>
      </p:pic>
      <p:sp>
        <p:nvSpPr>
          <p:cNvPr id="8" name="Text 5"/>
          <p:cNvSpPr/>
          <p:nvPr/>
        </p:nvSpPr>
        <p:spPr>
          <a:xfrm>
            <a:off x="662940" y="2926080"/>
            <a:ext cx="2240280" cy="365760"/>
          </a:xfrm>
          <a:prstGeom prst="rect">
            <a:avLst/>
          </a:prstGeom>
          <a:noFill/>
          <a:ln/>
        </p:spPr>
        <p:txBody>
          <a:bodyPr wrap="square" lIns="0" tIns="0" rIns="0" bIns="0" rtlCol="0" anchor="ctr"/>
          <a:lstStyle/>
          <a:p>
            <a:pPr marL="0" indent="0" algn="ctr">
              <a:buNone/>
            </a:pPr>
            <a:r>
              <a:rPr lang="en-US" sz="1500" b="1" dirty="0">
                <a:solidFill>
                  <a:srgbClr val="1E293B"/>
                </a:solidFill>
                <a:latin typeface="Calibri" pitchFamily="34" charset="0"/>
                <a:ea typeface="Calibri" pitchFamily="34" charset="-122"/>
                <a:cs typeface="Calibri" pitchFamily="34" charset="-120"/>
              </a:rPr>
              <a:t>Add copilot-instructions.md</a:t>
            </a:r>
            <a:endParaRPr lang="en-US" sz="1500" dirty="0"/>
          </a:p>
        </p:txBody>
      </p:sp>
      <p:sp>
        <p:nvSpPr>
          <p:cNvPr id="9" name="Text 6"/>
          <p:cNvSpPr/>
          <p:nvPr/>
        </p:nvSpPr>
        <p:spPr>
          <a:xfrm>
            <a:off x="662940" y="3291840"/>
            <a:ext cx="2240280" cy="685800"/>
          </a:xfrm>
          <a:prstGeom prst="rect">
            <a:avLst/>
          </a:prstGeom>
          <a:noFill/>
          <a:ln/>
        </p:spPr>
        <p:txBody>
          <a:bodyPr wrap="square" lIns="0" tIns="0" rIns="0" bIns="0" rtlCol="0" anchor="ctr"/>
          <a:lstStyle/>
          <a:p>
            <a:pPr marL="0" indent="0" algn="ctr">
              <a:buNone/>
            </a:pPr>
            <a:r>
              <a:rPr lang="en-US" sz="1050" dirty="0">
                <a:solidFill>
                  <a:srgbClr val="64748B"/>
                </a:solidFill>
                <a:latin typeface="Calibri" pitchFamily="34" charset="0"/>
                <a:ea typeface="Calibri" pitchFamily="34" charset="-122"/>
                <a:cs typeface="Calibri" pitchFamily="34" charset="-120"/>
              </a:rPr>
              <a:t>Encode how your team writes, reviews, and ships code.</a:t>
            </a:r>
            <a:endParaRPr lang="en-US" sz="1050" dirty="0"/>
          </a:p>
        </p:txBody>
      </p:sp>
      <p:sp>
        <p:nvSpPr>
          <p:cNvPr id="10" name="Shape 7"/>
          <p:cNvSpPr/>
          <p:nvPr/>
        </p:nvSpPr>
        <p:spPr>
          <a:xfrm>
            <a:off x="3268980" y="1371600"/>
            <a:ext cx="2606040" cy="274320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11" name="Text 8"/>
          <p:cNvSpPr/>
          <p:nvPr/>
        </p:nvSpPr>
        <p:spPr>
          <a:xfrm>
            <a:off x="3268980" y="1600200"/>
            <a:ext cx="2606040" cy="822960"/>
          </a:xfrm>
          <a:prstGeom prst="rect">
            <a:avLst/>
          </a:prstGeom>
          <a:noFill/>
          <a:ln/>
        </p:spPr>
        <p:txBody>
          <a:bodyPr wrap="square" lIns="0" tIns="0" rIns="0" bIns="0" rtlCol="0" anchor="ctr"/>
          <a:lstStyle/>
          <a:p>
            <a:pPr marL="0" indent="0" algn="ctr">
              <a:buNone/>
            </a:pPr>
            <a:r>
              <a:rPr lang="en-US" sz="6000" b="1" dirty="0">
                <a:solidFill>
                  <a:srgbClr val="F78166"/>
                </a:solidFill>
                <a:latin typeface="Calibri" pitchFamily="34" charset="0"/>
                <a:ea typeface="Calibri" pitchFamily="34" charset="-122"/>
                <a:cs typeface="Calibri" pitchFamily="34" charset="-120"/>
              </a:rPr>
              <a:t>02</a:t>
            </a:r>
            <a:endParaRPr lang="en-US" sz="6000" dirty="0"/>
          </a:p>
        </p:txBody>
      </p:sp>
      <p:pic>
        <p:nvPicPr>
          <p:cNvPr id="12" name="Image 1" descr="preencoded.png"/>
          <p:cNvPicPr>
            <a:picLocks noChangeAspect="1"/>
          </p:cNvPicPr>
          <p:nvPr/>
        </p:nvPicPr>
        <p:blipFill>
          <a:blip r:embed="rId4"/>
          <a:stretch>
            <a:fillRect/>
          </a:stretch>
        </p:blipFill>
        <p:spPr>
          <a:xfrm>
            <a:off x="4366260" y="2468880"/>
            <a:ext cx="411480" cy="411480"/>
          </a:xfrm>
          <a:prstGeom prst="rect">
            <a:avLst/>
          </a:prstGeom>
        </p:spPr>
      </p:pic>
      <p:sp>
        <p:nvSpPr>
          <p:cNvPr id="13" name="Text 9"/>
          <p:cNvSpPr/>
          <p:nvPr/>
        </p:nvSpPr>
        <p:spPr>
          <a:xfrm>
            <a:off x="3451860" y="2926080"/>
            <a:ext cx="2240280" cy="365760"/>
          </a:xfrm>
          <a:prstGeom prst="rect">
            <a:avLst/>
          </a:prstGeom>
          <a:noFill/>
          <a:ln/>
        </p:spPr>
        <p:txBody>
          <a:bodyPr wrap="square" lIns="0" tIns="0" rIns="0" bIns="0" rtlCol="0" anchor="ctr"/>
          <a:lstStyle/>
          <a:p>
            <a:pPr marL="0" indent="0" algn="ctr">
              <a:buNone/>
            </a:pPr>
            <a:r>
              <a:rPr lang="en-US" sz="1500" b="1" dirty="0">
                <a:solidFill>
                  <a:srgbClr val="1E293B"/>
                </a:solidFill>
                <a:latin typeface="Calibri" pitchFamily="34" charset="0"/>
                <a:ea typeface="Calibri" pitchFamily="34" charset="-122"/>
                <a:cs typeface="Calibri" pitchFamily="34" charset="-120"/>
              </a:rPr>
              <a:t>Install Azure Skills Plugin</a:t>
            </a:r>
            <a:endParaRPr lang="en-US" sz="1500" dirty="0"/>
          </a:p>
        </p:txBody>
      </p:sp>
      <p:sp>
        <p:nvSpPr>
          <p:cNvPr id="14" name="Text 10"/>
          <p:cNvSpPr/>
          <p:nvPr/>
        </p:nvSpPr>
        <p:spPr>
          <a:xfrm>
            <a:off x="3451860" y="3291840"/>
            <a:ext cx="2240280" cy="457200"/>
          </a:xfrm>
          <a:prstGeom prst="rect">
            <a:avLst/>
          </a:prstGeom>
          <a:noFill/>
          <a:ln/>
        </p:spPr>
        <p:txBody>
          <a:bodyPr wrap="square" lIns="0" tIns="0" rIns="0" bIns="0" rtlCol="0" anchor="ctr"/>
          <a:lstStyle/>
          <a:p>
            <a:pPr marL="0" indent="0" algn="ctr">
              <a:buNone/>
            </a:pPr>
            <a:r>
              <a:rPr lang="en-US" sz="1050" dirty="0">
                <a:solidFill>
                  <a:srgbClr val="64748B"/>
                </a:solidFill>
                <a:latin typeface="Calibri" pitchFamily="34" charset="0"/>
                <a:ea typeface="Calibri" pitchFamily="34" charset="-122"/>
                <a:cs typeface="Calibri" pitchFamily="34" charset="-120"/>
              </a:rPr>
              <a:t>One install. 20 skills + 200+ MCP tools live in your IDE.</a:t>
            </a:r>
            <a:endParaRPr lang="en-US" sz="1050" dirty="0"/>
          </a:p>
        </p:txBody>
      </p:sp>
      <p:sp>
        <p:nvSpPr>
          <p:cNvPr id="15" name="Shape 11"/>
          <p:cNvSpPr/>
          <p:nvPr/>
        </p:nvSpPr>
        <p:spPr>
          <a:xfrm>
            <a:off x="3634740" y="3749040"/>
            <a:ext cx="1874520" cy="274320"/>
          </a:xfrm>
          <a:prstGeom prst="rect">
            <a:avLst/>
          </a:prstGeom>
          <a:solidFill>
            <a:srgbClr val="0B1F3A"/>
          </a:solidFill>
          <a:ln w="12700">
            <a:solidFill>
              <a:srgbClr val="0B1F3A"/>
            </a:solidFill>
            <a:prstDash val="solid"/>
          </a:ln>
        </p:spPr>
        <p:txBody>
          <a:bodyPr/>
          <a:lstStyle/>
          <a:p>
            <a:endParaRPr lang="en-US"/>
          </a:p>
        </p:txBody>
      </p:sp>
      <p:sp>
        <p:nvSpPr>
          <p:cNvPr id="16" name="Text 12"/>
          <p:cNvSpPr/>
          <p:nvPr/>
        </p:nvSpPr>
        <p:spPr>
          <a:xfrm>
            <a:off x="3634740" y="3749040"/>
            <a:ext cx="1874520" cy="274320"/>
          </a:xfrm>
          <a:prstGeom prst="rect">
            <a:avLst/>
          </a:prstGeom>
          <a:noFill/>
          <a:ln/>
        </p:spPr>
        <p:txBody>
          <a:bodyPr wrap="square" lIns="0" tIns="0" rIns="0" bIns="0" rtlCol="0" anchor="ctr"/>
          <a:lstStyle/>
          <a:p>
            <a:pPr marL="0" indent="0" algn="ctr">
              <a:buNone/>
            </a:pPr>
            <a:r>
              <a:rPr lang="en-US" sz="1050" b="1" dirty="0">
                <a:solidFill>
                  <a:srgbClr val="FFD166"/>
                </a:solidFill>
                <a:latin typeface="Consolas" pitchFamily="34" charset="0"/>
                <a:ea typeface="Consolas" pitchFamily="34" charset="-122"/>
                <a:cs typeface="Consolas" pitchFamily="34" charset="-120"/>
              </a:rPr>
              <a:t>aka.ms/azure-plugin</a:t>
            </a:r>
            <a:endParaRPr lang="en-US" sz="1050" dirty="0"/>
          </a:p>
        </p:txBody>
      </p:sp>
      <p:sp>
        <p:nvSpPr>
          <p:cNvPr id="17" name="Shape 13"/>
          <p:cNvSpPr/>
          <p:nvPr/>
        </p:nvSpPr>
        <p:spPr>
          <a:xfrm>
            <a:off x="6057900" y="1371600"/>
            <a:ext cx="2606040" cy="2743200"/>
          </a:xfrm>
          <a:prstGeom prst="rect">
            <a:avLst/>
          </a:prstGeom>
          <a:solidFill>
            <a:srgbClr val="FFFFFF"/>
          </a:solidFill>
          <a:ln w="12700">
            <a:solidFill>
              <a:srgbClr val="E2E8F0"/>
            </a:solidFill>
            <a:prstDash val="solid"/>
          </a:ln>
          <a:effectLst>
            <a:outerShdw blurRad="101600" dist="25400" dir="8100000" algn="bl" rotWithShape="0">
              <a:srgbClr val="000000">
                <a:alpha val="12000"/>
              </a:srgbClr>
            </a:outerShdw>
          </a:effectLst>
        </p:spPr>
        <p:txBody>
          <a:bodyPr/>
          <a:lstStyle/>
          <a:p>
            <a:endParaRPr lang="en-US"/>
          </a:p>
        </p:txBody>
      </p:sp>
      <p:sp>
        <p:nvSpPr>
          <p:cNvPr id="18" name="Text 14"/>
          <p:cNvSpPr/>
          <p:nvPr/>
        </p:nvSpPr>
        <p:spPr>
          <a:xfrm>
            <a:off x="6057900" y="1600200"/>
            <a:ext cx="2606040" cy="822960"/>
          </a:xfrm>
          <a:prstGeom prst="rect">
            <a:avLst/>
          </a:prstGeom>
          <a:noFill/>
          <a:ln/>
        </p:spPr>
        <p:txBody>
          <a:bodyPr wrap="square" lIns="0" tIns="0" rIns="0" bIns="0" rtlCol="0" anchor="ctr"/>
          <a:lstStyle/>
          <a:p>
            <a:pPr marL="0" indent="0" algn="ctr">
              <a:buNone/>
            </a:pPr>
            <a:r>
              <a:rPr lang="en-US" sz="6000" b="1" dirty="0">
                <a:solidFill>
                  <a:srgbClr val="F78166"/>
                </a:solidFill>
                <a:latin typeface="Calibri" pitchFamily="34" charset="0"/>
                <a:ea typeface="Calibri" pitchFamily="34" charset="-122"/>
                <a:cs typeface="Calibri" pitchFamily="34" charset="-120"/>
              </a:rPr>
              <a:t>03</a:t>
            </a:r>
            <a:endParaRPr lang="en-US" sz="6000" dirty="0"/>
          </a:p>
        </p:txBody>
      </p:sp>
      <p:pic>
        <p:nvPicPr>
          <p:cNvPr id="19" name="Image 2" descr="preencoded.png"/>
          <p:cNvPicPr>
            <a:picLocks noChangeAspect="1"/>
          </p:cNvPicPr>
          <p:nvPr/>
        </p:nvPicPr>
        <p:blipFill>
          <a:blip r:embed="rId5"/>
          <a:stretch>
            <a:fillRect/>
          </a:stretch>
        </p:blipFill>
        <p:spPr>
          <a:xfrm>
            <a:off x="7155180" y="2468880"/>
            <a:ext cx="411480" cy="411480"/>
          </a:xfrm>
          <a:prstGeom prst="rect">
            <a:avLst/>
          </a:prstGeom>
        </p:spPr>
      </p:pic>
      <p:sp>
        <p:nvSpPr>
          <p:cNvPr id="20" name="Text 15"/>
          <p:cNvSpPr/>
          <p:nvPr/>
        </p:nvSpPr>
        <p:spPr>
          <a:xfrm>
            <a:off x="6240780" y="2926080"/>
            <a:ext cx="2240280" cy="365760"/>
          </a:xfrm>
          <a:prstGeom prst="rect">
            <a:avLst/>
          </a:prstGeom>
          <a:noFill/>
          <a:ln/>
        </p:spPr>
        <p:txBody>
          <a:bodyPr wrap="square" lIns="0" tIns="0" rIns="0" bIns="0" rtlCol="0" anchor="ctr"/>
          <a:lstStyle/>
          <a:p>
            <a:pPr marL="0" indent="0" algn="ctr">
              <a:buNone/>
            </a:pPr>
            <a:r>
              <a:rPr lang="en-US" sz="1500" b="1" dirty="0">
                <a:solidFill>
                  <a:srgbClr val="1E293B"/>
                </a:solidFill>
                <a:latin typeface="Calibri" pitchFamily="34" charset="0"/>
                <a:ea typeface="Calibri" pitchFamily="34" charset="-122"/>
                <a:cs typeface="Calibri" pitchFamily="34" charset="-120"/>
              </a:rPr>
              <a:t>Build one agent</a:t>
            </a:r>
            <a:endParaRPr lang="en-US" sz="1500" dirty="0"/>
          </a:p>
        </p:txBody>
      </p:sp>
      <p:sp>
        <p:nvSpPr>
          <p:cNvPr id="21" name="Text 16"/>
          <p:cNvSpPr/>
          <p:nvPr/>
        </p:nvSpPr>
        <p:spPr>
          <a:xfrm>
            <a:off x="6240780" y="3291840"/>
            <a:ext cx="2240280" cy="685800"/>
          </a:xfrm>
          <a:prstGeom prst="rect">
            <a:avLst/>
          </a:prstGeom>
          <a:noFill/>
          <a:ln/>
        </p:spPr>
        <p:txBody>
          <a:bodyPr wrap="square" lIns="0" tIns="0" rIns="0" bIns="0" rtlCol="0" anchor="ctr"/>
          <a:lstStyle/>
          <a:p>
            <a:pPr marL="0" indent="0" algn="ctr">
              <a:buNone/>
            </a:pPr>
            <a:r>
              <a:rPr lang="en-US" sz="1050" dirty="0">
                <a:solidFill>
                  <a:srgbClr val="64748B"/>
                </a:solidFill>
                <a:latin typeface="Calibri" pitchFamily="34" charset="0"/>
                <a:ea typeface="Calibri" pitchFamily="34" charset="-122"/>
                <a:cs typeface="Calibri" pitchFamily="34" charset="-120"/>
              </a:rPr>
              <a:t>Pick a workflow you repeat — code review, backlog, release notes.</a:t>
            </a:r>
            <a:endParaRPr lang="en-US" sz="1050" dirty="0"/>
          </a:p>
        </p:txBody>
      </p:sp>
      <p:sp>
        <p:nvSpPr>
          <p:cNvPr id="22" name="Shape 17"/>
          <p:cNvSpPr/>
          <p:nvPr/>
        </p:nvSpPr>
        <p:spPr>
          <a:xfrm>
            <a:off x="548640" y="4389120"/>
            <a:ext cx="8046720" cy="411480"/>
          </a:xfrm>
          <a:prstGeom prst="rect">
            <a:avLst/>
          </a:prstGeom>
          <a:solidFill>
            <a:srgbClr val="0B1F3A"/>
          </a:solidFill>
          <a:ln w="12700">
            <a:solidFill>
              <a:srgbClr val="0B1F3A"/>
            </a:solidFill>
            <a:prstDash val="solid"/>
          </a:ln>
        </p:spPr>
        <p:txBody>
          <a:bodyPr/>
          <a:lstStyle/>
          <a:p>
            <a:endParaRPr lang="en-US"/>
          </a:p>
        </p:txBody>
      </p:sp>
      <p:pic>
        <p:nvPicPr>
          <p:cNvPr id="23" name="Image 3" descr="preencoded.png"/>
          <p:cNvPicPr>
            <a:picLocks noChangeAspect="1"/>
          </p:cNvPicPr>
          <p:nvPr/>
        </p:nvPicPr>
        <p:blipFill>
          <a:blip r:embed="rId6"/>
          <a:stretch>
            <a:fillRect/>
          </a:stretch>
        </p:blipFill>
        <p:spPr>
          <a:xfrm>
            <a:off x="685800" y="4462272"/>
            <a:ext cx="274320" cy="274320"/>
          </a:xfrm>
          <a:prstGeom prst="rect">
            <a:avLst/>
          </a:prstGeom>
        </p:spPr>
      </p:pic>
      <p:sp>
        <p:nvSpPr>
          <p:cNvPr id="24" name="Text 18"/>
          <p:cNvSpPr/>
          <p:nvPr/>
        </p:nvSpPr>
        <p:spPr>
          <a:xfrm>
            <a:off x="1051560" y="4389120"/>
            <a:ext cx="2560320" cy="411480"/>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Repo with all assets: </a:t>
            </a:r>
            <a:endParaRPr lang="en-US" sz="1200" dirty="0"/>
          </a:p>
        </p:txBody>
      </p:sp>
      <p:sp>
        <p:nvSpPr>
          <p:cNvPr id="25" name="Text 19"/>
          <p:cNvSpPr/>
          <p:nvPr/>
        </p:nvSpPr>
        <p:spPr>
          <a:xfrm>
            <a:off x="3108960" y="4389120"/>
            <a:ext cx="5486400" cy="411480"/>
          </a:xfrm>
          <a:prstGeom prst="rect">
            <a:avLst/>
          </a:prstGeom>
          <a:noFill/>
          <a:ln/>
        </p:spPr>
        <p:txBody>
          <a:bodyPr wrap="square" lIns="0" tIns="0" rIns="0" bIns="0" rtlCol="0" anchor="ctr"/>
          <a:lstStyle/>
          <a:p>
            <a:pPr marL="0" indent="0">
              <a:buNone/>
            </a:pPr>
            <a:r>
              <a:rPr lang="en-US" sz="1200" b="1" dirty="0">
                <a:solidFill>
                  <a:srgbClr val="FFD166"/>
                </a:solidFill>
                <a:latin typeface="Consolas" pitchFamily="34" charset="0"/>
                <a:ea typeface="Consolas" pitchFamily="34" charset="-122"/>
                <a:cs typeface="Consolas" pitchFamily="34" charset="-120"/>
              </a:rPr>
              <a:t>github.com/shawnewallace/2026-global-azure-columbus</a:t>
            </a:r>
            <a:endParaRPr lang="en-US" sz="1200" dirty="0"/>
          </a:p>
        </p:txBody>
      </p:sp>
      <p:sp>
        <p:nvSpPr>
          <p:cNvPr id="26" name="Text 20"/>
          <p:cNvSpPr/>
          <p:nvPr/>
        </p:nvSpPr>
        <p:spPr>
          <a:xfrm>
            <a:off x="548640" y="4864608"/>
            <a:ext cx="6400800" cy="228600"/>
          </a:xfrm>
          <a:prstGeom prst="rect">
            <a:avLst/>
          </a:prstGeom>
          <a:noFill/>
          <a:ln/>
        </p:spPr>
        <p:txBody>
          <a:bodyPr wrap="square" lIns="0" tIns="0" rIns="0" bIns="0" rtlCol="0" anchor="ctr"/>
          <a:lstStyle/>
          <a:p>
            <a:pPr marL="0" indent="0">
              <a:buNone/>
            </a:pPr>
            <a:r>
              <a:rPr lang="en-US" sz="900" dirty="0">
                <a:solidFill>
                  <a:srgbClr val="64748B"/>
                </a:solidFill>
                <a:latin typeface="Calibri" pitchFamily="34" charset="0"/>
                <a:ea typeface="Calibri" pitchFamily="34" charset="-122"/>
                <a:cs typeface="Calibri" pitchFamily="34" charset="-120"/>
              </a:rPr>
              <a:t>Agentic-First with GitHub Copilot  |  Global Azure Columbus 2026</a:t>
            </a:r>
            <a:endParaRPr lang="en-US" sz="900" dirty="0"/>
          </a:p>
        </p:txBody>
      </p:sp>
      <p:sp>
        <p:nvSpPr>
          <p:cNvPr id="27" name="Text 21"/>
          <p:cNvSpPr/>
          <p:nvPr/>
        </p:nvSpPr>
        <p:spPr>
          <a:xfrm>
            <a:off x="8229600" y="4864608"/>
            <a:ext cx="548640" cy="228600"/>
          </a:xfrm>
          <a:prstGeom prst="rect">
            <a:avLst/>
          </a:prstGeom>
          <a:noFill/>
          <a:ln/>
        </p:spPr>
        <p:txBody>
          <a:bodyPr wrap="square" lIns="0" tIns="0" rIns="0" bIns="0" rtlCol="0" anchor="ctr"/>
          <a:lstStyle/>
          <a:p>
            <a:pPr marL="0" indent="0" algn="r">
              <a:buNone/>
            </a:pPr>
            <a:r>
              <a:rPr lang="en-US" sz="900" dirty="0">
                <a:solidFill>
                  <a:srgbClr val="64748B"/>
                </a:solidFill>
                <a:latin typeface="Calibri" pitchFamily="34" charset="0"/>
                <a:ea typeface="Calibri" pitchFamily="34" charset="-122"/>
                <a:cs typeface="Calibri"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B1F3A"/>
        </a:solidFill>
        <a:effectLst/>
      </p:bgPr>
    </p:bg>
    <p:spTree>
      <p:nvGrpSpPr>
        <p:cNvPr id="1" name=""/>
        <p:cNvGrpSpPr/>
        <p:nvPr/>
      </p:nvGrpSpPr>
      <p:grpSpPr>
        <a:xfrm>
          <a:off x="0" y="0"/>
          <a:ext cx="0" cy="0"/>
          <a:chOff x="0" y="0"/>
          <a:chExt cx="0" cy="0"/>
        </a:xfrm>
      </p:grpSpPr>
      <p:sp>
        <p:nvSpPr>
          <p:cNvPr id="2" name="Shape 0"/>
          <p:cNvSpPr/>
          <p:nvPr/>
        </p:nvSpPr>
        <p:spPr>
          <a:xfrm>
            <a:off x="0" y="0"/>
            <a:ext cx="9144000" cy="164592"/>
          </a:xfrm>
          <a:prstGeom prst="rect">
            <a:avLst/>
          </a:prstGeom>
          <a:solidFill>
            <a:srgbClr val="F78166"/>
          </a:solidFill>
          <a:ln w="12700">
            <a:solidFill>
              <a:srgbClr val="F78166"/>
            </a:solidFill>
            <a:prstDash val="solid"/>
          </a:ln>
        </p:spPr>
        <p:txBody>
          <a:bodyPr/>
          <a:lstStyle/>
          <a:p>
            <a:endParaRPr lang="en-US"/>
          </a:p>
        </p:txBody>
      </p:sp>
      <p:sp>
        <p:nvSpPr>
          <p:cNvPr id="3" name="Shape 1"/>
          <p:cNvSpPr/>
          <p:nvPr/>
        </p:nvSpPr>
        <p:spPr>
          <a:xfrm>
            <a:off x="0" y="4978908"/>
            <a:ext cx="9144000" cy="164592"/>
          </a:xfrm>
          <a:prstGeom prst="rect">
            <a:avLst/>
          </a:prstGeom>
          <a:solidFill>
            <a:srgbClr val="4F9DE6"/>
          </a:solidFill>
          <a:ln w="12700">
            <a:solidFill>
              <a:srgbClr val="4F9DE6"/>
            </a:solidFill>
            <a:prstDash val="solid"/>
          </a:ln>
        </p:spPr>
        <p:txBody>
          <a:bodyPr/>
          <a:lstStyle/>
          <a:p>
            <a:endParaRPr lang="en-US"/>
          </a:p>
        </p:txBody>
      </p:sp>
      <p:sp>
        <p:nvSpPr>
          <p:cNvPr id="4" name="Text 2"/>
          <p:cNvSpPr/>
          <p:nvPr/>
        </p:nvSpPr>
        <p:spPr>
          <a:xfrm>
            <a:off x="548640" y="548640"/>
            <a:ext cx="8229600" cy="365760"/>
          </a:xfrm>
          <a:prstGeom prst="rect">
            <a:avLst/>
          </a:prstGeom>
          <a:noFill/>
          <a:ln/>
        </p:spPr>
        <p:txBody>
          <a:bodyPr wrap="square" lIns="0" tIns="0" rIns="0" bIns="0" rtlCol="0" anchor="ctr"/>
          <a:lstStyle/>
          <a:p>
            <a:pPr marL="0" indent="0">
              <a:buNone/>
            </a:pPr>
            <a:r>
              <a:rPr lang="en-US" sz="1300" b="1" kern="0" spc="600" dirty="0">
                <a:solidFill>
                  <a:srgbClr val="FFD166"/>
                </a:solidFill>
                <a:latin typeface="Calibri" pitchFamily="34" charset="0"/>
                <a:ea typeface="Calibri" pitchFamily="34" charset="-122"/>
                <a:cs typeface="Calibri" pitchFamily="34" charset="-120"/>
              </a:rPr>
              <a:t>THANK YOU</a:t>
            </a:r>
            <a:endParaRPr lang="en-US" sz="1300" dirty="0"/>
          </a:p>
        </p:txBody>
      </p:sp>
      <p:sp>
        <p:nvSpPr>
          <p:cNvPr id="5" name="Shape 3"/>
          <p:cNvSpPr/>
          <p:nvPr/>
        </p:nvSpPr>
        <p:spPr>
          <a:xfrm>
            <a:off x="548640" y="1280160"/>
            <a:ext cx="91440" cy="1554480"/>
          </a:xfrm>
          <a:prstGeom prst="rect">
            <a:avLst/>
          </a:prstGeom>
          <a:solidFill>
            <a:srgbClr val="F78166"/>
          </a:solidFill>
          <a:ln w="12700">
            <a:solidFill>
              <a:srgbClr val="F78166"/>
            </a:solidFill>
            <a:prstDash val="solid"/>
          </a:ln>
        </p:spPr>
        <p:txBody>
          <a:bodyPr/>
          <a:lstStyle/>
          <a:p>
            <a:endParaRPr lang="en-US"/>
          </a:p>
        </p:txBody>
      </p:sp>
      <p:sp>
        <p:nvSpPr>
          <p:cNvPr id="6" name="Text 4"/>
          <p:cNvSpPr/>
          <p:nvPr/>
        </p:nvSpPr>
        <p:spPr>
          <a:xfrm>
            <a:off x="822960" y="1280160"/>
            <a:ext cx="7772400" cy="731520"/>
          </a:xfrm>
          <a:prstGeom prst="rect">
            <a:avLst/>
          </a:prstGeom>
          <a:noFill/>
          <a:ln/>
        </p:spPr>
        <p:txBody>
          <a:bodyPr wrap="square" lIns="0" tIns="0" rIns="0" bIns="0" rtlCol="0" anchor="ctr"/>
          <a:lstStyle/>
          <a:p>
            <a:pPr marL="0" indent="0">
              <a:buNone/>
            </a:pPr>
            <a:r>
              <a:rPr lang="en-US" sz="4000" b="1" dirty="0">
                <a:solidFill>
                  <a:srgbClr val="FFFFFF"/>
                </a:solidFill>
                <a:latin typeface="Calibri" pitchFamily="34" charset="0"/>
                <a:ea typeface="Calibri" pitchFamily="34" charset="-122"/>
                <a:cs typeface="Calibri" pitchFamily="34" charset="-120"/>
              </a:rPr>
              <a:t>The agent isn't the point.</a:t>
            </a:r>
            <a:endParaRPr lang="en-US" sz="4000" dirty="0"/>
          </a:p>
        </p:txBody>
      </p:sp>
      <p:sp>
        <p:nvSpPr>
          <p:cNvPr id="7" name="Text 5"/>
          <p:cNvSpPr/>
          <p:nvPr/>
        </p:nvSpPr>
        <p:spPr>
          <a:xfrm>
            <a:off x="822960" y="2057400"/>
            <a:ext cx="7772400" cy="731520"/>
          </a:xfrm>
          <a:prstGeom prst="rect">
            <a:avLst/>
          </a:prstGeom>
          <a:noFill/>
          <a:ln/>
        </p:spPr>
        <p:txBody>
          <a:bodyPr wrap="square" lIns="0" tIns="0" rIns="0" bIns="0" rtlCol="0" anchor="ctr"/>
          <a:lstStyle/>
          <a:p>
            <a:pPr marL="0" indent="0">
              <a:buNone/>
            </a:pPr>
            <a:r>
              <a:rPr lang="en-US" sz="3200" b="1" i="1" dirty="0">
                <a:solidFill>
                  <a:srgbClr val="4F9DE6"/>
                </a:solidFill>
                <a:latin typeface="Calibri" pitchFamily="34" charset="0"/>
                <a:ea typeface="Calibri" pitchFamily="34" charset="-122"/>
                <a:cs typeface="Calibri" pitchFamily="34" charset="-120"/>
              </a:rPr>
              <a:t>The system your team builds around it is.</a:t>
            </a:r>
            <a:endParaRPr lang="en-US" sz="3200" dirty="0"/>
          </a:p>
        </p:txBody>
      </p:sp>
      <p:sp>
        <p:nvSpPr>
          <p:cNvPr id="8" name="Shape 6"/>
          <p:cNvSpPr/>
          <p:nvPr/>
        </p:nvSpPr>
        <p:spPr>
          <a:xfrm>
            <a:off x="548640" y="3474720"/>
            <a:ext cx="3931920" cy="1143000"/>
          </a:xfrm>
          <a:prstGeom prst="rect">
            <a:avLst/>
          </a:prstGeom>
          <a:solidFill>
            <a:srgbClr val="152A4A"/>
          </a:solidFill>
          <a:ln w="12700">
            <a:solidFill>
              <a:srgbClr val="152A4A"/>
            </a:solidFill>
            <a:prstDash val="solid"/>
          </a:ln>
        </p:spPr>
        <p:txBody>
          <a:bodyPr/>
          <a:lstStyle/>
          <a:p>
            <a:endParaRPr lang="en-US"/>
          </a:p>
        </p:txBody>
      </p:sp>
      <p:sp>
        <p:nvSpPr>
          <p:cNvPr id="9" name="Text 7"/>
          <p:cNvSpPr/>
          <p:nvPr/>
        </p:nvSpPr>
        <p:spPr>
          <a:xfrm>
            <a:off x="731520" y="3611880"/>
            <a:ext cx="3657600" cy="274320"/>
          </a:xfrm>
          <a:prstGeom prst="rect">
            <a:avLst/>
          </a:prstGeom>
          <a:noFill/>
          <a:ln/>
        </p:spPr>
        <p:txBody>
          <a:bodyPr wrap="square" lIns="0" tIns="0" rIns="0" bIns="0" rtlCol="0" anchor="ctr"/>
          <a:lstStyle/>
          <a:p>
            <a:pPr marL="0" indent="0">
              <a:buNone/>
            </a:pPr>
            <a:r>
              <a:rPr lang="en-US" sz="1100" b="1" kern="0" spc="400" dirty="0">
                <a:solidFill>
                  <a:srgbClr val="FFD166"/>
                </a:solidFill>
                <a:latin typeface="Calibri" pitchFamily="34" charset="0"/>
                <a:ea typeface="Calibri" pitchFamily="34" charset="-122"/>
                <a:cs typeface="Calibri" pitchFamily="34" charset="-120"/>
              </a:rPr>
              <a:t>SHAWN WALLACE</a:t>
            </a:r>
            <a:endParaRPr lang="en-US" sz="1100" dirty="0"/>
          </a:p>
        </p:txBody>
      </p:sp>
      <p:sp>
        <p:nvSpPr>
          <p:cNvPr id="10" name="Text 8"/>
          <p:cNvSpPr/>
          <p:nvPr/>
        </p:nvSpPr>
        <p:spPr>
          <a:xfrm>
            <a:off x="731520" y="3886200"/>
            <a:ext cx="3657600" cy="274320"/>
          </a:xfrm>
          <a:prstGeom prst="rect">
            <a:avLst/>
          </a:prstGeom>
          <a:noFill/>
          <a:ln/>
        </p:spPr>
        <p:txBody>
          <a:bodyPr wrap="square" lIns="0" tIns="0" rIns="0" bIns="0" rtlCol="0" anchor="ctr"/>
          <a:lstStyle/>
          <a:p>
            <a:pPr marL="0" indent="0">
              <a:buNone/>
            </a:pPr>
            <a:r>
              <a:rPr lang="en-US" sz="1500" b="1" dirty="0">
                <a:solidFill>
                  <a:srgbClr val="FFFFFF"/>
                </a:solidFill>
                <a:latin typeface="Calibri" pitchFamily="34" charset="0"/>
                <a:ea typeface="Calibri" pitchFamily="34" charset="-122"/>
                <a:cs typeface="Calibri" pitchFamily="34" charset="-120"/>
              </a:rPr>
              <a:t>Principal Architect</a:t>
            </a:r>
            <a:endParaRPr lang="en-US" sz="1500" dirty="0"/>
          </a:p>
        </p:txBody>
      </p:sp>
      <p:sp>
        <p:nvSpPr>
          <p:cNvPr id="11" name="Text 9"/>
          <p:cNvSpPr/>
          <p:nvPr/>
        </p:nvSpPr>
        <p:spPr>
          <a:xfrm>
            <a:off x="731520" y="4160520"/>
            <a:ext cx="3657600" cy="274320"/>
          </a:xfrm>
          <a:prstGeom prst="rect">
            <a:avLst/>
          </a:prstGeom>
          <a:noFill/>
          <a:ln/>
        </p:spPr>
        <p:txBody>
          <a:bodyPr wrap="square" lIns="0" tIns="0" rIns="0" bIns="0" rtlCol="0" anchor="ctr"/>
          <a:lstStyle/>
          <a:p>
            <a:pPr marL="0" indent="0">
              <a:buNone/>
            </a:pPr>
            <a:r>
              <a:rPr lang="en-US" sz="1200" dirty="0">
                <a:solidFill>
                  <a:srgbClr val="94A3B8"/>
                </a:solidFill>
                <a:latin typeface="Calibri" pitchFamily="34" charset="0"/>
                <a:ea typeface="Calibri" pitchFamily="34" charset="-122"/>
                <a:cs typeface="Calibri" pitchFamily="34" charset="-120"/>
              </a:rPr>
              <a:t>Centric Consulting</a:t>
            </a:r>
            <a:endParaRPr lang="en-US" sz="1200" dirty="0"/>
          </a:p>
        </p:txBody>
      </p:sp>
      <p:sp>
        <p:nvSpPr>
          <p:cNvPr id="12" name="Shape 10"/>
          <p:cNvSpPr/>
          <p:nvPr/>
        </p:nvSpPr>
        <p:spPr>
          <a:xfrm>
            <a:off x="4663440" y="3474720"/>
            <a:ext cx="3931920" cy="1143000"/>
          </a:xfrm>
          <a:prstGeom prst="rect">
            <a:avLst/>
          </a:prstGeom>
          <a:solidFill>
            <a:srgbClr val="152A4A"/>
          </a:solidFill>
          <a:ln w="12700">
            <a:solidFill>
              <a:srgbClr val="152A4A"/>
            </a:solidFill>
            <a:prstDash val="solid"/>
          </a:ln>
        </p:spPr>
        <p:txBody>
          <a:bodyPr/>
          <a:lstStyle/>
          <a:p>
            <a:endParaRPr lang="en-US"/>
          </a:p>
        </p:txBody>
      </p:sp>
      <p:pic>
        <p:nvPicPr>
          <p:cNvPr id="13" name="Image 0" descr="preencoded.png"/>
          <p:cNvPicPr>
            <a:picLocks noChangeAspect="1"/>
          </p:cNvPicPr>
          <p:nvPr/>
        </p:nvPicPr>
        <p:blipFill>
          <a:blip r:embed="rId3"/>
          <a:stretch>
            <a:fillRect/>
          </a:stretch>
        </p:blipFill>
        <p:spPr>
          <a:xfrm>
            <a:off x="4846320" y="3675888"/>
            <a:ext cx="228600" cy="228600"/>
          </a:xfrm>
          <a:prstGeom prst="rect">
            <a:avLst/>
          </a:prstGeom>
        </p:spPr>
      </p:pic>
      <p:sp>
        <p:nvSpPr>
          <p:cNvPr id="14" name="Text 11"/>
          <p:cNvSpPr/>
          <p:nvPr/>
        </p:nvSpPr>
        <p:spPr>
          <a:xfrm>
            <a:off x="5166360" y="3657600"/>
            <a:ext cx="3291840" cy="274320"/>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github.com/shawnewallace</a:t>
            </a:r>
            <a:endParaRPr lang="en-US" sz="1200" dirty="0"/>
          </a:p>
        </p:txBody>
      </p:sp>
      <p:pic>
        <p:nvPicPr>
          <p:cNvPr id="15" name="Image 1" descr="preencoded.png"/>
          <p:cNvPicPr>
            <a:picLocks noChangeAspect="1"/>
          </p:cNvPicPr>
          <p:nvPr/>
        </p:nvPicPr>
        <p:blipFill>
          <a:blip r:embed="rId4"/>
          <a:stretch>
            <a:fillRect/>
          </a:stretch>
        </p:blipFill>
        <p:spPr>
          <a:xfrm>
            <a:off x="4846320" y="3977640"/>
            <a:ext cx="228600" cy="228600"/>
          </a:xfrm>
          <a:prstGeom prst="rect">
            <a:avLst/>
          </a:prstGeom>
        </p:spPr>
      </p:pic>
      <p:sp>
        <p:nvSpPr>
          <p:cNvPr id="16" name="Text 12"/>
          <p:cNvSpPr/>
          <p:nvPr/>
        </p:nvSpPr>
        <p:spPr>
          <a:xfrm>
            <a:off x="5166360" y="3959352"/>
            <a:ext cx="3291840" cy="274320"/>
          </a:xfrm>
          <a:prstGeom prst="rect">
            <a:avLst/>
          </a:prstGeom>
          <a:noFill/>
          <a:ln/>
        </p:spPr>
        <p:txBody>
          <a:bodyPr wrap="square" lIns="0" tIns="0" rIns="0" bIns="0" rtlCol="0" anchor="ctr"/>
          <a:lstStyle/>
          <a:p>
            <a:pPr marL="0" indent="0">
              <a:buNone/>
            </a:pPr>
            <a:r>
              <a:rPr lang="en-US" sz="1200" dirty="0">
                <a:solidFill>
                  <a:srgbClr val="FFFFFF"/>
                </a:solidFill>
                <a:latin typeface="Consolas" pitchFamily="34" charset="0"/>
                <a:ea typeface="Consolas" pitchFamily="34" charset="-122"/>
                <a:cs typeface="Consolas" pitchFamily="34" charset="-120"/>
              </a:rPr>
              <a:t>@ShawnWallace</a:t>
            </a:r>
            <a:endParaRPr lang="en-US" sz="1200" dirty="0"/>
          </a:p>
        </p:txBody>
      </p:sp>
      <p:pic>
        <p:nvPicPr>
          <p:cNvPr id="17" name="Image 2" descr="preencoded.png"/>
          <p:cNvPicPr>
            <a:picLocks noChangeAspect="1"/>
          </p:cNvPicPr>
          <p:nvPr/>
        </p:nvPicPr>
        <p:blipFill>
          <a:blip r:embed="rId5"/>
          <a:stretch>
            <a:fillRect/>
          </a:stretch>
        </p:blipFill>
        <p:spPr>
          <a:xfrm>
            <a:off x="4846320" y="4279392"/>
            <a:ext cx="228600" cy="228600"/>
          </a:xfrm>
          <a:prstGeom prst="rect">
            <a:avLst/>
          </a:prstGeom>
        </p:spPr>
      </p:pic>
      <p:sp>
        <p:nvSpPr>
          <p:cNvPr id="18" name="Text 13"/>
          <p:cNvSpPr/>
          <p:nvPr/>
        </p:nvSpPr>
        <p:spPr>
          <a:xfrm>
            <a:off x="5166360" y="4261104"/>
            <a:ext cx="3291840" cy="274320"/>
          </a:xfrm>
          <a:prstGeom prst="rect">
            <a:avLst/>
          </a:prstGeom>
          <a:noFill/>
          <a:ln/>
        </p:spPr>
        <p:txBody>
          <a:bodyPr wrap="square" lIns="0" tIns="0" rIns="0" bIns="0" rtlCol="0" anchor="ctr"/>
          <a:lstStyle/>
          <a:p>
            <a:pPr marL="0" indent="0">
              <a:buNone/>
            </a:pPr>
            <a:r>
              <a:rPr lang="en-US" sz="1200" b="1" dirty="0">
                <a:solidFill>
                  <a:srgbClr val="FFD166"/>
                </a:solidFill>
                <a:latin typeface="Consolas" pitchFamily="34" charset="0"/>
                <a:ea typeface="Consolas" pitchFamily="34" charset="-122"/>
                <a:cs typeface="Consolas" pitchFamily="34" charset="-120"/>
              </a:rPr>
              <a:t>aka.ms/azure-plugin</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TotalTime>
  <Words>3038</Words>
  <Application>Microsoft Macintosh PowerPoint</Application>
  <PresentationFormat>On-screen Show (16:9)</PresentationFormat>
  <Paragraphs>300</Paragraphs>
  <Slides>15</Slides>
  <Notes>15</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15</vt:i4>
      </vt:variant>
    </vt:vector>
  </HeadingPairs>
  <TitlesOfParts>
    <vt:vector size="19" baseType="lpstr">
      <vt:lpstr>Arial</vt:lpstr>
      <vt:lpstr>Calibri</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Centric Consulting</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Agentic-First with GitHub Copilot</dc:title>
  <dc:subject>PptxGenJS Presentation</dc:subject>
  <dc:creator>Shawn Wallace</dc:creator>
  <cp:lastModifiedBy>Shawn Wallace</cp:lastModifiedBy>
  <cp:revision>2</cp:revision>
  <dcterms:created xsi:type="dcterms:W3CDTF">2026-04-17T15:16:06Z</dcterms:created>
  <dcterms:modified xsi:type="dcterms:W3CDTF">2026-04-17T15:21:23Z</dcterms:modified>
</cp:coreProperties>
</file>